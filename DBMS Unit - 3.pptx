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7"/>
    <p:sldId id="294" r:id="rId38"/>
    <p:sldId id="295" r:id="rId39"/>
    <p:sldId id="296" r:id="rId40"/>
    <p:sldId id="292" r:id="rId41"/>
    <p:sldId id="297" r:id="rId42"/>
    <p:sldId id="298" r:id="rId43"/>
    <p:sldId id="299" r:id="rId44"/>
    <p:sldId id="300"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ket Nayak" userId="96b3f0c0c9131cd0" providerId="LiveId" clId="{F3B511F7-43DD-4C8F-ACF1-A463DE6EA545}"/>
    <pc:docChg chg="undo custSel addSld delSld modSld">
      <pc:chgData name="Sanket Nayak" userId="96b3f0c0c9131cd0" providerId="LiveId" clId="{F3B511F7-43DD-4C8F-ACF1-A463DE6EA545}" dt="2026-08-28T02:37:05.596" v="479" actId="20577"/>
      <pc:docMkLst>
        <pc:docMk/>
      </pc:docMkLst>
      <pc:sldChg chg="addSp delSp modSp new mod">
        <pc:chgData name="Sanket Nayak" userId="96b3f0c0c9131cd0" providerId="LiveId" clId="{F3B511F7-43DD-4C8F-ACF1-A463DE6EA545}" dt="2026-08-28T02:09:02.116" v="221" actId="14100"/>
        <pc:sldMkLst>
          <pc:docMk/>
          <pc:sldMk cId="1195225230" sldId="257"/>
        </pc:sldMkLst>
        <pc:spChg chg="mod">
          <ac:chgData name="Sanket Nayak" userId="96b3f0c0c9131cd0" providerId="LiveId" clId="{F3B511F7-43DD-4C8F-ACF1-A463DE6EA545}" dt="2026-08-28T02:08:45.384" v="219" actId="14100"/>
          <ac:spMkLst>
            <pc:docMk/>
            <pc:sldMk cId="1195225230" sldId="257"/>
            <ac:spMk id="2" creationId="{CB3D1BE7-29AA-160B-9E86-805842FCA3A2}"/>
          </ac:spMkLst>
        </pc:spChg>
        <pc:spChg chg="add del mod">
          <ac:chgData name="Sanket Nayak" userId="96b3f0c0c9131cd0" providerId="LiveId" clId="{F3B511F7-43DD-4C8F-ACF1-A463DE6EA545}" dt="2026-08-28T02:09:02.116" v="221" actId="14100"/>
          <ac:spMkLst>
            <pc:docMk/>
            <pc:sldMk cId="1195225230" sldId="257"/>
            <ac:spMk id="3" creationId="{C49E75A4-0AFB-E438-405C-BC3626D6AB88}"/>
          </ac:spMkLst>
        </pc:spChg>
        <pc:graphicFrameChg chg="add mod modGraphic">
          <ac:chgData name="Sanket Nayak" userId="96b3f0c0c9131cd0" providerId="LiveId" clId="{F3B511F7-43DD-4C8F-ACF1-A463DE6EA545}" dt="2026-08-28T02:02:52.758" v="168"/>
          <ac:graphicFrameMkLst>
            <pc:docMk/>
            <pc:sldMk cId="1195225230" sldId="257"/>
            <ac:graphicFrameMk id="4" creationId="{F9FF1A31-171B-7C74-DE3F-6E8AA8BC38DF}"/>
          </ac:graphicFrameMkLst>
        </pc:graphicFrameChg>
      </pc:sldChg>
      <pc:sldChg chg="addSp modSp add mod">
        <pc:chgData name="Sanket Nayak" userId="96b3f0c0c9131cd0" providerId="LiveId" clId="{F3B511F7-43DD-4C8F-ACF1-A463DE6EA545}" dt="2026-08-28T02:32:48.301" v="446" actId="1076"/>
        <pc:sldMkLst>
          <pc:docMk/>
          <pc:sldMk cId="926598631" sldId="258"/>
        </pc:sldMkLst>
        <pc:spChg chg="mod">
          <ac:chgData name="Sanket Nayak" userId="96b3f0c0c9131cd0" providerId="LiveId" clId="{F3B511F7-43DD-4C8F-ACF1-A463DE6EA545}" dt="2026-08-28T02:32:44.886" v="445" actId="14100"/>
          <ac:spMkLst>
            <pc:docMk/>
            <pc:sldMk cId="926598631" sldId="258"/>
            <ac:spMk id="2" creationId="{122FBE3B-383A-E6EA-DDED-09F43A6C7425}"/>
          </ac:spMkLst>
        </pc:spChg>
        <pc:spChg chg="mod">
          <ac:chgData name="Sanket Nayak" userId="96b3f0c0c9131cd0" providerId="LiveId" clId="{F3B511F7-43DD-4C8F-ACF1-A463DE6EA545}" dt="2026-08-28T02:32:48.301" v="446" actId="1076"/>
          <ac:spMkLst>
            <pc:docMk/>
            <pc:sldMk cId="926598631" sldId="258"/>
            <ac:spMk id="3" creationId="{5BE3E78A-B6BC-4047-A9DB-EA257AE3983E}"/>
          </ac:spMkLst>
        </pc:spChg>
        <pc:spChg chg="add mod">
          <ac:chgData name="Sanket Nayak" userId="96b3f0c0c9131cd0" providerId="LiveId" clId="{F3B511F7-43DD-4C8F-ACF1-A463DE6EA545}" dt="2026-08-28T02:27:51.069" v="341" actId="767"/>
          <ac:spMkLst>
            <pc:docMk/>
            <pc:sldMk cId="926598631" sldId="258"/>
            <ac:spMk id="4" creationId="{C7577693-DA1B-F161-1FA6-EF8C65EC3A0C}"/>
          </ac:spMkLst>
        </pc:spChg>
      </pc:sldChg>
      <pc:sldChg chg="modSp add mod">
        <pc:chgData name="Sanket Nayak" userId="96b3f0c0c9131cd0" providerId="LiveId" clId="{F3B511F7-43DD-4C8F-ACF1-A463DE6EA545}" dt="2026-08-28T02:32:23.211" v="431" actId="14100"/>
        <pc:sldMkLst>
          <pc:docMk/>
          <pc:sldMk cId="4014226727" sldId="259"/>
        </pc:sldMkLst>
        <pc:spChg chg="mod">
          <ac:chgData name="Sanket Nayak" userId="96b3f0c0c9131cd0" providerId="LiveId" clId="{F3B511F7-43DD-4C8F-ACF1-A463DE6EA545}" dt="2026-08-28T02:32:19.551" v="430" actId="14100"/>
          <ac:spMkLst>
            <pc:docMk/>
            <pc:sldMk cId="4014226727" sldId="259"/>
            <ac:spMk id="2" creationId="{9BD2A9AD-8A2C-4C5C-5E18-F13379E1AB6B}"/>
          </ac:spMkLst>
        </pc:spChg>
        <pc:spChg chg="mod">
          <ac:chgData name="Sanket Nayak" userId="96b3f0c0c9131cd0" providerId="LiveId" clId="{F3B511F7-43DD-4C8F-ACF1-A463DE6EA545}" dt="2026-08-28T02:32:23.211" v="431" actId="14100"/>
          <ac:spMkLst>
            <pc:docMk/>
            <pc:sldMk cId="4014226727" sldId="259"/>
            <ac:spMk id="3" creationId="{0130F46C-8AFF-A125-8C07-AFDBCF4D6624}"/>
          </ac:spMkLst>
        </pc:spChg>
      </pc:sldChg>
      <pc:sldChg chg="add del">
        <pc:chgData name="Sanket Nayak" userId="96b3f0c0c9131cd0" providerId="LiveId" clId="{F3B511F7-43DD-4C8F-ACF1-A463DE6EA545}" dt="2026-08-28T02:30:53.206" v="357" actId="2696"/>
        <pc:sldMkLst>
          <pc:docMk/>
          <pc:sldMk cId="1114485633" sldId="260"/>
        </pc:sldMkLst>
      </pc:sldChg>
      <pc:sldChg chg="modSp add mod">
        <pc:chgData name="Sanket Nayak" userId="96b3f0c0c9131cd0" providerId="LiveId" clId="{F3B511F7-43DD-4C8F-ACF1-A463DE6EA545}" dt="2026-08-28T02:37:05.596" v="479" actId="20577"/>
        <pc:sldMkLst>
          <pc:docMk/>
          <pc:sldMk cId="2482379247" sldId="260"/>
        </pc:sldMkLst>
        <pc:spChg chg="mod">
          <ac:chgData name="Sanket Nayak" userId="96b3f0c0c9131cd0" providerId="LiveId" clId="{F3B511F7-43DD-4C8F-ACF1-A463DE6EA545}" dt="2026-08-28T02:33:01.852" v="448" actId="14100"/>
          <ac:spMkLst>
            <pc:docMk/>
            <pc:sldMk cId="2482379247" sldId="260"/>
            <ac:spMk id="2" creationId="{D821192D-A240-7F3D-2E4B-3B0AA122A8AF}"/>
          </ac:spMkLst>
        </pc:spChg>
        <pc:spChg chg="mod">
          <ac:chgData name="Sanket Nayak" userId="96b3f0c0c9131cd0" providerId="LiveId" clId="{F3B511F7-43DD-4C8F-ACF1-A463DE6EA545}" dt="2026-08-28T02:37:05.596" v="479" actId="20577"/>
          <ac:spMkLst>
            <pc:docMk/>
            <pc:sldMk cId="2482379247" sldId="260"/>
            <ac:spMk id="3" creationId="{E3409D42-CF5A-45C1-45CF-E9DDEA598FE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25654-F3A0-9A6D-A26E-2268F009F2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DA26A7-8A64-E1DF-B0D4-5925A5998D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043667-EC8D-A82E-AE5C-55C8AE8E3D6A}"/>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14CF7D49-0769-B1B3-2CC4-EB81EC725D3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AD4476C-A779-4BE1-B1C8-862A5346A4EB}"/>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13363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D803-749A-004D-A0F3-D76772CC96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A0341C-B5BF-6DB6-BD13-6E074FCB55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794E5F-D64B-F2A0-D8CF-ED48E47D137F}"/>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8A647997-60A9-6A78-0934-E8C79BAD736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2E94136-DF0D-9179-7180-2D8EC8F2A741}"/>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229045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84A6-41B1-BE64-BE3B-C862011CFB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C564A5-1C2E-0491-CC16-2D4625B2AC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716288-756A-319E-C333-80AD7BD8D104}"/>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A8AC96B6-62EF-5B9B-5544-BCE8354DE0F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28C8084-D883-23CC-27C6-77E89BB24F0C}"/>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874125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20DB3-8789-6C26-A60B-91B8C78A99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226770-04FF-0D4E-2141-8ECC69C30E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1A43D0-E3E0-9A3E-1E8B-0FDD91B053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D3C616-5435-3E70-2F41-CB1F07D51EE5}"/>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6" name="Footer Placeholder 5">
            <a:extLst>
              <a:ext uri="{FF2B5EF4-FFF2-40B4-BE49-F238E27FC236}">
                <a16:creationId xmlns:a16="http://schemas.microsoft.com/office/drawing/2014/main" id="{1DC997AD-A0D4-0206-C8A1-6A3FE11D525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9D62CBC-6D10-CBC6-4AF2-6F73D88B4906}"/>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561382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67EA-F848-DD91-1554-C53A278333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146ACE-3076-5B9E-763B-154E2311CD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8DDE35-F538-7E47-1ECD-37A82A8016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BB8B37-A913-0F39-B44C-024E33759A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152407-42F5-E4F4-9E9C-CBA4375BE7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E3884F-CC52-BF40-C263-EE35538BFE9B}"/>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8" name="Footer Placeholder 7">
            <a:extLst>
              <a:ext uri="{FF2B5EF4-FFF2-40B4-BE49-F238E27FC236}">
                <a16:creationId xmlns:a16="http://schemas.microsoft.com/office/drawing/2014/main" id="{3DEBE0A6-2682-3F46-D8AA-D0D03C5A736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9E0BBCB5-008D-8106-DA30-D544E0979D4A}"/>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1190420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445B5-521B-98C5-1D9F-9B5D10A7FD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DC8A6D-3237-7EAB-D9EA-1F8488C2B002}"/>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4" name="Footer Placeholder 3">
            <a:extLst>
              <a:ext uri="{FF2B5EF4-FFF2-40B4-BE49-F238E27FC236}">
                <a16:creationId xmlns:a16="http://schemas.microsoft.com/office/drawing/2014/main" id="{EFCEA3B3-8273-5499-3004-8B81EBFAF86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A4D6AD2-8E5A-4B44-8529-E5CB1EE07284}"/>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944257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017337-05CA-CE94-9E68-963975E3A4C3}"/>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3" name="Footer Placeholder 2">
            <a:extLst>
              <a:ext uri="{FF2B5EF4-FFF2-40B4-BE49-F238E27FC236}">
                <a16:creationId xmlns:a16="http://schemas.microsoft.com/office/drawing/2014/main" id="{4A7CCCDA-2FE5-A93C-DA3F-A3313FADEC3E}"/>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BA5780C7-51D0-70DB-1CA2-76A0D59A0CA5}"/>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70070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DA0EC-A6BB-7719-C7FB-F01786AE28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C02DB3-6E53-5B95-9DE8-DE3A4C1920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E94B34-686F-F1BD-9095-CD1101833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5996B4-D3FF-1B42-90C2-9BB3EC58594A}"/>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6" name="Footer Placeholder 5">
            <a:extLst>
              <a:ext uri="{FF2B5EF4-FFF2-40B4-BE49-F238E27FC236}">
                <a16:creationId xmlns:a16="http://schemas.microsoft.com/office/drawing/2014/main" id="{D870C29E-74FE-798E-F87E-DBD66A0563C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7292C1A-60A1-3CA1-4A01-13EF05F2EDFC}"/>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1055312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E34F9-FA4C-DE32-6EF8-4B2CE5D3D9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F514D1-D0A7-DCD0-6AAC-DFD6BE78D0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7C273AF8-E446-E038-E0B9-03F8AEC927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71100-8B99-A06D-2E80-DE838F651877}"/>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6" name="Footer Placeholder 5">
            <a:extLst>
              <a:ext uri="{FF2B5EF4-FFF2-40B4-BE49-F238E27FC236}">
                <a16:creationId xmlns:a16="http://schemas.microsoft.com/office/drawing/2014/main" id="{A720393F-C913-E289-42C3-2BB2226F4E4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E64A2CF-6CE5-A9BC-C805-C46C768EB93B}"/>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390334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A5F10-2D9C-7EB6-0A92-CAF20E5989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8961D3-D575-F79A-9576-5504A4B43F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80D8C-5416-0E39-0F4F-03B24B8B3E86}"/>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142F422D-D001-D136-35AA-197D9787142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37864CA-A772-F840-E779-C928555B2296}"/>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72396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0FAB1E-D976-9054-1243-58D2B609F8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87D9F9-AF1E-3CB2-DFC6-314D9F5C5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8A97B9-E480-5F1E-06BA-A4E1C59648EE}"/>
              </a:ext>
            </a:extLst>
          </p:cNvPr>
          <p:cNvSpPr>
            <a:spLocks noGrp="1"/>
          </p:cNvSpPr>
          <p:nvPr>
            <p:ph type="dt" sz="half" idx="10"/>
          </p:nvPr>
        </p:nvSpPr>
        <p:spPr/>
        <p:txBody>
          <a:body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0A31ED6C-4ED8-3E0F-3BAC-BDE60A5F563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C23E943-4000-1D27-F00E-F9AA61F76474}"/>
              </a:ext>
            </a:extLst>
          </p:cNvPr>
          <p:cNvSpPr>
            <a:spLocks noGrp="1"/>
          </p:cNvSpPr>
          <p:nvPr>
            <p:ph type="sldNum" sz="quarter" idx="12"/>
          </p:nvPr>
        </p:nvSpPr>
        <p:spPr/>
        <p:txBody>
          <a:bodyPr/>
          <a:lstStyle/>
          <a:p>
            <a:fld id="{DC1E0097-C94F-42C5-B192-CDD4B5FAF816}" type="slidenum">
              <a:rPr lang="en-IN" smtClean="0"/>
              <a:t>‹#›</a:t>
            </a:fld>
            <a:endParaRPr lang="en-IN" dirty="0"/>
          </a:p>
        </p:txBody>
      </p:sp>
    </p:spTree>
    <p:extLst>
      <p:ext uri="{BB962C8B-B14F-4D97-AF65-F5344CB8AC3E}">
        <p14:creationId xmlns:p14="http://schemas.microsoft.com/office/powerpoint/2010/main" val="3427171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AA61F8-1581-73E6-7067-DD5778CE5E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62436B-D5C0-87C0-59C7-D9643BFA5F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9E1BD5-B1CF-D94C-E37B-AB1AC2062E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40DAE-42F0-46D8-9CC9-F17364C5884F}" type="datetimeFigureOut">
              <a:rPr lang="en-IN" smtClean="0"/>
              <a:t>16-09-2026</a:t>
            </a:fld>
            <a:endParaRPr lang="en-IN" dirty="0"/>
          </a:p>
        </p:txBody>
      </p:sp>
      <p:sp>
        <p:nvSpPr>
          <p:cNvPr id="5" name="Footer Placeholder 4">
            <a:extLst>
              <a:ext uri="{FF2B5EF4-FFF2-40B4-BE49-F238E27FC236}">
                <a16:creationId xmlns:a16="http://schemas.microsoft.com/office/drawing/2014/main" id="{A34481F5-52FB-AE91-D8FB-0168457A00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63F68469-6D34-F4C4-058B-284F8633F6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1E0097-C94F-42C5-B192-CDD4B5FAF816}" type="slidenum">
              <a:rPr lang="en-IN" smtClean="0"/>
              <a:t>‹#›</a:t>
            </a:fld>
            <a:endParaRPr lang="en-IN" dirty="0"/>
          </a:p>
        </p:txBody>
      </p:sp>
    </p:spTree>
    <p:extLst>
      <p:ext uri="{BB962C8B-B14F-4D97-AF65-F5344CB8AC3E}">
        <p14:creationId xmlns:p14="http://schemas.microsoft.com/office/powerpoint/2010/main" val="3179904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dbms/what-is-functional-dependency-in-dbm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eeksforgeeks.org/dbms/introduction-of-4th-and-5th-normal-form-in-dbm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45B7E-7849-5769-FF1A-9100E64B171A}"/>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8F86FB80-B6D1-C0C4-2B9E-8B8CCA13E3ED}"/>
              </a:ext>
            </a:extLst>
          </p:cNvPr>
          <p:cNvSpPr>
            <a:spLocks noGrp="1"/>
          </p:cNvSpPr>
          <p:nvPr>
            <p:ph type="subTitle" idx="1"/>
          </p:nvPr>
        </p:nvSpPr>
        <p:spPr/>
        <p:txBody>
          <a:bodyPr/>
          <a:lstStyle/>
          <a:p>
            <a:endParaRPr lang="en-IN" dirty="0"/>
          </a:p>
        </p:txBody>
      </p:sp>
      <p:pic>
        <p:nvPicPr>
          <p:cNvPr id="4" name="Picture 3">
            <a:extLst>
              <a:ext uri="{FF2B5EF4-FFF2-40B4-BE49-F238E27FC236}">
                <a16:creationId xmlns:a16="http://schemas.microsoft.com/office/drawing/2014/main" id="{5A405574-8F15-BB98-31FE-04E26DA306E4}"/>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0"/>
            <a:ext cx="12191980" cy="6858000"/>
          </a:xfrm>
          <a:prstGeom prst="rect">
            <a:avLst/>
          </a:prstGeom>
        </p:spPr>
      </p:pic>
      <p:pic>
        <p:nvPicPr>
          <p:cNvPr id="5" name="Picture 4" descr="University Logo.png">
            <a:extLst>
              <a:ext uri="{FF2B5EF4-FFF2-40B4-BE49-F238E27FC236}">
                <a16:creationId xmlns:a16="http://schemas.microsoft.com/office/drawing/2014/main" id="{6E7D13DB-E929-AA3D-D229-3AC27DE85F9B}"/>
              </a:ext>
            </a:extLst>
          </p:cNvPr>
          <p:cNvPicPr>
            <a:picLocks noChangeAspect="1"/>
          </p:cNvPicPr>
          <p:nvPr/>
        </p:nvPicPr>
        <p:blipFill>
          <a:blip r:embed="rId3" cstate="print"/>
          <a:stretch>
            <a:fillRect/>
          </a:stretch>
        </p:blipFill>
        <p:spPr>
          <a:xfrm>
            <a:off x="754808" y="3440337"/>
            <a:ext cx="2324872" cy="2295300"/>
          </a:xfrm>
          <a:prstGeom prst="rect">
            <a:avLst/>
          </a:prstGeom>
        </p:spPr>
      </p:pic>
      <p:sp>
        <p:nvSpPr>
          <p:cNvPr id="6" name="Rectangle 5">
            <a:extLst>
              <a:ext uri="{FF2B5EF4-FFF2-40B4-BE49-F238E27FC236}">
                <a16:creationId xmlns:a16="http://schemas.microsoft.com/office/drawing/2014/main" id="{AE313A12-B3AB-6745-8397-1AF8EB3C4285}"/>
              </a:ext>
            </a:extLst>
          </p:cNvPr>
          <p:cNvSpPr/>
          <p:nvPr/>
        </p:nvSpPr>
        <p:spPr>
          <a:xfrm>
            <a:off x="4222679" y="3429000"/>
            <a:ext cx="7756988" cy="23066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7" name="Title 1">
            <a:extLst>
              <a:ext uri="{FF2B5EF4-FFF2-40B4-BE49-F238E27FC236}">
                <a16:creationId xmlns:a16="http://schemas.microsoft.com/office/drawing/2014/main" id="{F4C9F595-2A7D-93BC-8957-9EC6EA1BECD8}"/>
              </a:ext>
            </a:extLst>
          </p:cNvPr>
          <p:cNvSpPr txBox="1">
            <a:spLocks/>
          </p:cNvSpPr>
          <p:nvPr/>
        </p:nvSpPr>
        <p:spPr>
          <a:xfrm>
            <a:off x="4849402" y="3656950"/>
            <a:ext cx="7015309" cy="109093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chemeClr val="bg1"/>
                </a:solidFill>
                <a:latin typeface="Times New Roman" pitchFamily="18" charset="0"/>
                <a:cs typeface="Times New Roman" pitchFamily="18" charset="0"/>
              </a:rPr>
              <a:t>DATABASE MANAGEMENT SYSTEM(DBMS)</a:t>
            </a:r>
            <a:br>
              <a:rPr lang="en-US" sz="2800" b="1" dirty="0">
                <a:solidFill>
                  <a:schemeClr val="bg1"/>
                </a:solidFill>
                <a:latin typeface="Times New Roman" pitchFamily="18" charset="0"/>
                <a:cs typeface="Times New Roman" pitchFamily="18" charset="0"/>
              </a:rPr>
            </a:br>
            <a:endParaRPr lang="en-US" sz="2800" dirty="0">
              <a:solidFill>
                <a:schemeClr val="bg1"/>
              </a:solidFill>
            </a:endParaRPr>
          </a:p>
        </p:txBody>
      </p:sp>
      <p:sp>
        <p:nvSpPr>
          <p:cNvPr id="8" name="Subtitle 2">
            <a:extLst>
              <a:ext uri="{FF2B5EF4-FFF2-40B4-BE49-F238E27FC236}">
                <a16:creationId xmlns:a16="http://schemas.microsoft.com/office/drawing/2014/main" id="{E00A2DE6-FBEF-FE64-E98E-6046E789557B}"/>
              </a:ext>
            </a:extLst>
          </p:cNvPr>
          <p:cNvSpPr txBox="1">
            <a:spLocks/>
          </p:cNvSpPr>
          <p:nvPr/>
        </p:nvSpPr>
        <p:spPr>
          <a:xfrm>
            <a:off x="4309349" y="4779313"/>
            <a:ext cx="7501650" cy="51481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300" b="1" baseline="30000" dirty="0">
                <a:solidFill>
                  <a:schemeClr val="bg1"/>
                </a:solidFill>
                <a:latin typeface="Times New Roman" pitchFamily="18" charset="0"/>
                <a:cs typeface="Times New Roman" pitchFamily="18" charset="0"/>
              </a:rPr>
              <a:t>3rd</a:t>
            </a:r>
            <a:r>
              <a:rPr lang="en-US" sz="2300" b="1" dirty="0">
                <a:solidFill>
                  <a:schemeClr val="bg1"/>
                </a:solidFill>
                <a:latin typeface="Times New Roman" pitchFamily="18" charset="0"/>
                <a:cs typeface="Times New Roman" pitchFamily="18" charset="0"/>
              </a:rPr>
              <a:t>  Sem AIML </a:t>
            </a:r>
            <a:r>
              <a:rPr lang="en-US" sz="2300" dirty="0">
                <a:solidFill>
                  <a:schemeClr val="bg2"/>
                </a:solidFill>
              </a:rPr>
              <a:t>Prepared by Sanket Nayak, Assistant Professor (CSE - Allied) </a:t>
            </a:r>
            <a:endParaRPr lang="en-IN" sz="2300" b="1" dirty="0">
              <a:solidFill>
                <a:schemeClr val="bg2"/>
              </a:solidFill>
              <a:latin typeface="Times New Roman" pitchFamily="18" charset="0"/>
              <a:cs typeface="Times New Roman" pitchFamily="18" charset="0"/>
            </a:endParaRPr>
          </a:p>
        </p:txBody>
      </p:sp>
    </p:spTree>
    <p:extLst>
      <p:ext uri="{BB962C8B-B14F-4D97-AF65-F5344CB8AC3E}">
        <p14:creationId xmlns:p14="http://schemas.microsoft.com/office/powerpoint/2010/main" val="330603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1BE7-29AA-160B-9E86-805842FCA3A2}"/>
              </a:ext>
            </a:extLst>
          </p:cNvPr>
          <p:cNvSpPr>
            <a:spLocks noGrp="1"/>
          </p:cNvSpPr>
          <p:nvPr>
            <p:ph type="title"/>
          </p:nvPr>
        </p:nvSpPr>
        <p:spPr>
          <a:xfrm>
            <a:off x="493160" y="283109"/>
            <a:ext cx="11239928" cy="908693"/>
          </a:xfrm>
          <a:solidFill>
            <a:schemeClr val="accent2"/>
          </a:solidFill>
        </p:spPr>
        <p:txBody>
          <a:bodyPr>
            <a:normAutofit fontScale="90000"/>
          </a:bodyPr>
          <a:lstStyle/>
          <a:p>
            <a:r>
              <a:rPr lang="en-US" sz="2700" b="1" dirty="0">
                <a:solidFill>
                  <a:srgbClr val="C00000"/>
                </a:solidFill>
                <a:latin typeface="+mn-lt"/>
              </a:rPr>
              <a:t>UNIT - III</a:t>
            </a:r>
            <a:br>
              <a:rPr lang="en-US" b="1" dirty="0">
                <a:solidFill>
                  <a:schemeClr val="bg1"/>
                </a:solidFill>
                <a:latin typeface="+mn-lt"/>
              </a:rPr>
            </a:br>
            <a:r>
              <a:rPr lang="en-US" sz="4200" b="1" dirty="0">
                <a:solidFill>
                  <a:schemeClr val="bg1"/>
                </a:solidFill>
                <a:latin typeface="+mn-lt"/>
              </a:rPr>
              <a:t>Normalization</a:t>
            </a:r>
            <a:r>
              <a:rPr lang="en-US" dirty="0"/>
              <a:t> </a:t>
            </a:r>
            <a:endParaRPr lang="en-IN" dirty="0"/>
          </a:p>
        </p:txBody>
      </p:sp>
      <p:sp>
        <p:nvSpPr>
          <p:cNvPr id="3" name="Content Placeholder 2">
            <a:extLst>
              <a:ext uri="{FF2B5EF4-FFF2-40B4-BE49-F238E27FC236}">
                <a16:creationId xmlns:a16="http://schemas.microsoft.com/office/drawing/2014/main" id="{C49E75A4-0AFB-E438-405C-BC3626D6AB88}"/>
              </a:ext>
            </a:extLst>
          </p:cNvPr>
          <p:cNvSpPr>
            <a:spLocks noGrp="1"/>
          </p:cNvSpPr>
          <p:nvPr>
            <p:ph idx="1"/>
          </p:nvPr>
        </p:nvSpPr>
        <p:spPr>
          <a:xfrm>
            <a:off x="493159" y="1548223"/>
            <a:ext cx="11239927" cy="4924496"/>
          </a:xfrm>
        </p:spPr>
        <p:txBody>
          <a:bodyPr>
            <a:normAutofit fontScale="92500" lnSpcReduction="10000"/>
          </a:bodyPr>
          <a:lstStyle/>
          <a:p>
            <a:pPr algn="just">
              <a:buFont typeface="Wingdings" panose="05000000000000000000" pitchFamily="2" charset="2"/>
              <a:buChar char="§"/>
            </a:pPr>
            <a:r>
              <a:rPr lang="en-US" dirty="0"/>
              <a:t> Introduction – Purpose of normalization </a:t>
            </a:r>
          </a:p>
          <a:p>
            <a:pPr algn="just">
              <a:buFont typeface="Wingdings" panose="05000000000000000000" pitchFamily="2" charset="2"/>
              <a:buChar char="§"/>
            </a:pPr>
            <a:r>
              <a:rPr lang="en-US" dirty="0"/>
              <a:t> Functional Dependencies</a:t>
            </a:r>
          </a:p>
          <a:p>
            <a:pPr algn="just">
              <a:buFont typeface="Wingdings" panose="05000000000000000000" pitchFamily="2" charset="2"/>
              <a:buChar char="§"/>
            </a:pPr>
            <a:r>
              <a:rPr lang="en-US" dirty="0"/>
              <a:t> Lossless Join Decomposition</a:t>
            </a:r>
          </a:p>
          <a:p>
            <a:pPr algn="just">
              <a:buFont typeface="Wingdings" panose="05000000000000000000" pitchFamily="2" charset="2"/>
              <a:buChar char="§"/>
            </a:pPr>
            <a:r>
              <a:rPr lang="en-US" dirty="0"/>
              <a:t> Dependency Preservation</a:t>
            </a:r>
          </a:p>
          <a:p>
            <a:pPr algn="just">
              <a:buFont typeface="Wingdings" panose="05000000000000000000" pitchFamily="2" charset="2"/>
              <a:buChar char="§"/>
            </a:pPr>
            <a:r>
              <a:rPr lang="en-US" dirty="0"/>
              <a:t> Normal Forms: First Normal Form (1NF), Second Normal Form (2NF),  Third Normal Form (3NF)</a:t>
            </a:r>
          </a:p>
          <a:p>
            <a:pPr algn="just">
              <a:buFont typeface="Wingdings" panose="05000000000000000000" pitchFamily="2" charset="2"/>
              <a:buChar char="§"/>
            </a:pPr>
            <a:r>
              <a:rPr lang="en-US" dirty="0"/>
              <a:t> Boyce–Codd Normal Form (BCNF)</a:t>
            </a:r>
          </a:p>
          <a:p>
            <a:pPr algn="just">
              <a:buFont typeface="Wingdings" panose="05000000000000000000" pitchFamily="2" charset="2"/>
              <a:buChar char="§"/>
            </a:pPr>
            <a:r>
              <a:rPr lang="en-US" dirty="0"/>
              <a:t> Multivalued Dependencies (MVDs)</a:t>
            </a:r>
          </a:p>
          <a:p>
            <a:pPr algn="just">
              <a:buFont typeface="Wingdings" panose="05000000000000000000" pitchFamily="2" charset="2"/>
              <a:buChar char="§"/>
            </a:pPr>
            <a:r>
              <a:rPr lang="en-US" dirty="0"/>
              <a:t> Fourth Normal Form (4NF)</a:t>
            </a:r>
          </a:p>
          <a:p>
            <a:pPr algn="just">
              <a:buFont typeface="Wingdings" panose="05000000000000000000" pitchFamily="2" charset="2"/>
              <a:buChar char="§"/>
            </a:pPr>
            <a:r>
              <a:rPr lang="en-US" dirty="0"/>
              <a:t> Join Dependencies</a:t>
            </a:r>
          </a:p>
          <a:p>
            <a:pPr algn="just">
              <a:buFont typeface="Wingdings" panose="05000000000000000000" pitchFamily="2" charset="2"/>
              <a:buChar char="§"/>
            </a:pPr>
            <a:r>
              <a:rPr lang="en-US" dirty="0"/>
              <a:t> Fifth Normal Form (5NF)</a:t>
            </a:r>
            <a:endParaRPr lang="en-IN" dirty="0"/>
          </a:p>
        </p:txBody>
      </p:sp>
    </p:spTree>
    <p:extLst>
      <p:ext uri="{BB962C8B-B14F-4D97-AF65-F5344CB8AC3E}">
        <p14:creationId xmlns:p14="http://schemas.microsoft.com/office/powerpoint/2010/main" val="1195225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B3E1D-9FA4-4B9B-1A4B-4052E13D7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FBE3B-383A-E6EA-DDED-09F43A6C7425}"/>
              </a:ext>
            </a:extLst>
          </p:cNvPr>
          <p:cNvSpPr>
            <a:spLocks noGrp="1"/>
          </p:cNvSpPr>
          <p:nvPr>
            <p:ph type="title"/>
          </p:nvPr>
        </p:nvSpPr>
        <p:spPr>
          <a:xfrm>
            <a:off x="493160" y="283109"/>
            <a:ext cx="11239928" cy="651839"/>
          </a:xfrm>
          <a:solidFill>
            <a:schemeClr val="accent2"/>
          </a:solidFill>
        </p:spPr>
        <p:txBody>
          <a:bodyPr>
            <a:normAutofit/>
          </a:bodyPr>
          <a:lstStyle/>
          <a:p>
            <a:r>
              <a:rPr lang="en-US" sz="3200" b="1" dirty="0">
                <a:solidFill>
                  <a:schemeClr val="bg1"/>
                </a:solidFill>
                <a:latin typeface="+mn-lt"/>
              </a:rPr>
              <a:t>Introduction – Purpose of normalization  </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5BE3E78A-B6BC-4047-A9DB-EA257AE3983E}"/>
              </a:ext>
            </a:extLst>
          </p:cNvPr>
          <p:cNvSpPr>
            <a:spLocks noGrp="1"/>
          </p:cNvSpPr>
          <p:nvPr>
            <p:ph idx="1"/>
          </p:nvPr>
        </p:nvSpPr>
        <p:spPr>
          <a:xfrm>
            <a:off x="493158" y="1078786"/>
            <a:ext cx="11239927" cy="5383659"/>
          </a:xfrm>
        </p:spPr>
        <p:txBody>
          <a:bodyPr>
            <a:noAutofit/>
          </a:bodyPr>
          <a:lstStyle/>
          <a:p>
            <a:pPr algn="just">
              <a:lnSpc>
                <a:spcPct val="110000"/>
              </a:lnSpc>
              <a:buFont typeface="Wingdings" panose="05000000000000000000" pitchFamily="2" charset="2"/>
              <a:buChar char="§"/>
            </a:pPr>
            <a:r>
              <a:rPr lang="en-IN" sz="2500" u="sng" dirty="0"/>
              <a:t>Normalization</a:t>
            </a:r>
            <a:r>
              <a:rPr lang="en-IN" sz="2500" dirty="0"/>
              <a:t> in DBMS is a systematic process of arranging data in a </a:t>
            </a:r>
            <a:r>
              <a:rPr lang="en-IN" sz="2500" u="sng" dirty="0"/>
              <a:t>relational database</a:t>
            </a:r>
            <a:r>
              <a:rPr lang="en-IN" sz="2500" dirty="0"/>
              <a:t> to minimize redundancy and improve data integrity. It involves decomposing large tables into smaller, related tables and defining relationships among them using keys.</a:t>
            </a:r>
          </a:p>
          <a:p>
            <a:pPr algn="just">
              <a:lnSpc>
                <a:spcPct val="110000"/>
              </a:lnSpc>
              <a:buFont typeface="Wingdings" panose="05000000000000000000" pitchFamily="2" charset="2"/>
              <a:buChar char="§"/>
            </a:pPr>
            <a:r>
              <a:rPr lang="en-IN" sz="2500" dirty="0"/>
              <a:t>The primary goal of normalization in DBMS is to ensure that each piece of data is stored only once, thereby avoiding inconsistencies and duplication.</a:t>
            </a:r>
            <a:r>
              <a:rPr lang="en-US" sz="2500" dirty="0"/>
              <a:t> </a:t>
            </a:r>
          </a:p>
          <a:p>
            <a:pPr>
              <a:buFont typeface="Wingdings" panose="05000000000000000000" pitchFamily="2" charset="2"/>
              <a:buChar char="§"/>
            </a:pPr>
            <a:r>
              <a:rPr lang="en-IN" sz="2500" dirty="0"/>
              <a:t>By following normalization rules, we can:</a:t>
            </a:r>
          </a:p>
          <a:p>
            <a:pPr lvl="0">
              <a:buFont typeface="Wingdings" panose="05000000000000000000" pitchFamily="2" charset="2"/>
              <a:buChar char="Ø"/>
            </a:pPr>
            <a:r>
              <a:rPr lang="en-IN" sz="2500" dirty="0"/>
              <a:t>Eliminate redundant data</a:t>
            </a:r>
          </a:p>
          <a:p>
            <a:pPr lvl="0">
              <a:buFont typeface="Wingdings" panose="05000000000000000000" pitchFamily="2" charset="2"/>
              <a:buChar char="Ø"/>
            </a:pPr>
            <a:r>
              <a:rPr lang="en-IN" sz="2500" dirty="0"/>
              <a:t>Ensure logical data storage</a:t>
            </a:r>
          </a:p>
          <a:p>
            <a:pPr lvl="0">
              <a:buFont typeface="Wingdings" panose="05000000000000000000" pitchFamily="2" charset="2"/>
              <a:buChar char="Ø"/>
            </a:pPr>
            <a:r>
              <a:rPr lang="en-IN" sz="2500" dirty="0"/>
              <a:t>Enhance data integrity</a:t>
            </a:r>
          </a:p>
          <a:p>
            <a:pPr>
              <a:buFont typeface="Wingdings" panose="05000000000000000000" pitchFamily="2" charset="2"/>
              <a:buChar char="Ø"/>
            </a:pPr>
            <a:r>
              <a:rPr lang="en-IN" sz="2500" dirty="0"/>
              <a:t>To use the memory efficiently. </a:t>
            </a:r>
          </a:p>
          <a:p>
            <a:pPr>
              <a:buFont typeface="Wingdings" panose="05000000000000000000" pitchFamily="2" charset="2"/>
              <a:buChar char="Ø"/>
            </a:pPr>
            <a:r>
              <a:rPr lang="en-IN" sz="2500" dirty="0"/>
              <a:t>To eliminate NULL values.</a:t>
            </a:r>
          </a:p>
        </p:txBody>
      </p:sp>
    </p:spTree>
    <p:extLst>
      <p:ext uri="{BB962C8B-B14F-4D97-AF65-F5344CB8AC3E}">
        <p14:creationId xmlns:p14="http://schemas.microsoft.com/office/powerpoint/2010/main" val="92659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0226C-49F3-062F-2BFF-40A75F553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2A9AD-8A2C-4C5C-5E18-F13379E1AB6B}"/>
              </a:ext>
            </a:extLst>
          </p:cNvPr>
          <p:cNvSpPr>
            <a:spLocks noGrp="1"/>
          </p:cNvSpPr>
          <p:nvPr>
            <p:ph type="title"/>
          </p:nvPr>
        </p:nvSpPr>
        <p:spPr>
          <a:xfrm>
            <a:off x="493160" y="283109"/>
            <a:ext cx="11239928" cy="610743"/>
          </a:xfrm>
          <a:solidFill>
            <a:schemeClr val="accent2"/>
          </a:solidFill>
        </p:spPr>
        <p:txBody>
          <a:bodyPr>
            <a:normAutofit/>
          </a:bodyPr>
          <a:lstStyle/>
          <a:p>
            <a:r>
              <a:rPr lang="en-US" sz="3200" b="1" dirty="0">
                <a:solidFill>
                  <a:schemeClr val="bg1"/>
                </a:solidFill>
                <a:latin typeface="+mn-lt"/>
              </a:rPr>
              <a:t>Introduction – Purpose of normalization  </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0130F46C-8AFF-A125-8C07-AFDBCF4D6624}"/>
              </a:ext>
            </a:extLst>
          </p:cNvPr>
          <p:cNvSpPr>
            <a:spLocks noGrp="1"/>
          </p:cNvSpPr>
          <p:nvPr>
            <p:ph idx="1"/>
          </p:nvPr>
        </p:nvSpPr>
        <p:spPr>
          <a:xfrm>
            <a:off x="493159" y="1047964"/>
            <a:ext cx="11239927" cy="5424755"/>
          </a:xfrm>
        </p:spPr>
        <p:txBody>
          <a:bodyPr>
            <a:normAutofit/>
          </a:bodyPr>
          <a:lstStyle/>
          <a:p>
            <a:pPr marL="0" indent="0">
              <a:buNone/>
            </a:pPr>
            <a:r>
              <a:rPr lang="en-IN" b="1" dirty="0">
                <a:solidFill>
                  <a:srgbClr val="FF0000"/>
                </a:solidFill>
              </a:rPr>
              <a:t>Need of Normalization in DBMS?</a:t>
            </a:r>
          </a:p>
          <a:p>
            <a:pPr lvl="0" algn="just">
              <a:buFont typeface="Wingdings" panose="05000000000000000000" pitchFamily="2" charset="2"/>
              <a:buChar char="§"/>
            </a:pPr>
            <a:r>
              <a:rPr lang="en-IN" dirty="0"/>
              <a:t>Eliminating redundant(useless) data, therefore handling </a:t>
            </a:r>
            <a:r>
              <a:rPr lang="en-IN" b="1" dirty="0"/>
              <a:t>data integrity</a:t>
            </a:r>
            <a:r>
              <a:rPr lang="en-IN" dirty="0"/>
              <a:t>, because if data is repeated it increases the chances of inconsistent data.</a:t>
            </a:r>
          </a:p>
          <a:p>
            <a:pPr lvl="0" algn="just">
              <a:buFont typeface="Wingdings" panose="05000000000000000000" pitchFamily="2" charset="2"/>
              <a:buChar char="§"/>
            </a:pPr>
            <a:r>
              <a:rPr lang="en-IN" dirty="0"/>
              <a:t>Normalization helps in keeping </a:t>
            </a:r>
            <a:r>
              <a:rPr lang="en-IN" b="1" dirty="0"/>
              <a:t>data consistent</a:t>
            </a:r>
            <a:r>
              <a:rPr lang="en-IN" dirty="0"/>
              <a:t> by storing the data in one table and referencing it everywhere else.</a:t>
            </a:r>
          </a:p>
          <a:p>
            <a:pPr lvl="0" algn="just">
              <a:buFont typeface="Wingdings" panose="05000000000000000000" pitchFamily="2" charset="2"/>
              <a:buChar char="§"/>
            </a:pPr>
            <a:r>
              <a:rPr lang="en-IN" dirty="0"/>
              <a:t>Storage optimization although that is not an issue these days because Database storage is cheap.</a:t>
            </a:r>
          </a:p>
          <a:p>
            <a:pPr lvl="0" algn="just">
              <a:buFont typeface="Wingdings" panose="05000000000000000000" pitchFamily="2" charset="2"/>
              <a:buChar char="§"/>
            </a:pPr>
            <a:r>
              <a:rPr lang="en-IN" dirty="0"/>
              <a:t>Breaking down large tables into smaller tables with relationships, so it makes the database structure more scalable and adaptable.</a:t>
            </a:r>
          </a:p>
          <a:p>
            <a:pPr lvl="0" algn="just">
              <a:buFont typeface="Wingdings" panose="05000000000000000000" pitchFamily="2" charset="2"/>
              <a:buChar char="§"/>
            </a:pPr>
            <a:r>
              <a:rPr lang="en-IN" dirty="0"/>
              <a:t>Ensuring data dependencies make sense i.e. data is logically stored.</a:t>
            </a:r>
            <a:endParaRPr lang="en-IN" b="1" dirty="0">
              <a:solidFill>
                <a:srgbClr val="FF0000"/>
              </a:solidFill>
            </a:endParaRPr>
          </a:p>
        </p:txBody>
      </p:sp>
    </p:spTree>
    <p:extLst>
      <p:ext uri="{BB962C8B-B14F-4D97-AF65-F5344CB8AC3E}">
        <p14:creationId xmlns:p14="http://schemas.microsoft.com/office/powerpoint/2010/main" val="401422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6BBD-A0F1-C8DC-8AE7-7F19E3522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1D167-1857-CC2C-4F3A-65650E2B3566}"/>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FBE615CF-7EFB-E5AB-65ED-97D091B142EE}"/>
              </a:ext>
            </a:extLst>
          </p:cNvPr>
          <p:cNvSpPr>
            <a:spLocks noGrp="1"/>
          </p:cNvSpPr>
          <p:nvPr>
            <p:ph idx="1"/>
          </p:nvPr>
        </p:nvSpPr>
        <p:spPr>
          <a:xfrm>
            <a:off x="493158" y="1089060"/>
            <a:ext cx="11239927" cy="5485830"/>
          </a:xfrm>
        </p:spPr>
        <p:txBody>
          <a:bodyPr>
            <a:noAutofit/>
          </a:bodyPr>
          <a:lstStyle/>
          <a:p>
            <a:pPr algn="just" fontAlgn="base">
              <a:buFont typeface="Wingdings" panose="05000000000000000000" pitchFamily="2" charset="2"/>
              <a:buChar char="§"/>
            </a:pPr>
            <a:r>
              <a:rPr lang="en-IN" sz="2540" dirty="0"/>
              <a:t>A functional dependency occurs when the value of one attribute (or a set of attributes) uniquely determines the value of another attribute. This relationship is denoted as:         </a:t>
            </a:r>
            <a:r>
              <a:rPr lang="en-IN" sz="2540" b="1" dirty="0"/>
              <a:t>X → Y</a:t>
            </a:r>
            <a:endParaRPr lang="en-IN" sz="2540" dirty="0"/>
          </a:p>
          <a:p>
            <a:pPr algn="just" fontAlgn="base">
              <a:buFont typeface="Wingdings" panose="05000000000000000000" pitchFamily="2" charset="2"/>
              <a:buChar char="§"/>
            </a:pPr>
            <a:r>
              <a:rPr lang="en-IN" sz="2540" dirty="0"/>
              <a:t>Here, </a:t>
            </a:r>
            <a:r>
              <a:rPr lang="en-IN" sz="2540" b="1" dirty="0"/>
              <a:t>X</a:t>
            </a:r>
            <a:r>
              <a:rPr lang="en-IN" sz="2540" dirty="0"/>
              <a:t> is the determinant, and </a:t>
            </a:r>
            <a:r>
              <a:rPr lang="en-IN" sz="2540" b="1" dirty="0"/>
              <a:t>Y</a:t>
            </a:r>
            <a:r>
              <a:rPr lang="en-IN" sz="2540" dirty="0"/>
              <a:t> is the dependent attribute. This means that for each unique value of X, there is precisely one corresponding value of Y.</a:t>
            </a:r>
          </a:p>
          <a:p>
            <a:pPr algn="just">
              <a:buFont typeface="Wingdings" panose="05000000000000000000" pitchFamily="2" charset="2"/>
              <a:buChar char="§"/>
              <a:defRPr/>
            </a:pPr>
            <a:r>
              <a:rPr lang="en-US" altLang="en-US" sz="2540" dirty="0">
                <a:ea typeface="MS PGothic" panose="020B0600070205080204" pitchFamily="34" charset="-128"/>
              </a:rPr>
              <a:t>There are usually a variety of constraints (rules) on the data in the real world.</a:t>
            </a:r>
            <a:endParaRPr lang="en-US" altLang="en-US" sz="2540" i="1" dirty="0">
              <a:ea typeface="MS PGothic" panose="020B0600070205080204" pitchFamily="34" charset="-128"/>
            </a:endParaRPr>
          </a:p>
          <a:p>
            <a:pPr algn="just">
              <a:buFont typeface="Wingdings" panose="05000000000000000000" pitchFamily="2" charset="2"/>
              <a:buChar char="§"/>
              <a:defRPr/>
            </a:pPr>
            <a:r>
              <a:rPr lang="en-US" altLang="en-US" sz="2540" dirty="0">
                <a:ea typeface="MS PGothic" panose="020B0600070205080204" pitchFamily="34" charset="-128"/>
              </a:rPr>
              <a:t>For example, some of the constraints that are expected to hold  in a university database are:</a:t>
            </a:r>
          </a:p>
          <a:p>
            <a:pPr lvl="1" algn="just">
              <a:buFont typeface="Wingdings" panose="05000000000000000000" pitchFamily="2" charset="2"/>
              <a:buChar char="Ø"/>
              <a:defRPr/>
            </a:pPr>
            <a:r>
              <a:rPr lang="en-US" altLang="en-US" sz="2540" dirty="0">
                <a:ea typeface="MS PGothic" panose="020B0600070205080204" pitchFamily="34" charset="-128"/>
              </a:rPr>
              <a:t> Students and instructors are uniquely identified by their ID.</a:t>
            </a:r>
          </a:p>
          <a:p>
            <a:pPr lvl="1" algn="just">
              <a:buFont typeface="Wingdings" panose="05000000000000000000" pitchFamily="2" charset="2"/>
              <a:buChar char="Ø"/>
              <a:defRPr/>
            </a:pPr>
            <a:r>
              <a:rPr lang="en-US" altLang="en-US" sz="2540" dirty="0">
                <a:ea typeface="MS PGothic" panose="020B0600070205080204" pitchFamily="34" charset="-128"/>
              </a:rPr>
              <a:t> Each student and instructor has only one name.</a:t>
            </a:r>
          </a:p>
          <a:p>
            <a:pPr lvl="1" algn="just">
              <a:buFont typeface="Wingdings" panose="05000000000000000000" pitchFamily="2" charset="2"/>
              <a:buChar char="Ø"/>
              <a:defRPr/>
            </a:pPr>
            <a:r>
              <a:rPr lang="en-US" altLang="en-US" sz="2540" dirty="0">
                <a:ea typeface="MS PGothic" panose="020B0600070205080204" pitchFamily="34" charset="-128"/>
              </a:rPr>
              <a:t> Each instructor and student is (primarily) associated with only one department.</a:t>
            </a:r>
          </a:p>
          <a:p>
            <a:pPr lvl="1" algn="just">
              <a:buFont typeface="Wingdings" panose="05000000000000000000" pitchFamily="2" charset="2"/>
              <a:buChar char="Ø"/>
              <a:defRPr/>
            </a:pPr>
            <a:r>
              <a:rPr lang="en-US" altLang="en-US" sz="2540" dirty="0">
                <a:ea typeface="MS PGothic" panose="020B0600070205080204" pitchFamily="34" charset="-128"/>
              </a:rPr>
              <a:t> Each department has only one value for its budget, and only one associated building.</a:t>
            </a:r>
            <a:endParaRPr lang="en-IN" sz="2540" dirty="0"/>
          </a:p>
          <a:p>
            <a:pPr fontAlgn="base"/>
            <a:endParaRPr lang="en-IN" sz="2540" dirty="0"/>
          </a:p>
          <a:p>
            <a:pPr>
              <a:buFont typeface="Wingdings" panose="05000000000000000000" pitchFamily="2" charset="2"/>
              <a:buChar char="§"/>
            </a:pPr>
            <a:endParaRPr lang="en-IN" sz="2540" b="1" dirty="0">
              <a:solidFill>
                <a:srgbClr val="FF0000"/>
              </a:solidFill>
            </a:endParaRPr>
          </a:p>
        </p:txBody>
      </p:sp>
    </p:spTree>
    <p:extLst>
      <p:ext uri="{BB962C8B-B14F-4D97-AF65-F5344CB8AC3E}">
        <p14:creationId xmlns:p14="http://schemas.microsoft.com/office/powerpoint/2010/main" val="148726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6DB8-1956-EDC7-7A6F-C9FE5395D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1D922-32B5-742E-F9D2-A979E95E64F9}"/>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A71CFEDE-EF3C-655C-D261-F7879CE6D83E}"/>
              </a:ext>
            </a:extLst>
          </p:cNvPr>
          <p:cNvSpPr>
            <a:spLocks noGrp="1"/>
          </p:cNvSpPr>
          <p:nvPr>
            <p:ph idx="1"/>
          </p:nvPr>
        </p:nvSpPr>
        <p:spPr>
          <a:xfrm>
            <a:off x="493158" y="1089060"/>
            <a:ext cx="11239927" cy="5485830"/>
          </a:xfrm>
        </p:spPr>
        <p:txBody>
          <a:bodyPr>
            <a:noAutofit/>
          </a:bodyPr>
          <a:lstStyle/>
          <a:p>
            <a:pPr algn="just">
              <a:buFont typeface="Wingdings" panose="05000000000000000000" pitchFamily="2" charset="2"/>
              <a:buChar char="§"/>
            </a:pPr>
            <a:r>
              <a:rPr lang="en-IN" sz="2600" b="1" dirty="0"/>
              <a:t>Example 1: </a:t>
            </a:r>
            <a:r>
              <a:rPr lang="en-IN" sz="2600" dirty="0"/>
              <a:t>Consider a table named Students with the following attributes: </a:t>
            </a:r>
          </a:p>
          <a:p>
            <a:pPr algn="just">
              <a:buFont typeface="Wingdings" panose="05000000000000000000" pitchFamily="2" charset="2"/>
              <a:buChar char="§"/>
            </a:pPr>
            <a:r>
              <a:rPr lang="en-IN" sz="2600" dirty="0"/>
              <a:t>StudentID </a:t>
            </a:r>
          </a:p>
          <a:p>
            <a:pPr algn="just">
              <a:buFont typeface="Wingdings" panose="05000000000000000000" pitchFamily="2" charset="2"/>
              <a:buChar char="§"/>
            </a:pPr>
            <a:r>
              <a:rPr lang="en-IN" sz="2600" dirty="0"/>
              <a:t>StudentName </a:t>
            </a:r>
          </a:p>
          <a:p>
            <a:pPr algn="just">
              <a:buFont typeface="Wingdings" panose="05000000000000000000" pitchFamily="2" charset="2"/>
              <a:buChar char="§"/>
            </a:pPr>
            <a:r>
              <a:rPr lang="en-IN" sz="2600" dirty="0"/>
              <a:t>StudentAge </a:t>
            </a:r>
          </a:p>
          <a:p>
            <a:pPr algn="just">
              <a:buFont typeface="Wingdings" panose="05000000000000000000" pitchFamily="2" charset="2"/>
              <a:buChar char="§"/>
            </a:pPr>
            <a:r>
              <a:rPr lang="en-IN" sz="2600" dirty="0"/>
              <a:t>If each student has a unique StudentID, and this ID determines the student's name, we can express this functional dependency as: </a:t>
            </a:r>
            <a:r>
              <a:rPr lang="en-IN" sz="2600" b="1" dirty="0"/>
              <a:t>StudentID → StudentName</a:t>
            </a:r>
          </a:p>
          <a:p>
            <a:pPr algn="just">
              <a:buFont typeface="Wingdings" panose="05000000000000000000" pitchFamily="2" charset="2"/>
              <a:buChar char="§"/>
            </a:pPr>
            <a:r>
              <a:rPr lang="en-IN" sz="2600" b="1" dirty="0"/>
              <a:t>Example 2: </a:t>
            </a:r>
            <a:r>
              <a:rPr lang="en-IN" sz="2600" dirty="0"/>
              <a:t>Given relational schema: </a:t>
            </a:r>
            <a:r>
              <a:rPr lang="en-IN" sz="2600" b="1" dirty="0"/>
              <a:t>Emp_Dept(empid, dno, hours, ename, dname, dept_loc) </a:t>
            </a:r>
            <a:endParaRPr lang="en-IN" sz="2600" dirty="0"/>
          </a:p>
          <a:p>
            <a:pPr algn="just">
              <a:buFont typeface="Wingdings" panose="05000000000000000000" pitchFamily="2" charset="2"/>
              <a:buChar char="§"/>
            </a:pPr>
            <a:r>
              <a:rPr lang="en-IN" sz="2600" dirty="0"/>
              <a:t>Here the possible Functional Dependencies (FDs) are: </a:t>
            </a:r>
            <a:r>
              <a:rPr lang="en-IN" sz="2600" b="1" dirty="0"/>
              <a:t>(a) {empid} → {ename} </a:t>
            </a:r>
            <a:endParaRPr lang="en-IN" sz="2600" dirty="0"/>
          </a:p>
          <a:p>
            <a:pPr algn="just">
              <a:buFont typeface="Wingdings" panose="05000000000000000000" pitchFamily="2" charset="2"/>
              <a:buChar char="§"/>
            </a:pPr>
            <a:r>
              <a:rPr lang="en-IN" sz="2600" dirty="0"/>
              <a:t>Each employee ID uniquely determines the employee name. </a:t>
            </a:r>
          </a:p>
        </p:txBody>
      </p:sp>
    </p:spTree>
    <p:extLst>
      <p:ext uri="{BB962C8B-B14F-4D97-AF65-F5344CB8AC3E}">
        <p14:creationId xmlns:p14="http://schemas.microsoft.com/office/powerpoint/2010/main" val="1385736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12C8C-9C9B-3E77-93C3-0FC07008F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55B0E-0C53-3CC1-7356-BE1CCDD8966D}"/>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6A62B037-458E-66D8-5974-A67309BD153A}"/>
              </a:ext>
            </a:extLst>
          </p:cNvPr>
          <p:cNvSpPr>
            <a:spLocks noGrp="1"/>
          </p:cNvSpPr>
          <p:nvPr>
            <p:ph idx="1"/>
          </p:nvPr>
        </p:nvSpPr>
        <p:spPr>
          <a:xfrm>
            <a:off x="493158" y="1089060"/>
            <a:ext cx="11239927" cy="5485830"/>
          </a:xfrm>
        </p:spPr>
        <p:txBody>
          <a:bodyPr>
            <a:noAutofit/>
          </a:bodyPr>
          <a:lstStyle/>
          <a:p>
            <a:pPr algn="just">
              <a:buFont typeface="Wingdings" panose="05000000000000000000" pitchFamily="2" charset="2"/>
              <a:buChar char="§"/>
            </a:pPr>
            <a:r>
              <a:rPr lang="en-IN" sz="2600" b="1" dirty="0"/>
              <a:t>(b) {dno} → {dname, dept_loc} </a:t>
            </a:r>
            <a:endParaRPr lang="en-IN" sz="2600" dirty="0"/>
          </a:p>
          <a:p>
            <a:pPr algn="just">
              <a:buFont typeface="Wingdings" panose="05000000000000000000" pitchFamily="2" charset="2"/>
              <a:buChar char="§"/>
            </a:pPr>
            <a:r>
              <a:rPr lang="en-IN" sz="2600" dirty="0"/>
              <a:t>Each department number uniquely determines the department name and its location. </a:t>
            </a:r>
          </a:p>
          <a:p>
            <a:pPr algn="just">
              <a:buFont typeface="Wingdings" panose="05000000000000000000" pitchFamily="2" charset="2"/>
              <a:buChar char="§"/>
            </a:pPr>
            <a:r>
              <a:rPr lang="en-IN" sz="2600" b="1" dirty="0"/>
              <a:t>(c) {empid, dno} → {hours} </a:t>
            </a:r>
            <a:endParaRPr lang="en-IN" sz="2600" dirty="0"/>
          </a:p>
          <a:p>
            <a:pPr algn="just">
              <a:buFont typeface="Wingdings" panose="05000000000000000000" pitchFamily="2" charset="2"/>
              <a:buChar char="§"/>
            </a:pPr>
            <a:r>
              <a:rPr lang="en-IN" sz="2600" dirty="0"/>
              <a:t>A combination of employee ID and department number uniquely determines the number of hours the employee works in that department.</a:t>
            </a:r>
          </a:p>
          <a:p>
            <a:pPr algn="just">
              <a:buFont typeface="Wingdings" panose="05000000000000000000" pitchFamily="2" charset="2"/>
              <a:buChar char="§"/>
            </a:pPr>
            <a:endParaRPr lang="en-IN" sz="2600" dirty="0"/>
          </a:p>
        </p:txBody>
      </p:sp>
    </p:spTree>
    <p:extLst>
      <p:ext uri="{BB962C8B-B14F-4D97-AF65-F5344CB8AC3E}">
        <p14:creationId xmlns:p14="http://schemas.microsoft.com/office/powerpoint/2010/main" val="32326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C787-1B5B-EB9C-A11F-79AE322B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5267F-98F9-3B29-5B8E-D3361C10DB16}"/>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5BA701E9-7143-2567-7C9B-49EEE1916963}"/>
              </a:ext>
            </a:extLst>
          </p:cNvPr>
          <p:cNvSpPr>
            <a:spLocks noGrp="1"/>
          </p:cNvSpPr>
          <p:nvPr>
            <p:ph idx="1"/>
          </p:nvPr>
        </p:nvSpPr>
        <p:spPr>
          <a:xfrm>
            <a:off x="493161" y="1089060"/>
            <a:ext cx="11239927" cy="5485830"/>
          </a:xfrm>
        </p:spPr>
        <p:txBody>
          <a:bodyPr>
            <a:noAutofit/>
          </a:bodyPr>
          <a:lstStyle/>
          <a:p>
            <a:pPr algn="just">
              <a:buFont typeface="Wingdings" panose="05000000000000000000" pitchFamily="2" charset="2"/>
              <a:buChar char="§"/>
            </a:pPr>
            <a:r>
              <a:rPr lang="en-IN" sz="2600" dirty="0"/>
              <a:t>A functional dependency occurs when one attribute uniquely determines another attribute within a relation. There are the following types of functional dependencies.</a:t>
            </a:r>
            <a:endParaRPr lang="en-US" sz="2600" b="1" dirty="0">
              <a:solidFill>
                <a:srgbClr val="FF0000"/>
              </a:solidFill>
            </a:endParaRPr>
          </a:p>
          <a:p>
            <a:pPr marL="0" indent="0" algn="just">
              <a:buNone/>
            </a:pPr>
            <a:r>
              <a:rPr lang="en-US" b="1" dirty="0">
                <a:solidFill>
                  <a:srgbClr val="FF0000"/>
                </a:solidFill>
              </a:rPr>
              <a:t>T</a:t>
            </a:r>
            <a:r>
              <a:rPr lang="en-IN" b="1" dirty="0">
                <a:solidFill>
                  <a:srgbClr val="FF0000"/>
                </a:solidFill>
              </a:rPr>
              <a:t>ypes of Functional Dependencies – </a:t>
            </a:r>
          </a:p>
          <a:p>
            <a:pPr>
              <a:buFont typeface="Wingdings" panose="05000000000000000000" pitchFamily="2" charset="2"/>
              <a:buChar char="§"/>
            </a:pPr>
            <a:r>
              <a:rPr lang="en-IN" b="1" dirty="0">
                <a:solidFill>
                  <a:srgbClr val="0070C0"/>
                </a:solidFill>
              </a:rPr>
              <a:t>There are 7 types: i. Full Functional Dependency </a:t>
            </a:r>
            <a:endParaRPr lang="en-IN" dirty="0">
              <a:solidFill>
                <a:srgbClr val="0070C0"/>
              </a:solidFill>
            </a:endParaRPr>
          </a:p>
          <a:p>
            <a:pPr marL="0" indent="0">
              <a:buNone/>
            </a:pPr>
            <a:r>
              <a:rPr lang="en-IN" b="1" dirty="0">
                <a:solidFill>
                  <a:srgbClr val="0070C0"/>
                </a:solidFill>
              </a:rPr>
              <a:t>                                    ii. Partial Functional Dependency </a:t>
            </a:r>
            <a:endParaRPr lang="en-IN" dirty="0">
              <a:solidFill>
                <a:srgbClr val="0070C0"/>
              </a:solidFill>
            </a:endParaRPr>
          </a:p>
          <a:p>
            <a:pPr marL="0" indent="0">
              <a:buNone/>
            </a:pPr>
            <a:r>
              <a:rPr lang="en-IN" b="1" dirty="0">
                <a:solidFill>
                  <a:srgbClr val="0070C0"/>
                </a:solidFill>
              </a:rPr>
              <a:t>                                   iii. Transitive Dependency</a:t>
            </a:r>
          </a:p>
          <a:p>
            <a:pPr marL="0" indent="0">
              <a:buNone/>
            </a:pPr>
            <a:r>
              <a:rPr lang="en-IN" b="1" dirty="0">
                <a:solidFill>
                  <a:srgbClr val="0070C0"/>
                </a:solidFill>
              </a:rPr>
              <a:t>                                   iv. Trivial Functional Dependency</a:t>
            </a:r>
          </a:p>
          <a:p>
            <a:pPr marL="0" indent="0">
              <a:buNone/>
            </a:pPr>
            <a:r>
              <a:rPr lang="en-IN" b="1" dirty="0">
                <a:solidFill>
                  <a:srgbClr val="0070C0"/>
                </a:solidFill>
              </a:rPr>
              <a:t>                                    v. Non-trivial Functional Dependency</a:t>
            </a:r>
          </a:p>
          <a:p>
            <a:pPr marL="0" indent="0">
              <a:buNone/>
            </a:pPr>
            <a:r>
              <a:rPr lang="en-IN" b="1" dirty="0">
                <a:solidFill>
                  <a:srgbClr val="0070C0"/>
                </a:solidFill>
              </a:rPr>
              <a:t>                                   vi. Semi Non Trivial Functional Dependencies</a:t>
            </a:r>
          </a:p>
          <a:p>
            <a:pPr marL="0" indent="0">
              <a:buNone/>
            </a:pPr>
            <a:r>
              <a:rPr lang="en-IN" b="1" dirty="0">
                <a:solidFill>
                  <a:srgbClr val="0070C0"/>
                </a:solidFill>
              </a:rPr>
              <a:t>                                  vii. Multivalued Functional Dependency</a:t>
            </a:r>
          </a:p>
          <a:p>
            <a:pPr marL="0" indent="0">
              <a:buNone/>
            </a:pPr>
            <a:r>
              <a:rPr lang="en-IN" b="1" dirty="0"/>
              <a:t> </a:t>
            </a:r>
          </a:p>
          <a:p>
            <a:pPr algn="just">
              <a:buFont typeface="Wingdings" panose="05000000000000000000" pitchFamily="2" charset="2"/>
              <a:buChar char="§"/>
            </a:pPr>
            <a:endParaRPr lang="en-IN" dirty="0">
              <a:solidFill>
                <a:srgbClr val="FF0000"/>
              </a:solidFill>
            </a:endParaRPr>
          </a:p>
        </p:txBody>
      </p:sp>
    </p:spTree>
    <p:extLst>
      <p:ext uri="{BB962C8B-B14F-4D97-AF65-F5344CB8AC3E}">
        <p14:creationId xmlns:p14="http://schemas.microsoft.com/office/powerpoint/2010/main" val="1552763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1665-55D2-077E-FE33-D82B60034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87B3B-A769-2495-90AA-4B688DC2B634}"/>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8A1DC1FF-D587-B8A6-A7BE-5C77AAB3BAE3}"/>
              </a:ext>
            </a:extLst>
          </p:cNvPr>
          <p:cNvSpPr>
            <a:spLocks noGrp="1"/>
          </p:cNvSpPr>
          <p:nvPr>
            <p:ph idx="1"/>
          </p:nvPr>
        </p:nvSpPr>
        <p:spPr>
          <a:xfrm>
            <a:off x="493161" y="1089060"/>
            <a:ext cx="11239927" cy="5485830"/>
          </a:xfrm>
        </p:spPr>
        <p:txBody>
          <a:bodyPr>
            <a:noAutofit/>
          </a:bodyPr>
          <a:lstStyle/>
          <a:p>
            <a:pPr algn="just">
              <a:buFont typeface="Wingdings" panose="05000000000000000000" pitchFamily="2" charset="2"/>
              <a:buChar char="§"/>
            </a:pPr>
            <a:r>
              <a:rPr lang="en-IN" sz="2650" b="1" dirty="0"/>
              <a:t>Here are some invalid functional dependencies: </a:t>
            </a:r>
            <a:endParaRPr lang="en-IN" sz="2650" dirty="0"/>
          </a:p>
          <a:p>
            <a:pPr algn="just">
              <a:lnSpc>
                <a:spcPct val="150000"/>
              </a:lnSpc>
              <a:buFont typeface="Wingdings" panose="05000000000000000000" pitchFamily="2" charset="2"/>
              <a:buChar char="Ø"/>
            </a:pPr>
            <a:r>
              <a:rPr lang="en-IN" sz="2650" b="1" dirty="0">
                <a:solidFill>
                  <a:srgbClr val="FF0000"/>
                </a:solidFill>
              </a:rPr>
              <a:t> name → dept_name </a:t>
            </a:r>
          </a:p>
          <a:p>
            <a:pPr algn="just">
              <a:buFont typeface="Wingdings" panose="05000000000000000000" pitchFamily="2" charset="2"/>
              <a:buChar char="§"/>
            </a:pPr>
            <a:r>
              <a:rPr lang="en-IN" sz="2650" dirty="0"/>
              <a:t>Students with the same name can have different dept_name, hence this is not a valid functional dependency. </a:t>
            </a:r>
          </a:p>
          <a:p>
            <a:pPr algn="just">
              <a:buFont typeface="Wingdings" panose="05000000000000000000" pitchFamily="2" charset="2"/>
              <a:buChar char="Ø"/>
            </a:pPr>
            <a:r>
              <a:rPr lang="en-IN" sz="2650" b="1" dirty="0">
                <a:solidFill>
                  <a:srgbClr val="FF0000"/>
                </a:solidFill>
              </a:rPr>
              <a:t> dept_building → dept_name </a:t>
            </a:r>
          </a:p>
          <a:p>
            <a:pPr algn="just">
              <a:buFont typeface="Wingdings" panose="05000000000000000000" pitchFamily="2" charset="2"/>
              <a:buChar char="§"/>
            </a:pPr>
            <a:r>
              <a:rPr lang="en-IN" sz="2650" dirty="0"/>
              <a:t>There can be multiple departments in the same building. Example, in our university departments ECE and EEE are in the same building, hence dept_building → dept_name is an invalid functional dependency.</a:t>
            </a:r>
            <a:endParaRPr lang="en-US" sz="2650" b="1" dirty="0">
              <a:solidFill>
                <a:srgbClr val="FF0000"/>
              </a:solidFill>
            </a:endParaRPr>
          </a:p>
          <a:p>
            <a:pPr algn="just">
              <a:buFont typeface="Wingdings" panose="05000000000000000000" pitchFamily="2" charset="2"/>
              <a:buChar char="§"/>
            </a:pPr>
            <a:endParaRPr lang="en-IN" sz="2650" dirty="0">
              <a:solidFill>
                <a:srgbClr val="FF0000"/>
              </a:solidFill>
            </a:endParaRPr>
          </a:p>
        </p:txBody>
      </p:sp>
    </p:spTree>
    <p:extLst>
      <p:ext uri="{BB962C8B-B14F-4D97-AF65-F5344CB8AC3E}">
        <p14:creationId xmlns:p14="http://schemas.microsoft.com/office/powerpoint/2010/main" val="126960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94BC0-1FAD-C3D9-6D1C-654FCF066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C5B8-344C-A7B0-7E12-E6D870E6FDD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C2A5FBF9-BDA3-363F-1472-81DF09B2C9D9}"/>
              </a:ext>
            </a:extLst>
          </p:cNvPr>
          <p:cNvSpPr>
            <a:spLocks noGrp="1"/>
          </p:cNvSpPr>
          <p:nvPr>
            <p:ph idx="1"/>
          </p:nvPr>
        </p:nvSpPr>
        <p:spPr>
          <a:xfrm>
            <a:off x="493161" y="1089060"/>
            <a:ext cx="11239927" cy="5485830"/>
          </a:xfrm>
        </p:spPr>
        <p:txBody>
          <a:bodyPr>
            <a:noAutofit/>
          </a:bodyPr>
          <a:lstStyle/>
          <a:p>
            <a:pPr marL="0" indent="0" algn="just">
              <a:buNone/>
            </a:pPr>
            <a:r>
              <a:rPr lang="en-IN" b="1" dirty="0">
                <a:solidFill>
                  <a:srgbClr val="FF0000"/>
                </a:solidFill>
              </a:rPr>
              <a:t>Armstrong’s axioms/properties of functional dependencies:</a:t>
            </a:r>
            <a:endParaRPr lang="en-IN" dirty="0">
              <a:solidFill>
                <a:srgbClr val="FF0000"/>
              </a:solidFill>
            </a:endParaRPr>
          </a:p>
          <a:p>
            <a:pPr algn="just">
              <a:lnSpc>
                <a:spcPct val="150000"/>
              </a:lnSpc>
              <a:buFont typeface="Wingdings" panose="05000000000000000000" pitchFamily="2" charset="2"/>
              <a:buChar char="§"/>
            </a:pPr>
            <a:r>
              <a:rPr lang="en-IN" sz="2600" b="1" dirty="0"/>
              <a:t>Reflexivity: </a:t>
            </a:r>
            <a:r>
              <a:rPr lang="en-IN" sz="2600" dirty="0"/>
              <a:t>If Y is a subset of X, then X→Y holds by reflexivity rule.</a:t>
            </a:r>
          </a:p>
          <a:p>
            <a:pPr algn="just">
              <a:buFont typeface="Wingdings" panose="05000000000000000000" pitchFamily="2" charset="2"/>
              <a:buChar char="Ø"/>
            </a:pPr>
            <a:r>
              <a:rPr lang="en-IN" sz="2600" dirty="0"/>
              <a:t> Example, {roll_no, name} → name is valid. 2. </a:t>
            </a:r>
          </a:p>
          <a:p>
            <a:pPr algn="just">
              <a:buFont typeface="Wingdings" panose="05000000000000000000" pitchFamily="2" charset="2"/>
              <a:buChar char="§"/>
            </a:pPr>
            <a:r>
              <a:rPr lang="en-IN" sz="2600" b="1" dirty="0"/>
              <a:t>Augmentation: </a:t>
            </a:r>
            <a:r>
              <a:rPr lang="en-IN" sz="2600" dirty="0"/>
              <a:t>If X → Y is a valid dependency, then XZ → YZ is also valid by the augmentation rule. </a:t>
            </a:r>
          </a:p>
          <a:p>
            <a:pPr algn="just">
              <a:buFont typeface="Wingdings" panose="05000000000000000000" pitchFamily="2" charset="2"/>
              <a:buChar char="Ø"/>
            </a:pPr>
            <a:r>
              <a:rPr lang="en-IN" sz="2600" dirty="0"/>
              <a:t> Example, {roll_no, name} → dept_building is valid, hence {roll_no, name, dept_name} → {dept_building, dept_name} is also valid. </a:t>
            </a:r>
          </a:p>
          <a:p>
            <a:pPr algn="just">
              <a:buFont typeface="Wingdings" panose="05000000000000000000" pitchFamily="2" charset="2"/>
              <a:buChar char="§"/>
            </a:pPr>
            <a:r>
              <a:rPr lang="en-IN" sz="2600" b="1" dirty="0"/>
              <a:t>Transitivity</a:t>
            </a:r>
            <a:r>
              <a:rPr lang="en-IN" sz="2600" dirty="0"/>
              <a:t>: If X → Y and Y → Z are both valid dependencies, then X → Z is also valid by the Transitivity rule. </a:t>
            </a:r>
          </a:p>
          <a:p>
            <a:pPr algn="just">
              <a:buFont typeface="Wingdings" panose="05000000000000000000" pitchFamily="2" charset="2"/>
              <a:buChar char="Ø"/>
            </a:pPr>
            <a:r>
              <a:rPr lang="en-IN" sz="2600" dirty="0"/>
              <a:t> Example, roll_no → dept_name &amp; dept_name → dept_building, then roll_no → dept_building is also valid.</a:t>
            </a:r>
          </a:p>
        </p:txBody>
      </p:sp>
    </p:spTree>
    <p:extLst>
      <p:ext uri="{BB962C8B-B14F-4D97-AF65-F5344CB8AC3E}">
        <p14:creationId xmlns:p14="http://schemas.microsoft.com/office/powerpoint/2010/main" val="1745827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5D1F2-933D-E99A-FF4F-7F35CA30E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F3536-48D6-C16A-D33C-3EF3D7F5AD02}"/>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F9A036BC-8450-7D2B-09BD-249359525AF0}"/>
              </a:ext>
            </a:extLst>
          </p:cNvPr>
          <p:cNvSpPr>
            <a:spLocks noGrp="1"/>
          </p:cNvSpPr>
          <p:nvPr>
            <p:ph idx="1"/>
          </p:nvPr>
        </p:nvSpPr>
        <p:spPr>
          <a:xfrm>
            <a:off x="493161" y="996593"/>
            <a:ext cx="11239927" cy="5578297"/>
          </a:xfrm>
        </p:spPr>
        <p:txBody>
          <a:bodyPr>
            <a:noAutofit/>
          </a:bodyPr>
          <a:lstStyle/>
          <a:p>
            <a:pPr marL="0" indent="0" algn="just">
              <a:buNone/>
            </a:pPr>
            <a:r>
              <a:rPr lang="en-IN" b="1" dirty="0">
                <a:solidFill>
                  <a:srgbClr val="FF0000"/>
                </a:solidFill>
              </a:rPr>
              <a:t>Full Functional Dependency:-</a:t>
            </a:r>
          </a:p>
          <a:p>
            <a:pPr algn="just">
              <a:buFont typeface="Wingdings" panose="05000000000000000000" pitchFamily="2" charset="2"/>
              <a:buChar char="§"/>
            </a:pPr>
            <a:r>
              <a:rPr lang="en-IN" sz="2600" dirty="0"/>
              <a:t>In full functional dependency an attribute or a set of attributes uniquely determines another attribute or set of attributes. If a relation R has attributes X, Y, Z with the dependencies X-&gt;Y and X-&gt;Z which states that those dependencies are fully functional.</a:t>
            </a:r>
            <a:r>
              <a:rPr lang="en-IN" sz="2600" b="1" dirty="0">
                <a:solidFill>
                  <a:srgbClr val="FF0000"/>
                </a:solidFill>
              </a:rPr>
              <a:t> </a:t>
            </a:r>
          </a:p>
          <a:p>
            <a:pPr>
              <a:buFont typeface="Wingdings" panose="05000000000000000000" pitchFamily="2" charset="2"/>
              <a:buChar char="§"/>
            </a:pPr>
            <a:r>
              <a:rPr lang="en-IN" sz="2400" b="1" dirty="0">
                <a:solidFill>
                  <a:srgbClr val="FF0000"/>
                </a:solidFill>
              </a:rPr>
              <a:t>Example 1: </a:t>
            </a:r>
          </a:p>
          <a:p>
            <a:pPr algn="just">
              <a:buFont typeface="Wingdings" panose="05000000000000000000" pitchFamily="2" charset="2"/>
              <a:buChar char="§"/>
            </a:pPr>
            <a:r>
              <a:rPr lang="en-IN" sz="2600" dirty="0"/>
              <a:t>Suppose {EmpID, DeptNo} -&gt; {Dname, loc} </a:t>
            </a:r>
          </a:p>
          <a:p>
            <a:pPr algn="just">
              <a:buFont typeface="Wingdings" panose="05000000000000000000" pitchFamily="2" charset="2"/>
              <a:buChar char="§"/>
            </a:pPr>
            <a:r>
              <a:rPr lang="en-IN" sz="2600" dirty="0"/>
              <a:t>But here to determine Department Name and Location the DeptNo is sufficient. So we can refine it by removing </a:t>
            </a:r>
            <a:r>
              <a:rPr lang="en-IN" sz="2600" b="1" dirty="0"/>
              <a:t>EmpID as: {DeptNo} -&gt; {Dname, loc}</a:t>
            </a:r>
          </a:p>
          <a:p>
            <a:pPr>
              <a:buFont typeface="Wingdings" panose="05000000000000000000" pitchFamily="2" charset="2"/>
              <a:buChar char="§"/>
            </a:pPr>
            <a:r>
              <a:rPr lang="en-IN" sz="2400" b="1" dirty="0">
                <a:solidFill>
                  <a:srgbClr val="FF0000"/>
                </a:solidFill>
              </a:rPr>
              <a:t>Example 2:</a:t>
            </a:r>
          </a:p>
          <a:p>
            <a:pPr>
              <a:buFont typeface="Wingdings" panose="05000000000000000000" pitchFamily="2" charset="2"/>
              <a:buChar char="§"/>
            </a:pPr>
            <a:r>
              <a:rPr lang="en-IN" sz="2400" dirty="0"/>
              <a:t>Suppose </a:t>
            </a:r>
            <a:r>
              <a:rPr lang="en-IN" sz="2400" b="1" dirty="0"/>
              <a:t>{StudentID, CourseID} → {Grade}</a:t>
            </a:r>
            <a:endParaRPr lang="en-IN" sz="2400" dirty="0"/>
          </a:p>
          <a:p>
            <a:pPr lvl="0">
              <a:buFont typeface="Wingdings" panose="05000000000000000000" pitchFamily="2" charset="2"/>
              <a:buChar char="§"/>
            </a:pPr>
            <a:r>
              <a:rPr lang="en-IN" sz="2400" dirty="0"/>
              <a:t>To determine the </a:t>
            </a:r>
            <a:r>
              <a:rPr lang="en-IN" sz="2400" b="1" dirty="0"/>
              <a:t>Grade</a:t>
            </a:r>
            <a:r>
              <a:rPr lang="en-IN" sz="2400" dirty="0"/>
              <a:t>, we need both </a:t>
            </a:r>
            <a:r>
              <a:rPr lang="en-IN" sz="2400" b="1" dirty="0"/>
              <a:t>StudentID</a:t>
            </a:r>
            <a:r>
              <a:rPr lang="en-IN" sz="2400" dirty="0"/>
              <a:t> and </a:t>
            </a:r>
            <a:r>
              <a:rPr lang="en-IN" sz="2400" b="1" dirty="0"/>
              <a:t>CourseID</a:t>
            </a:r>
            <a:r>
              <a:rPr lang="en-IN" sz="2400" dirty="0"/>
              <a:t>. </a:t>
            </a:r>
          </a:p>
        </p:txBody>
      </p:sp>
    </p:spTree>
    <p:extLst>
      <p:ext uri="{BB962C8B-B14F-4D97-AF65-F5344CB8AC3E}">
        <p14:creationId xmlns:p14="http://schemas.microsoft.com/office/powerpoint/2010/main" val="973622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FE67-7CA1-3553-B664-99E3AE21C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A13F9-2BDF-CAB4-89A4-ABF0FCFD1434}"/>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40DDB4E7-8A3A-3172-2ECF-CED0A48C9980}"/>
              </a:ext>
            </a:extLst>
          </p:cNvPr>
          <p:cNvSpPr>
            <a:spLocks noGrp="1"/>
          </p:cNvSpPr>
          <p:nvPr>
            <p:ph idx="1"/>
          </p:nvPr>
        </p:nvSpPr>
        <p:spPr>
          <a:xfrm>
            <a:off x="493161" y="996593"/>
            <a:ext cx="11239927" cy="5578297"/>
          </a:xfrm>
        </p:spPr>
        <p:txBody>
          <a:bodyPr>
            <a:noAutofit/>
          </a:bodyPr>
          <a:lstStyle/>
          <a:p>
            <a:pPr marL="0" indent="0" algn="just">
              <a:buNone/>
            </a:pPr>
            <a:r>
              <a:rPr lang="en-IN" b="1" dirty="0">
                <a:solidFill>
                  <a:srgbClr val="FF0000"/>
                </a:solidFill>
              </a:rPr>
              <a:t>Full Functional Dependency:-</a:t>
            </a:r>
          </a:p>
          <a:p>
            <a:pPr lvl="0" algn="just">
              <a:buFont typeface="Wingdings" panose="05000000000000000000" pitchFamily="2" charset="2"/>
              <a:buChar char="§"/>
            </a:pPr>
            <a:r>
              <a:rPr lang="en-IN" sz="2600" b="1" dirty="0"/>
              <a:t>StudentID alone</a:t>
            </a:r>
            <a:r>
              <a:rPr lang="en-IN" sz="2600" dirty="0"/>
              <a:t> cannot determine the grade because a student can take multiple courses. </a:t>
            </a:r>
            <a:r>
              <a:rPr lang="en-IN" sz="2600" b="1" dirty="0"/>
              <a:t>CourseID alone</a:t>
            </a:r>
            <a:r>
              <a:rPr lang="en-IN" sz="2600" dirty="0"/>
              <a:t> cannot determine the grade because many students can enroll in the same course. </a:t>
            </a:r>
          </a:p>
          <a:p>
            <a:pPr lvl="0" algn="just">
              <a:buFont typeface="Wingdings" panose="05000000000000000000" pitchFamily="2" charset="2"/>
              <a:buChar char="§"/>
            </a:pPr>
            <a:r>
              <a:rPr lang="en-IN" sz="2600" dirty="0"/>
              <a:t>Therefore, </a:t>
            </a:r>
            <a:r>
              <a:rPr lang="en-IN" sz="2600" b="1" dirty="0"/>
              <a:t>Grade depends on the entire composite key {StudentID, CourseID}.</a:t>
            </a:r>
          </a:p>
          <a:p>
            <a:pPr algn="just">
              <a:buFont typeface="Wingdings" panose="05000000000000000000" pitchFamily="2" charset="2"/>
              <a:buChar char="§"/>
            </a:pPr>
            <a:r>
              <a:rPr lang="en-IN" sz="2600" b="1" dirty="0">
                <a:solidFill>
                  <a:srgbClr val="FF0000"/>
                </a:solidFill>
              </a:rPr>
              <a:t>Example 3:</a:t>
            </a:r>
          </a:p>
          <a:p>
            <a:pPr algn="just">
              <a:buFont typeface="Wingdings" panose="05000000000000000000" pitchFamily="2" charset="2"/>
              <a:buChar char="§"/>
            </a:pPr>
            <a:r>
              <a:rPr lang="en-IN" sz="2600" dirty="0"/>
              <a:t>Suppose </a:t>
            </a:r>
            <a:r>
              <a:rPr lang="en-IN" sz="2600" b="1" dirty="0"/>
              <a:t>{EmpID, ProjectID} → {HoursWorked}</a:t>
            </a:r>
            <a:endParaRPr lang="en-IN" sz="2600" dirty="0"/>
          </a:p>
          <a:p>
            <a:pPr lvl="0" algn="just">
              <a:buFont typeface="Wingdings" panose="05000000000000000000" pitchFamily="2" charset="2"/>
              <a:buChar char="§"/>
            </a:pPr>
            <a:r>
              <a:rPr lang="en-IN" sz="2600" dirty="0"/>
              <a:t>An employee can work on multiple projects. A project can have multiple employees. </a:t>
            </a:r>
          </a:p>
          <a:p>
            <a:pPr lvl="0" algn="just">
              <a:buFont typeface="Wingdings" panose="05000000000000000000" pitchFamily="2" charset="2"/>
              <a:buChar char="§"/>
            </a:pPr>
            <a:r>
              <a:rPr lang="en-IN" sz="2600" dirty="0"/>
              <a:t>Therefore, </a:t>
            </a:r>
            <a:r>
              <a:rPr lang="en-IN" sz="2600" b="1" dirty="0"/>
              <a:t>EmpID alone</a:t>
            </a:r>
            <a:r>
              <a:rPr lang="en-IN" sz="2600" dirty="0"/>
              <a:t> cannot determine HoursWorked. Similarly, </a:t>
            </a:r>
            <a:r>
              <a:rPr lang="en-IN" sz="2600" b="1" dirty="0"/>
              <a:t>ProjectID alone</a:t>
            </a:r>
            <a:r>
              <a:rPr lang="en-IN" sz="2600" dirty="0"/>
              <a:t> cannot determine HoursWorked. Both </a:t>
            </a:r>
            <a:r>
              <a:rPr lang="en-IN" sz="2600" b="1" dirty="0"/>
              <a:t>EmpID and ProjectID together</a:t>
            </a:r>
            <a:r>
              <a:rPr lang="en-IN" sz="2600" dirty="0"/>
              <a:t> are required. </a:t>
            </a:r>
          </a:p>
          <a:p>
            <a:pPr algn="just">
              <a:buFont typeface="Wingdings" panose="05000000000000000000" pitchFamily="2" charset="2"/>
              <a:buChar char="§"/>
            </a:pPr>
            <a:r>
              <a:rPr lang="en-IN" sz="2600" dirty="0"/>
              <a:t>Therefore:</a:t>
            </a:r>
            <a:r>
              <a:rPr lang="en-IN" sz="2600" b="1" dirty="0"/>
              <a:t>{EmpID, ProjectID} → {HoursWorked}</a:t>
            </a:r>
            <a:endParaRPr lang="en-IN" sz="2600" dirty="0"/>
          </a:p>
          <a:p>
            <a:pPr lvl="0"/>
            <a:endParaRPr lang="en-IN" b="1" dirty="0"/>
          </a:p>
          <a:p>
            <a:pPr lvl="0"/>
            <a:endParaRPr lang="en-IN" dirty="0"/>
          </a:p>
        </p:txBody>
      </p:sp>
    </p:spTree>
    <p:extLst>
      <p:ext uri="{BB962C8B-B14F-4D97-AF65-F5344CB8AC3E}">
        <p14:creationId xmlns:p14="http://schemas.microsoft.com/office/powerpoint/2010/main" val="3152088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A875-5311-F5E1-F535-58809972D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622E1-1508-FE93-ED94-0F1D8D913D08}"/>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0CAC6719-9AA1-CD69-1104-274CE5D4AA87}"/>
              </a:ext>
            </a:extLst>
          </p:cNvPr>
          <p:cNvSpPr>
            <a:spLocks noGrp="1"/>
          </p:cNvSpPr>
          <p:nvPr>
            <p:ph idx="1"/>
          </p:nvPr>
        </p:nvSpPr>
        <p:spPr>
          <a:xfrm>
            <a:off x="493161" y="873305"/>
            <a:ext cx="11239927" cy="5701586"/>
          </a:xfrm>
        </p:spPr>
        <p:txBody>
          <a:bodyPr>
            <a:noAutofit/>
          </a:bodyPr>
          <a:lstStyle/>
          <a:p>
            <a:pPr marL="0" indent="0" algn="just">
              <a:lnSpc>
                <a:spcPct val="150000"/>
              </a:lnSpc>
              <a:buNone/>
            </a:pPr>
            <a:r>
              <a:rPr lang="en-IN" b="1" dirty="0">
                <a:solidFill>
                  <a:srgbClr val="FF0000"/>
                </a:solidFill>
              </a:rPr>
              <a:t>Partial Functional Dependency:</a:t>
            </a:r>
          </a:p>
          <a:p>
            <a:pPr algn="just">
              <a:buFont typeface="Wingdings" panose="05000000000000000000" pitchFamily="2" charset="2"/>
              <a:buChar char="§"/>
            </a:pPr>
            <a:r>
              <a:rPr lang="en-IN" sz="2650" dirty="0"/>
              <a:t>In partial functional dependency a non key attribute depends on a part of the composite key, rather than the whole key. </a:t>
            </a:r>
          </a:p>
          <a:p>
            <a:pPr algn="just">
              <a:buFont typeface="Wingdings" panose="05000000000000000000" pitchFamily="2" charset="2"/>
              <a:buChar char="§"/>
            </a:pPr>
            <a:r>
              <a:rPr lang="en-IN" sz="2650" dirty="0"/>
              <a:t>A non-key attribute is partially dependent if it depends on only a part of the composite primary key. </a:t>
            </a:r>
          </a:p>
          <a:p>
            <a:pPr algn="just">
              <a:buFont typeface="Wingdings" panose="05000000000000000000" pitchFamily="2" charset="2"/>
              <a:buChar char="§"/>
            </a:pPr>
            <a:r>
              <a:rPr lang="en-IN" sz="2650" dirty="0"/>
              <a:t>If a relation R has attributes X, Y, Z where X and Y are the composite key and Z is non key attribute. Then X-&gt;Z is a partial functional dependency in RDBMS.</a:t>
            </a:r>
          </a:p>
          <a:p>
            <a:pPr algn="just">
              <a:buFont typeface="Wingdings" panose="05000000000000000000" pitchFamily="2" charset="2"/>
              <a:buChar char="§"/>
            </a:pPr>
            <a:r>
              <a:rPr lang="en-IN" sz="2650" b="1" dirty="0">
                <a:solidFill>
                  <a:srgbClr val="FF0000"/>
                </a:solidFill>
              </a:rPr>
              <a:t>Example1:</a:t>
            </a:r>
            <a:r>
              <a:rPr lang="en-IN" sz="2650" dirty="0">
                <a:solidFill>
                  <a:srgbClr val="FF0000"/>
                </a:solidFill>
              </a:rPr>
              <a:t> </a:t>
            </a:r>
          </a:p>
          <a:p>
            <a:pPr algn="just">
              <a:buFont typeface="Wingdings" panose="05000000000000000000" pitchFamily="2" charset="2"/>
              <a:buChar char="§"/>
            </a:pPr>
            <a:r>
              <a:rPr lang="en-IN" sz="2650" dirty="0"/>
              <a:t>Suppose {</a:t>
            </a:r>
            <a:r>
              <a:rPr lang="en-IN" sz="2650" dirty="0" err="1"/>
              <a:t>EmpID</a:t>
            </a:r>
            <a:r>
              <a:rPr lang="en-IN" sz="2650" dirty="0"/>
              <a:t>, </a:t>
            </a:r>
            <a:r>
              <a:rPr lang="en-IN" sz="2650" dirty="0" err="1"/>
              <a:t>DeptNo</a:t>
            </a:r>
            <a:r>
              <a:rPr lang="en-IN" sz="2650" dirty="0"/>
              <a:t>} -&gt; {</a:t>
            </a:r>
            <a:r>
              <a:rPr lang="en-IN" sz="2650" dirty="0" err="1"/>
              <a:t>Dname</a:t>
            </a:r>
            <a:r>
              <a:rPr lang="en-IN" sz="2650" dirty="0"/>
              <a:t>, loc} </a:t>
            </a:r>
          </a:p>
          <a:p>
            <a:pPr algn="just">
              <a:buFont typeface="Wingdings" panose="05000000000000000000" pitchFamily="2" charset="2"/>
              <a:buChar char="§"/>
            </a:pPr>
            <a:r>
              <a:rPr lang="en-IN" sz="2650" dirty="0"/>
              <a:t>Here we have </a:t>
            </a:r>
            <a:r>
              <a:rPr lang="en-IN" sz="2650" dirty="0" err="1"/>
              <a:t>EmpID</a:t>
            </a:r>
            <a:r>
              <a:rPr lang="en-IN" sz="2650" dirty="0"/>
              <a:t> and </a:t>
            </a:r>
            <a:r>
              <a:rPr lang="en-IN" sz="2650" dirty="0" err="1"/>
              <a:t>DeptNo</a:t>
            </a:r>
            <a:r>
              <a:rPr lang="en-IN" sz="2650" dirty="0"/>
              <a:t> as composite primary key. But here {</a:t>
            </a:r>
            <a:r>
              <a:rPr lang="en-IN" sz="2650" dirty="0" err="1"/>
              <a:t>Dname</a:t>
            </a:r>
            <a:r>
              <a:rPr lang="en-IN" sz="2650" dirty="0"/>
              <a:t>, loc} can be determined using only </a:t>
            </a:r>
            <a:r>
              <a:rPr lang="en-IN" sz="2650" dirty="0" err="1"/>
              <a:t>DeptNo</a:t>
            </a:r>
            <a:r>
              <a:rPr lang="en-IN" sz="2650" dirty="0"/>
              <a:t>. So they are partially dependent on composite primary key.</a:t>
            </a: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2076242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CA53-EFE9-6B2E-D275-7B4D8F694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628CD-3326-8F22-ED49-B7876D2444E7}"/>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580E83A7-E4B3-911C-6F9E-899F6CCC2B0A}"/>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Partial Functional Dependency:</a:t>
            </a:r>
          </a:p>
          <a:p>
            <a:pPr algn="just">
              <a:buFont typeface="Wingdings" panose="05000000000000000000" pitchFamily="2" charset="2"/>
              <a:buChar char="§"/>
            </a:pPr>
            <a:r>
              <a:rPr lang="en-IN" sz="2650" b="1" dirty="0">
                <a:solidFill>
                  <a:srgbClr val="FF0000"/>
                </a:solidFill>
              </a:rPr>
              <a:t>Example2: </a:t>
            </a:r>
          </a:p>
          <a:p>
            <a:pPr algn="just">
              <a:buFont typeface="Wingdings" panose="05000000000000000000" pitchFamily="2" charset="2"/>
              <a:buChar char="§"/>
            </a:pPr>
            <a:r>
              <a:rPr lang="en-IN" sz="2650" dirty="0"/>
              <a:t>Suppose: {</a:t>
            </a:r>
            <a:r>
              <a:rPr lang="en-IN" sz="2650" dirty="0" err="1"/>
              <a:t>OrderID</a:t>
            </a:r>
            <a:r>
              <a:rPr lang="en-IN" sz="2650" dirty="0"/>
              <a:t>, </a:t>
            </a:r>
            <a:r>
              <a:rPr lang="en-IN" sz="2650" dirty="0" err="1"/>
              <a:t>ProductID</a:t>
            </a:r>
            <a:r>
              <a:rPr lang="en-IN" sz="2650" dirty="0"/>
              <a:t>} → {</a:t>
            </a:r>
            <a:r>
              <a:rPr lang="en-IN" sz="2650" dirty="0" err="1"/>
              <a:t>OrderDate</a:t>
            </a:r>
            <a:r>
              <a:rPr lang="en-IN" sz="2650" dirty="0"/>
              <a:t>, ProductName, Quantity}</a:t>
            </a:r>
          </a:p>
          <a:p>
            <a:pPr algn="just">
              <a:buFont typeface="Wingdings" panose="05000000000000000000" pitchFamily="2" charset="2"/>
              <a:buChar char="§"/>
            </a:pPr>
            <a:r>
              <a:rPr lang="en-IN" sz="2650" dirty="0"/>
              <a:t>Here </a:t>
            </a:r>
            <a:r>
              <a:rPr lang="en-IN" sz="2650" dirty="0" err="1"/>
              <a:t>OrderID</a:t>
            </a:r>
            <a:r>
              <a:rPr lang="en-IN" sz="2650" dirty="0"/>
              <a:t> and </a:t>
            </a:r>
            <a:r>
              <a:rPr lang="en-IN" sz="2650" dirty="0" err="1"/>
              <a:t>ProductID</a:t>
            </a:r>
            <a:r>
              <a:rPr lang="en-IN" sz="2650" dirty="0"/>
              <a:t> form a composite primary key. </a:t>
            </a:r>
            <a:r>
              <a:rPr lang="en-IN" sz="2650" dirty="0" err="1"/>
              <a:t>OrderDate</a:t>
            </a:r>
            <a:r>
              <a:rPr lang="en-IN" sz="2650" dirty="0"/>
              <a:t> can be determined using only </a:t>
            </a:r>
            <a:r>
              <a:rPr lang="en-IN" sz="2650" dirty="0" err="1"/>
              <a:t>OrderID</a:t>
            </a:r>
            <a:r>
              <a:rPr lang="en-IN" sz="2650" dirty="0"/>
              <a:t>. ProductName can be determined using only </a:t>
            </a:r>
            <a:r>
              <a:rPr lang="en-IN" sz="2650" dirty="0" err="1"/>
              <a:t>ProductID</a:t>
            </a:r>
            <a:r>
              <a:rPr lang="en-IN" sz="2650" dirty="0"/>
              <a:t>. Quantity depends on both </a:t>
            </a:r>
            <a:r>
              <a:rPr lang="en-IN" sz="2650" dirty="0" err="1"/>
              <a:t>OrderID</a:t>
            </a:r>
            <a:r>
              <a:rPr lang="en-IN" sz="2650" dirty="0"/>
              <a:t> and </a:t>
            </a:r>
            <a:r>
              <a:rPr lang="en-IN" sz="2650" dirty="0" err="1"/>
              <a:t>ProductID</a:t>
            </a:r>
            <a:r>
              <a:rPr lang="en-IN" sz="2650" dirty="0"/>
              <a:t>. </a:t>
            </a:r>
          </a:p>
          <a:p>
            <a:pPr>
              <a:buFont typeface="Wingdings" panose="05000000000000000000" pitchFamily="2" charset="2"/>
              <a:buChar char="§"/>
            </a:pPr>
            <a:r>
              <a:rPr lang="en-IN" sz="2650" dirty="0"/>
              <a:t>Therefore:</a:t>
            </a:r>
          </a:p>
          <a:p>
            <a:pPr>
              <a:buFont typeface="Wingdings" panose="05000000000000000000" pitchFamily="2" charset="2"/>
              <a:buChar char="§"/>
            </a:pPr>
            <a:r>
              <a:rPr lang="en-IN" sz="2650" dirty="0" err="1"/>
              <a:t>OrderID</a:t>
            </a:r>
            <a:r>
              <a:rPr lang="en-IN" sz="2650" dirty="0"/>
              <a:t> → </a:t>
            </a:r>
            <a:r>
              <a:rPr lang="en-IN" sz="2650" dirty="0" err="1"/>
              <a:t>OrderDate</a:t>
            </a:r>
            <a:br>
              <a:rPr lang="en-IN" sz="2650" dirty="0"/>
            </a:br>
            <a:r>
              <a:rPr lang="en-IN" sz="2650" dirty="0" err="1"/>
              <a:t>ProductID</a:t>
            </a:r>
            <a:r>
              <a:rPr lang="en-IN" sz="2650" dirty="0"/>
              <a:t> → ProductName</a:t>
            </a:r>
          </a:p>
          <a:p>
            <a:pPr algn="just">
              <a:buFont typeface="Wingdings" panose="05000000000000000000" pitchFamily="2" charset="2"/>
              <a:buChar char="§"/>
            </a:pPr>
            <a:r>
              <a:rPr lang="en-IN" sz="2650" dirty="0"/>
              <a:t>So, </a:t>
            </a:r>
            <a:r>
              <a:rPr lang="en-IN" sz="2650" dirty="0" err="1"/>
              <a:t>OrderDate</a:t>
            </a:r>
            <a:r>
              <a:rPr lang="en-IN" sz="2650" dirty="0"/>
              <a:t> and ProductName are partially dependent on the composite primary key.</a:t>
            </a:r>
          </a:p>
          <a:p>
            <a:pPr marL="0" indent="0" algn="just">
              <a:lnSpc>
                <a:spcPct val="100000"/>
              </a:lnSpc>
              <a:buNone/>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3269231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00717-FC6D-8A67-FAA7-A2BAFAAB5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0AC5D-9597-DB70-C1C5-DFA29A09A29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74C9C201-D0D4-5158-0964-D8CBCA0855E2}"/>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Partial Functional Dependency:</a:t>
            </a:r>
          </a:p>
          <a:p>
            <a:pPr>
              <a:buFont typeface="Wingdings" panose="05000000000000000000" pitchFamily="2" charset="2"/>
              <a:buChar char="§"/>
            </a:pPr>
            <a:r>
              <a:rPr lang="en-IN" sz="2650" b="1" dirty="0">
                <a:solidFill>
                  <a:srgbClr val="FF0000"/>
                </a:solidFill>
              </a:rPr>
              <a:t>Example3:</a:t>
            </a:r>
          </a:p>
          <a:p>
            <a:pPr algn="just">
              <a:buFont typeface="Wingdings" panose="05000000000000000000" pitchFamily="2" charset="2"/>
              <a:buChar char="§"/>
            </a:pPr>
            <a:r>
              <a:rPr lang="en-IN" sz="2650" dirty="0"/>
              <a:t>Suppose:{</a:t>
            </a:r>
            <a:r>
              <a:rPr lang="en-IN" sz="2650" dirty="0" err="1"/>
              <a:t>RollNo</a:t>
            </a:r>
            <a:r>
              <a:rPr lang="en-IN" sz="2650" dirty="0"/>
              <a:t>, </a:t>
            </a:r>
            <a:r>
              <a:rPr lang="en-IN" sz="2650" dirty="0" err="1"/>
              <a:t>SubjectCode</a:t>
            </a:r>
            <a:r>
              <a:rPr lang="en-IN" sz="2650" dirty="0"/>
              <a:t>} → {</a:t>
            </a:r>
            <a:r>
              <a:rPr lang="en-IN" sz="2650" dirty="0" err="1"/>
              <a:t>StudentName</a:t>
            </a:r>
            <a:r>
              <a:rPr lang="en-IN" sz="2650" dirty="0"/>
              <a:t>, </a:t>
            </a:r>
            <a:r>
              <a:rPr lang="en-IN" sz="2650" dirty="0" err="1"/>
              <a:t>SubjectName</a:t>
            </a:r>
            <a:r>
              <a:rPr lang="en-IN" sz="2650" dirty="0"/>
              <a:t>, Grade}</a:t>
            </a:r>
          </a:p>
          <a:p>
            <a:pPr algn="just">
              <a:buFont typeface="Wingdings" panose="05000000000000000000" pitchFamily="2" charset="2"/>
              <a:buChar char="§"/>
            </a:pPr>
            <a:r>
              <a:rPr lang="en-IN" sz="2650" dirty="0"/>
              <a:t>Here </a:t>
            </a:r>
            <a:r>
              <a:rPr lang="en-IN" sz="2650" dirty="0" err="1"/>
              <a:t>RollNo</a:t>
            </a:r>
            <a:r>
              <a:rPr lang="en-IN" sz="2650" dirty="0"/>
              <a:t> and </a:t>
            </a:r>
            <a:r>
              <a:rPr lang="en-IN" sz="2650" dirty="0" err="1"/>
              <a:t>SubjectCode</a:t>
            </a:r>
            <a:r>
              <a:rPr lang="en-IN" sz="2650" dirty="0"/>
              <a:t> form a composite primary key. </a:t>
            </a:r>
            <a:r>
              <a:rPr lang="en-IN" sz="2650" dirty="0" err="1"/>
              <a:t>StudentName</a:t>
            </a:r>
            <a:r>
              <a:rPr lang="en-IN" sz="2650" dirty="0"/>
              <a:t> can be determined using only </a:t>
            </a:r>
            <a:r>
              <a:rPr lang="en-IN" sz="2650" dirty="0" err="1"/>
              <a:t>RollNo</a:t>
            </a:r>
            <a:r>
              <a:rPr lang="en-IN" sz="2650" dirty="0"/>
              <a:t>. </a:t>
            </a:r>
            <a:r>
              <a:rPr lang="en-IN" sz="2650" dirty="0" err="1"/>
              <a:t>SubjectName</a:t>
            </a:r>
            <a:r>
              <a:rPr lang="en-IN" sz="2650" dirty="0"/>
              <a:t> can be determined using only </a:t>
            </a:r>
            <a:r>
              <a:rPr lang="en-IN" sz="2650" dirty="0" err="1"/>
              <a:t>SubjectCode</a:t>
            </a:r>
            <a:r>
              <a:rPr lang="en-IN" sz="2650" dirty="0"/>
              <a:t>. Grade requires both </a:t>
            </a:r>
            <a:r>
              <a:rPr lang="en-IN" sz="2650" dirty="0" err="1"/>
              <a:t>RollNo</a:t>
            </a:r>
            <a:r>
              <a:rPr lang="en-IN" sz="2650" dirty="0"/>
              <a:t> and </a:t>
            </a:r>
            <a:r>
              <a:rPr lang="en-IN" sz="2650" dirty="0" err="1"/>
              <a:t>SubjectCode</a:t>
            </a:r>
            <a:r>
              <a:rPr lang="en-IN" sz="2650" dirty="0"/>
              <a:t>. </a:t>
            </a:r>
          </a:p>
          <a:p>
            <a:pPr>
              <a:buFont typeface="Wingdings" panose="05000000000000000000" pitchFamily="2" charset="2"/>
              <a:buChar char="§"/>
            </a:pPr>
            <a:r>
              <a:rPr lang="en-IN" sz="2650" dirty="0"/>
              <a:t>Therefore:</a:t>
            </a:r>
          </a:p>
          <a:p>
            <a:pPr>
              <a:buFont typeface="Wingdings" panose="05000000000000000000" pitchFamily="2" charset="2"/>
              <a:buChar char="§"/>
            </a:pPr>
            <a:r>
              <a:rPr lang="en-IN" sz="2650" dirty="0" err="1"/>
              <a:t>RollNo</a:t>
            </a:r>
            <a:r>
              <a:rPr lang="en-IN" sz="2650" dirty="0"/>
              <a:t> → </a:t>
            </a:r>
            <a:r>
              <a:rPr lang="en-IN" sz="2650" dirty="0" err="1"/>
              <a:t>StudentName</a:t>
            </a:r>
            <a:br>
              <a:rPr lang="en-IN" sz="2650" dirty="0"/>
            </a:br>
            <a:r>
              <a:rPr lang="en-IN" sz="2650" dirty="0" err="1"/>
              <a:t>SubjectCode</a:t>
            </a:r>
            <a:r>
              <a:rPr lang="en-IN" sz="2650" dirty="0"/>
              <a:t> → </a:t>
            </a:r>
            <a:r>
              <a:rPr lang="en-IN" sz="2650" dirty="0" err="1"/>
              <a:t>SubjectName</a:t>
            </a:r>
            <a:endParaRPr lang="en-IN" sz="2650" dirty="0"/>
          </a:p>
          <a:p>
            <a:pPr algn="just">
              <a:buFont typeface="Wingdings" panose="05000000000000000000" pitchFamily="2" charset="2"/>
              <a:buChar char="§"/>
            </a:pPr>
            <a:r>
              <a:rPr lang="en-IN" sz="2650" dirty="0"/>
              <a:t>Hence, </a:t>
            </a:r>
            <a:r>
              <a:rPr lang="en-IN" sz="2650" dirty="0" err="1"/>
              <a:t>StudentName</a:t>
            </a:r>
            <a:r>
              <a:rPr lang="en-IN" sz="2650" dirty="0"/>
              <a:t> and </a:t>
            </a:r>
            <a:r>
              <a:rPr lang="en-IN" sz="2650" dirty="0" err="1"/>
              <a:t>SubjectName</a:t>
            </a:r>
            <a:r>
              <a:rPr lang="en-IN" sz="2650" dirty="0"/>
              <a:t> are partially dependent on the composite primary key.</a:t>
            </a:r>
          </a:p>
          <a:p>
            <a:pPr marL="0" indent="0" algn="just">
              <a:lnSpc>
                <a:spcPct val="100000"/>
              </a:lnSpc>
              <a:buNone/>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1199401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1ECC7-F51D-904C-61A0-17A515100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3E32F-DF26-7B82-F070-D230976843B4}"/>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D8E3EF89-8733-FC0E-915B-9904F56CAB73}"/>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Transitive Dependency:</a:t>
            </a:r>
          </a:p>
          <a:p>
            <a:pPr lvl="0" algn="just" fontAlgn="base">
              <a:buFont typeface="Wingdings" panose="05000000000000000000" pitchFamily="2" charset="2"/>
              <a:buChar char="§"/>
            </a:pPr>
            <a:r>
              <a:rPr lang="en-IN" sz="2540" dirty="0"/>
              <a:t>If the value of a non-primary attribute can be defined using another non-primary attribute then it is called a transitive dependency</a:t>
            </a:r>
            <a:r>
              <a:rPr lang="en-IN" sz="2540" b="1" dirty="0"/>
              <a:t>.</a:t>
            </a:r>
            <a:endParaRPr lang="en-IN" sz="2540" dirty="0"/>
          </a:p>
          <a:p>
            <a:pPr lvl="0" algn="just" fontAlgn="base">
              <a:buFont typeface="Wingdings" panose="05000000000000000000" pitchFamily="2" charset="2"/>
              <a:buChar char="§"/>
            </a:pPr>
            <a:r>
              <a:rPr lang="en-IN" sz="2540" dirty="0"/>
              <a:t>When any attribute does not require primary key and can easily get value using another non-primary attribute then it is called as </a:t>
            </a:r>
            <a:r>
              <a:rPr lang="en-IN" sz="2540" b="1" dirty="0"/>
              <a:t>Transitive Dependency</a:t>
            </a:r>
            <a:r>
              <a:rPr lang="en-IN" sz="2540" dirty="0"/>
              <a:t>.</a:t>
            </a:r>
          </a:p>
          <a:p>
            <a:pPr algn="just">
              <a:buFont typeface="Wingdings" panose="05000000000000000000" pitchFamily="2" charset="2"/>
              <a:buChar char="§"/>
            </a:pPr>
            <a:r>
              <a:rPr lang="en-IN" sz="2540" b="1" dirty="0">
                <a:solidFill>
                  <a:srgbClr val="FF0000"/>
                </a:solidFill>
              </a:rPr>
              <a:t>Example-1: </a:t>
            </a:r>
            <a:r>
              <a:rPr lang="en-IN" sz="2540" dirty="0"/>
              <a:t>Relation: STUDENT(</a:t>
            </a:r>
            <a:r>
              <a:rPr lang="en-IN" sz="2540" dirty="0" err="1"/>
              <a:t>RollNo</a:t>
            </a:r>
            <a:r>
              <a:rPr lang="en-IN" sz="2540" dirty="0"/>
              <a:t>, </a:t>
            </a:r>
            <a:r>
              <a:rPr lang="en-IN" sz="2540" dirty="0" err="1"/>
              <a:t>StudentName</a:t>
            </a:r>
            <a:r>
              <a:rPr lang="en-IN" sz="2540" dirty="0"/>
              <a:t>, </a:t>
            </a:r>
            <a:r>
              <a:rPr lang="en-IN" sz="2540" dirty="0" err="1"/>
              <a:t>DeptID</a:t>
            </a:r>
            <a:r>
              <a:rPr lang="en-IN" sz="2540" dirty="0"/>
              <a:t>, </a:t>
            </a:r>
            <a:r>
              <a:rPr lang="en-IN" sz="2540" dirty="0" err="1"/>
              <a:t>DeptName</a:t>
            </a:r>
            <a:r>
              <a:rPr lang="en-IN" sz="2540" dirty="0"/>
              <a:t>)</a:t>
            </a:r>
          </a:p>
          <a:p>
            <a:pPr lvl="0" algn="just">
              <a:buFont typeface="Wingdings" panose="05000000000000000000" pitchFamily="2" charset="2"/>
              <a:buChar char="§"/>
            </a:pPr>
            <a:r>
              <a:rPr lang="en-IN" sz="2540" dirty="0"/>
              <a:t>Primary Key: </a:t>
            </a:r>
            <a:r>
              <a:rPr lang="en-IN" sz="2540" dirty="0" err="1"/>
              <a:t>RollNo</a:t>
            </a:r>
            <a:endParaRPr lang="en-IN" sz="2540" dirty="0"/>
          </a:p>
          <a:p>
            <a:pPr algn="just">
              <a:buFont typeface="Wingdings" panose="05000000000000000000" pitchFamily="2" charset="2"/>
              <a:buChar char="§"/>
            </a:pPr>
            <a:r>
              <a:rPr lang="en-IN" sz="2540" b="1" dirty="0"/>
              <a:t>Functional Dependencies: </a:t>
            </a:r>
            <a:r>
              <a:rPr lang="en-IN" sz="2540" dirty="0" err="1"/>
              <a:t>RollNo</a:t>
            </a:r>
            <a:r>
              <a:rPr lang="en-IN" sz="2540" dirty="0"/>
              <a:t> → </a:t>
            </a:r>
            <a:r>
              <a:rPr lang="en-IN" sz="2540" dirty="0" err="1"/>
              <a:t>StudentName</a:t>
            </a:r>
            <a:r>
              <a:rPr lang="en-IN" sz="2540" dirty="0"/>
              <a:t>, </a:t>
            </a:r>
            <a:r>
              <a:rPr lang="en-IN" sz="2540" dirty="0" err="1"/>
              <a:t>DeptID</a:t>
            </a:r>
            <a:r>
              <a:rPr lang="en-IN" sz="2540" dirty="0"/>
              <a:t> &amp; </a:t>
            </a:r>
            <a:r>
              <a:rPr lang="en-IN" sz="2540" dirty="0" err="1"/>
              <a:t>DeptID</a:t>
            </a:r>
            <a:r>
              <a:rPr lang="en-IN" sz="2540" dirty="0"/>
              <a:t> → </a:t>
            </a:r>
            <a:r>
              <a:rPr lang="en-IN" sz="2540" dirty="0" err="1"/>
              <a:t>DeptName</a:t>
            </a:r>
            <a:endParaRPr lang="en-IN" sz="2540" dirty="0"/>
          </a:p>
          <a:p>
            <a:pPr algn="just">
              <a:buFont typeface="Wingdings" panose="05000000000000000000" pitchFamily="2" charset="2"/>
              <a:buChar char="§"/>
            </a:pPr>
            <a:r>
              <a:rPr lang="en-IN" sz="2540" dirty="0"/>
              <a:t>Since: </a:t>
            </a:r>
            <a:r>
              <a:rPr lang="en-IN" sz="2540" dirty="0" err="1"/>
              <a:t>RollNo</a:t>
            </a:r>
            <a:r>
              <a:rPr lang="en-IN" sz="2540" dirty="0"/>
              <a:t> → </a:t>
            </a:r>
            <a:r>
              <a:rPr lang="en-IN" sz="2540" dirty="0" err="1"/>
              <a:t>DeptID</a:t>
            </a:r>
            <a:r>
              <a:rPr lang="en-IN" sz="2540" dirty="0"/>
              <a:t> &amp; </a:t>
            </a:r>
            <a:r>
              <a:rPr lang="en-IN" sz="2540" dirty="0" err="1"/>
              <a:t>DeptID</a:t>
            </a:r>
            <a:r>
              <a:rPr lang="en-IN" sz="2540" dirty="0"/>
              <a:t> → </a:t>
            </a:r>
            <a:r>
              <a:rPr lang="en-IN" sz="2540" dirty="0" err="1"/>
              <a:t>DeptName</a:t>
            </a:r>
            <a:endParaRPr lang="en-IN" sz="2540" dirty="0"/>
          </a:p>
          <a:p>
            <a:pPr algn="just">
              <a:buFont typeface="Wingdings" panose="05000000000000000000" pitchFamily="2" charset="2"/>
              <a:buChar char="§"/>
            </a:pPr>
            <a:r>
              <a:rPr lang="en-IN" sz="2540" dirty="0"/>
              <a:t>Therefore: </a:t>
            </a:r>
            <a:r>
              <a:rPr lang="en-IN" sz="2540" dirty="0" err="1"/>
              <a:t>RollNo</a:t>
            </a:r>
            <a:r>
              <a:rPr lang="en-IN" sz="2540" dirty="0"/>
              <a:t> → </a:t>
            </a:r>
            <a:r>
              <a:rPr lang="en-IN" sz="2540" dirty="0" err="1"/>
              <a:t>DeptName</a:t>
            </a:r>
            <a:r>
              <a:rPr lang="en-IN" sz="2540" dirty="0"/>
              <a:t> (indirectly)</a:t>
            </a:r>
          </a:p>
          <a:p>
            <a:pPr algn="just">
              <a:buFont typeface="Wingdings" panose="05000000000000000000" pitchFamily="2" charset="2"/>
              <a:buChar char="§"/>
            </a:pPr>
            <a:r>
              <a:rPr lang="en-IN" sz="2540" dirty="0"/>
              <a:t>This is a transitive dependency because </a:t>
            </a:r>
            <a:r>
              <a:rPr lang="en-IN" sz="2540" dirty="0" err="1"/>
              <a:t>DeptName</a:t>
            </a:r>
            <a:r>
              <a:rPr lang="en-IN" sz="2540" dirty="0"/>
              <a:t> depends on </a:t>
            </a:r>
            <a:r>
              <a:rPr lang="en-IN" sz="2540" dirty="0" err="1"/>
              <a:t>DeptID</a:t>
            </a:r>
            <a:r>
              <a:rPr lang="en-IN" sz="2540" dirty="0"/>
              <a:t>, not directly on </a:t>
            </a:r>
            <a:r>
              <a:rPr lang="en-IN" sz="2540" dirty="0" err="1"/>
              <a:t>RollNo</a:t>
            </a:r>
            <a:r>
              <a:rPr lang="en-IN" sz="2540" dirty="0"/>
              <a:t>.</a:t>
            </a:r>
          </a:p>
          <a:p>
            <a:pPr lvl="0" algn="just" fontAlgn="base"/>
            <a:endParaRPr lang="en-IN" sz="2600" dirty="0"/>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2000409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26B9-D2D4-39DE-3C2A-27BBE54EC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B579D-7531-4B6B-ED5E-1ADE286FB23D}"/>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70A2DA6D-59EC-8C8B-FD2D-3053E4A41A3F}"/>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Transitive Dependency:</a:t>
            </a:r>
          </a:p>
          <a:p>
            <a:pPr algn="just">
              <a:buFont typeface="Wingdings" panose="05000000000000000000" pitchFamily="2" charset="2"/>
              <a:buChar char="§"/>
            </a:pPr>
            <a:r>
              <a:rPr lang="en-IN" sz="2550" b="1" dirty="0">
                <a:solidFill>
                  <a:srgbClr val="FF0000"/>
                </a:solidFill>
              </a:rPr>
              <a:t>Example 2: </a:t>
            </a:r>
            <a:r>
              <a:rPr lang="en-IN" sz="2550" dirty="0"/>
              <a:t>Suppose: PATIENT(</a:t>
            </a:r>
            <a:r>
              <a:rPr lang="en-IN" sz="2550" dirty="0" err="1"/>
              <a:t>PatientID</a:t>
            </a:r>
            <a:r>
              <a:rPr lang="en-IN" sz="2550" dirty="0"/>
              <a:t>, </a:t>
            </a:r>
            <a:r>
              <a:rPr lang="en-IN" sz="2550" dirty="0" err="1"/>
              <a:t>PatientName</a:t>
            </a:r>
            <a:r>
              <a:rPr lang="en-IN" sz="2550" dirty="0"/>
              <a:t>, </a:t>
            </a:r>
            <a:r>
              <a:rPr lang="en-IN" sz="2550" dirty="0" err="1"/>
              <a:t>DoctorID</a:t>
            </a:r>
            <a:r>
              <a:rPr lang="en-IN" sz="2550" dirty="0"/>
              <a:t>, </a:t>
            </a:r>
            <a:r>
              <a:rPr lang="en-IN" sz="2550" dirty="0" err="1"/>
              <a:t>DoctorName</a:t>
            </a:r>
            <a:r>
              <a:rPr lang="en-IN" sz="2550" dirty="0"/>
              <a:t>, Specialization)</a:t>
            </a:r>
          </a:p>
          <a:p>
            <a:pPr lvl="0" algn="just">
              <a:buFont typeface="Wingdings" panose="05000000000000000000" pitchFamily="2" charset="2"/>
              <a:buChar char="§"/>
            </a:pPr>
            <a:r>
              <a:rPr lang="en-IN" sz="2550" dirty="0"/>
              <a:t>Primary Key: </a:t>
            </a:r>
            <a:r>
              <a:rPr lang="en-IN" sz="2550" dirty="0" err="1"/>
              <a:t>PatientID</a:t>
            </a:r>
            <a:endParaRPr lang="en-IN" sz="2550" dirty="0"/>
          </a:p>
          <a:p>
            <a:pPr algn="just">
              <a:buFont typeface="Wingdings" panose="05000000000000000000" pitchFamily="2" charset="2"/>
              <a:buChar char="§"/>
            </a:pPr>
            <a:r>
              <a:rPr lang="en-IN" sz="2550" b="1" dirty="0"/>
              <a:t>Functional Dependencies: </a:t>
            </a:r>
            <a:r>
              <a:rPr lang="en-IN" sz="2550" dirty="0" err="1"/>
              <a:t>PatientID</a:t>
            </a:r>
            <a:r>
              <a:rPr lang="en-IN" sz="2550" dirty="0"/>
              <a:t> → </a:t>
            </a:r>
            <a:r>
              <a:rPr lang="en-IN" sz="2550" dirty="0" err="1"/>
              <a:t>PatientName</a:t>
            </a:r>
            <a:r>
              <a:rPr lang="en-IN" sz="2550" dirty="0"/>
              <a:t>, </a:t>
            </a:r>
            <a:r>
              <a:rPr lang="en-IN" sz="2550" dirty="0" err="1"/>
              <a:t>DoctorID</a:t>
            </a:r>
            <a:r>
              <a:rPr lang="en-IN" sz="2550" dirty="0"/>
              <a:t> &amp; </a:t>
            </a:r>
            <a:r>
              <a:rPr lang="en-IN" sz="2550" dirty="0" err="1"/>
              <a:t>DoctorID</a:t>
            </a:r>
            <a:r>
              <a:rPr lang="en-IN" sz="2550" dirty="0"/>
              <a:t> → </a:t>
            </a:r>
            <a:r>
              <a:rPr lang="en-IN" sz="2550" dirty="0" err="1"/>
              <a:t>DoctorName</a:t>
            </a:r>
            <a:r>
              <a:rPr lang="en-IN" sz="2550" dirty="0"/>
              <a:t>, Specialization</a:t>
            </a:r>
          </a:p>
          <a:p>
            <a:pPr algn="just">
              <a:buFont typeface="Wingdings" panose="05000000000000000000" pitchFamily="2" charset="2"/>
              <a:buChar char="§"/>
            </a:pPr>
            <a:r>
              <a:rPr lang="en-IN" sz="2550" dirty="0"/>
              <a:t>Since: </a:t>
            </a:r>
            <a:r>
              <a:rPr lang="en-IN" sz="2550" dirty="0" err="1"/>
              <a:t>PatientID</a:t>
            </a:r>
            <a:r>
              <a:rPr lang="en-IN" sz="2550" dirty="0"/>
              <a:t> → </a:t>
            </a:r>
            <a:r>
              <a:rPr lang="en-IN" sz="2550" dirty="0" err="1"/>
              <a:t>DoctorID</a:t>
            </a:r>
            <a:r>
              <a:rPr lang="en-IN" sz="2550" dirty="0"/>
              <a:t> &amp; </a:t>
            </a:r>
            <a:r>
              <a:rPr lang="en-IN" sz="2550" dirty="0" err="1"/>
              <a:t>DoctorID</a:t>
            </a:r>
            <a:r>
              <a:rPr lang="en-IN" sz="2550" dirty="0"/>
              <a:t> → </a:t>
            </a:r>
            <a:r>
              <a:rPr lang="en-IN" sz="2550" dirty="0" err="1"/>
              <a:t>DoctorName</a:t>
            </a:r>
            <a:r>
              <a:rPr lang="en-IN" sz="2550" dirty="0"/>
              <a:t>, Specialization</a:t>
            </a:r>
          </a:p>
          <a:p>
            <a:pPr algn="just">
              <a:buFont typeface="Wingdings" panose="05000000000000000000" pitchFamily="2" charset="2"/>
              <a:buChar char="§"/>
            </a:pPr>
            <a:r>
              <a:rPr lang="en-IN" sz="2550" dirty="0"/>
              <a:t>Therefore: </a:t>
            </a:r>
            <a:r>
              <a:rPr lang="en-IN" sz="2550" dirty="0" err="1"/>
              <a:t>PatientID</a:t>
            </a:r>
            <a:r>
              <a:rPr lang="en-IN" sz="2550" dirty="0"/>
              <a:t> → </a:t>
            </a:r>
            <a:r>
              <a:rPr lang="en-IN" sz="2550" dirty="0" err="1"/>
              <a:t>DoctorName</a:t>
            </a:r>
            <a:r>
              <a:rPr lang="en-IN" sz="2550" dirty="0"/>
              <a:t>, Specialization. This is a transitive dependency.</a:t>
            </a:r>
          </a:p>
          <a:p>
            <a:pPr lvl="0" algn="just" fontAlgn="base"/>
            <a:endParaRPr lang="en-IN" sz="2600" dirty="0"/>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1665897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C92A3-D035-A0A0-29DE-0F2B64579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84CF5-8639-8BEF-24A3-429A150967B1}"/>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77C6E840-B14F-C14C-35E8-DC9F6D572C26}"/>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Trivial Functional Dependency:</a:t>
            </a:r>
          </a:p>
          <a:p>
            <a:pPr algn="just" fontAlgn="base">
              <a:buFont typeface="Wingdings" panose="05000000000000000000" pitchFamily="2" charset="2"/>
              <a:buChar char="§"/>
            </a:pPr>
            <a:r>
              <a:rPr lang="en-IN" sz="2500" dirty="0"/>
              <a:t>In Trivial Functional Dependency, a dependent is always a subset of the determinant. i.e., If X → Y and Y is the subset of X, then it is called a trivial functional dependency.</a:t>
            </a:r>
          </a:p>
          <a:p>
            <a:pPr algn="just" fontAlgn="base">
              <a:buFont typeface="Wingdings" panose="05000000000000000000" pitchFamily="2" charset="2"/>
              <a:buChar char="§"/>
            </a:pPr>
            <a:r>
              <a:rPr lang="en-IN" sz="2500" dirty="0"/>
              <a:t>Symbolically: A→B is a trivial </a:t>
            </a:r>
            <a:r>
              <a:rPr lang="en-IN" sz="2500" u="sng" dirty="0">
                <a:hlinkClick r:id="rId2">
                  <a:extLst>
                    <a:ext uri="{A12FA001-AC4F-418D-AE19-62706E023703}">
                      <ahyp:hlinkClr xmlns:ahyp="http://schemas.microsoft.com/office/drawing/2018/hyperlinkcolor" val="tx"/>
                    </a:ext>
                  </a:extLst>
                </a:hlinkClick>
              </a:rPr>
              <a:t>functional dependency </a:t>
            </a:r>
            <a:r>
              <a:rPr lang="en-IN" sz="2500" dirty="0"/>
              <a:t>if B is a subset of A.</a:t>
            </a:r>
          </a:p>
          <a:p>
            <a:pPr algn="just" fontAlgn="base">
              <a:buFont typeface="Wingdings" panose="05000000000000000000" pitchFamily="2" charset="2"/>
              <a:buChar char="§"/>
            </a:pPr>
            <a:r>
              <a:rPr lang="en-IN" sz="2500" dirty="0"/>
              <a:t>The following dependencies are also trivial: A→A &amp; B→B</a:t>
            </a:r>
          </a:p>
          <a:p>
            <a:pPr>
              <a:buFont typeface="Wingdings" panose="05000000000000000000" pitchFamily="2" charset="2"/>
              <a:buChar char="§"/>
            </a:pPr>
            <a:r>
              <a:rPr lang="en-IN" sz="2500" dirty="0"/>
              <a:t>In simple words: If all the attributes on the right side are already present on the left side, the FD is </a:t>
            </a:r>
            <a:r>
              <a:rPr lang="en-IN" sz="2500" b="1" dirty="0"/>
              <a:t>trivial</a:t>
            </a:r>
            <a:r>
              <a:rPr lang="en-IN" sz="2500" dirty="0"/>
              <a:t>.</a:t>
            </a:r>
          </a:p>
          <a:p>
            <a:pPr>
              <a:buFont typeface="Wingdings" panose="05000000000000000000" pitchFamily="2" charset="2"/>
              <a:buChar char="§"/>
            </a:pPr>
            <a:r>
              <a:rPr lang="en-IN" sz="2400" b="1" dirty="0">
                <a:solidFill>
                  <a:srgbClr val="FF0000"/>
                </a:solidFill>
              </a:rPr>
              <a:t>Example-1: </a:t>
            </a:r>
          </a:p>
          <a:p>
            <a:pPr>
              <a:buFont typeface="Wingdings" panose="05000000000000000000" pitchFamily="2" charset="2"/>
              <a:buChar char="§"/>
            </a:pPr>
            <a:r>
              <a:rPr lang="en-IN" sz="2400" dirty="0"/>
              <a:t>Suppose: </a:t>
            </a:r>
            <a:r>
              <a:rPr lang="en-IN" sz="2400" b="1" dirty="0"/>
              <a:t>{</a:t>
            </a:r>
            <a:r>
              <a:rPr lang="en-IN" sz="2400" b="1" dirty="0" err="1"/>
              <a:t>EmpID</a:t>
            </a:r>
            <a:r>
              <a:rPr lang="en-IN" sz="2400" b="1" dirty="0"/>
              <a:t>, </a:t>
            </a:r>
            <a:r>
              <a:rPr lang="en-IN" sz="2400" b="1" dirty="0" err="1"/>
              <a:t>EmpName</a:t>
            </a:r>
            <a:r>
              <a:rPr lang="en-IN" sz="2400" b="1" dirty="0"/>
              <a:t>} → </a:t>
            </a:r>
            <a:r>
              <a:rPr lang="en-IN" sz="2400" b="1" dirty="0" err="1"/>
              <a:t>EmpName</a:t>
            </a:r>
            <a:endParaRPr lang="en-IN" sz="2400" dirty="0"/>
          </a:p>
          <a:p>
            <a:pPr>
              <a:buFont typeface="Wingdings" panose="05000000000000000000" pitchFamily="2" charset="2"/>
              <a:buChar char="§"/>
            </a:pPr>
            <a:r>
              <a:rPr lang="en-IN" sz="2400" dirty="0"/>
              <a:t>Here, </a:t>
            </a:r>
            <a:r>
              <a:rPr lang="en-IN" dirty="0" err="1"/>
              <a:t>EmpName</a:t>
            </a:r>
            <a:r>
              <a:rPr lang="en-IN" sz="2400" dirty="0"/>
              <a:t> is already present on the left side.</a:t>
            </a:r>
          </a:p>
          <a:p>
            <a:pPr>
              <a:buFont typeface="Wingdings" panose="05000000000000000000" pitchFamily="2" charset="2"/>
              <a:buChar char="§"/>
            </a:pPr>
            <a:r>
              <a:rPr lang="en-IN" sz="2400" dirty="0"/>
              <a:t>Therefore: </a:t>
            </a:r>
            <a:r>
              <a:rPr lang="en-IN" sz="2400" b="1" dirty="0" err="1"/>
              <a:t>EmpName</a:t>
            </a:r>
            <a:r>
              <a:rPr lang="en-IN" sz="2400" b="1" dirty="0"/>
              <a:t> ⊆ {</a:t>
            </a:r>
            <a:r>
              <a:rPr lang="en-IN" sz="2400" b="1" dirty="0" err="1"/>
              <a:t>EmpID</a:t>
            </a:r>
            <a:r>
              <a:rPr lang="en-IN" sz="2400" b="1" dirty="0"/>
              <a:t>, </a:t>
            </a:r>
            <a:r>
              <a:rPr lang="en-IN" sz="2400" b="1" dirty="0" err="1"/>
              <a:t>EmpName</a:t>
            </a:r>
            <a:r>
              <a:rPr lang="en-IN" sz="2400" b="1" dirty="0"/>
              <a:t>}</a:t>
            </a:r>
            <a:endParaRPr lang="en-IN" sz="2400" dirty="0"/>
          </a:p>
          <a:p>
            <a:pPr>
              <a:buFont typeface="Wingdings" panose="05000000000000000000" pitchFamily="2" charset="2"/>
              <a:buChar char="§"/>
            </a:pPr>
            <a:r>
              <a:rPr lang="en-IN" sz="2400" dirty="0"/>
              <a:t>So, this is a </a:t>
            </a:r>
            <a:r>
              <a:rPr lang="en-IN" sz="2400" b="1" dirty="0"/>
              <a:t>trivial functional dependency</a:t>
            </a:r>
            <a:r>
              <a:rPr lang="en-IN" sz="2400" dirty="0"/>
              <a:t>.</a:t>
            </a: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548431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66099-0FCB-51C8-6936-07DAEC54A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87F48-DCF7-4122-1745-8D20F82E0520}"/>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81AEF29B-D4B7-0724-EE67-974592CC68BD}"/>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Trivial Functional Dependency:</a:t>
            </a:r>
          </a:p>
          <a:p>
            <a:pPr>
              <a:buFont typeface="Wingdings" panose="05000000000000000000" pitchFamily="2" charset="2"/>
              <a:buChar char="§"/>
            </a:pPr>
            <a:r>
              <a:rPr lang="en-IN" sz="2550" b="1" dirty="0">
                <a:solidFill>
                  <a:srgbClr val="FF0000"/>
                </a:solidFill>
              </a:rPr>
              <a:t>Example-2: </a:t>
            </a:r>
          </a:p>
          <a:p>
            <a:pPr>
              <a:buFont typeface="Wingdings" panose="05000000000000000000" pitchFamily="2" charset="2"/>
              <a:buChar char="§"/>
            </a:pPr>
            <a:r>
              <a:rPr lang="en-IN" sz="2400" dirty="0"/>
              <a:t>Suppose: </a:t>
            </a:r>
            <a:r>
              <a:rPr lang="en-IN" sz="2400" b="1" dirty="0"/>
              <a:t>{</a:t>
            </a:r>
            <a:r>
              <a:rPr lang="en-IN" sz="2400" b="1" dirty="0" err="1"/>
              <a:t>RollNo</a:t>
            </a:r>
            <a:r>
              <a:rPr lang="en-IN" sz="2400" b="1" dirty="0"/>
              <a:t>, </a:t>
            </a:r>
            <a:r>
              <a:rPr lang="en-IN" sz="2400" b="1" dirty="0" err="1"/>
              <a:t>StudentName</a:t>
            </a:r>
            <a:r>
              <a:rPr lang="en-IN" sz="2400" b="1" dirty="0"/>
              <a:t>} → </a:t>
            </a:r>
            <a:r>
              <a:rPr lang="en-IN" sz="2400" b="1" dirty="0" err="1"/>
              <a:t>RollNo</a:t>
            </a:r>
            <a:endParaRPr lang="en-IN" sz="2400" dirty="0"/>
          </a:p>
          <a:p>
            <a:pPr>
              <a:buFont typeface="Wingdings" panose="05000000000000000000" pitchFamily="2" charset="2"/>
              <a:buChar char="§"/>
            </a:pPr>
            <a:r>
              <a:rPr lang="en-IN" sz="2400" dirty="0"/>
              <a:t>Here, </a:t>
            </a:r>
            <a:r>
              <a:rPr lang="en-IN" dirty="0" err="1"/>
              <a:t>RollNo</a:t>
            </a:r>
            <a:r>
              <a:rPr lang="en-IN" sz="2400" dirty="0"/>
              <a:t> is already present on the left side.</a:t>
            </a:r>
          </a:p>
          <a:p>
            <a:pPr>
              <a:buFont typeface="Wingdings" panose="05000000000000000000" pitchFamily="2" charset="2"/>
              <a:buChar char="§"/>
            </a:pPr>
            <a:r>
              <a:rPr lang="en-IN" sz="2400" dirty="0"/>
              <a:t>Therefore, it is a </a:t>
            </a:r>
            <a:r>
              <a:rPr lang="en-IN" sz="2400" b="1" dirty="0"/>
              <a:t>trivial FD</a:t>
            </a:r>
            <a:r>
              <a:rPr lang="en-IN" sz="2400" dirty="0"/>
              <a:t>.</a:t>
            </a:r>
          </a:p>
          <a:p>
            <a:pPr>
              <a:buFont typeface="Wingdings" panose="05000000000000000000" pitchFamily="2" charset="2"/>
              <a:buChar char="§"/>
            </a:pPr>
            <a:endParaRPr lang="en-IN" sz="2400" dirty="0"/>
          </a:p>
          <a:p>
            <a:pPr>
              <a:buFont typeface="Wingdings" panose="05000000000000000000" pitchFamily="2" charset="2"/>
              <a:buChar char="§"/>
            </a:pPr>
            <a:r>
              <a:rPr lang="en-IN" sz="2400" b="1" dirty="0">
                <a:solidFill>
                  <a:srgbClr val="FF0000"/>
                </a:solidFill>
              </a:rPr>
              <a:t>Example-3: </a:t>
            </a:r>
          </a:p>
          <a:p>
            <a:pPr>
              <a:buFont typeface="Wingdings" panose="05000000000000000000" pitchFamily="2" charset="2"/>
              <a:buChar char="§"/>
            </a:pPr>
            <a:r>
              <a:rPr lang="en-IN" sz="2400" dirty="0"/>
              <a:t>Suppose: </a:t>
            </a:r>
            <a:r>
              <a:rPr lang="en-IN" sz="2400" b="1" dirty="0"/>
              <a:t>{</a:t>
            </a:r>
            <a:r>
              <a:rPr lang="en-IN" sz="2400" b="1" dirty="0" err="1"/>
              <a:t>EmpID</a:t>
            </a:r>
            <a:r>
              <a:rPr lang="en-IN" sz="2400" b="1" dirty="0"/>
              <a:t>, </a:t>
            </a:r>
            <a:r>
              <a:rPr lang="en-IN" sz="2400" b="1" dirty="0" err="1"/>
              <a:t>DeptNo</a:t>
            </a:r>
            <a:r>
              <a:rPr lang="en-IN" sz="2400" b="1" dirty="0"/>
              <a:t>} → {</a:t>
            </a:r>
            <a:r>
              <a:rPr lang="en-IN" sz="2400" b="1" dirty="0" err="1"/>
              <a:t>EmpID</a:t>
            </a:r>
            <a:r>
              <a:rPr lang="en-IN" sz="2400" b="1" dirty="0"/>
              <a:t>, </a:t>
            </a:r>
            <a:r>
              <a:rPr lang="en-IN" sz="2400" b="1" dirty="0" err="1"/>
              <a:t>DeptNo</a:t>
            </a:r>
            <a:r>
              <a:rPr lang="en-IN" sz="2400" b="1" dirty="0"/>
              <a:t>}</a:t>
            </a:r>
            <a:endParaRPr lang="en-IN" sz="2400" dirty="0"/>
          </a:p>
          <a:p>
            <a:pPr>
              <a:buFont typeface="Wingdings" panose="05000000000000000000" pitchFamily="2" charset="2"/>
              <a:buChar char="§"/>
            </a:pPr>
            <a:r>
              <a:rPr lang="en-IN" sz="2400" dirty="0"/>
              <a:t>Both attributes on the RHS are already present on the LHS.</a:t>
            </a:r>
          </a:p>
          <a:p>
            <a:pPr>
              <a:buFont typeface="Wingdings" panose="05000000000000000000" pitchFamily="2" charset="2"/>
              <a:buChar char="§"/>
            </a:pPr>
            <a:r>
              <a:rPr lang="en-IN" sz="2400" dirty="0"/>
              <a:t>Therefore, it is a </a:t>
            </a:r>
            <a:r>
              <a:rPr lang="en-IN" sz="2400" b="1" dirty="0"/>
              <a:t>trivial FD</a:t>
            </a:r>
            <a:r>
              <a:rPr lang="en-IN" sz="2400" dirty="0"/>
              <a:t>.</a:t>
            </a:r>
          </a:p>
          <a:p>
            <a:endParaRPr lang="en-IN" sz="2400" b="1" dirty="0">
              <a:solidFill>
                <a:srgbClr val="FF0000"/>
              </a:solidFill>
            </a:endParaRPr>
          </a:p>
          <a:p>
            <a:endParaRPr lang="en-IN" sz="240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91009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17E21-FC85-FC99-6546-C7DBDE673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0F8DD-EC0F-6EAD-5674-A9ECBE807938}"/>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74A547B5-2517-3C0C-BC2E-8573272FE44C}"/>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Non - Trivial Functional Dependency:</a:t>
            </a:r>
          </a:p>
          <a:p>
            <a:pPr algn="just">
              <a:buFont typeface="Wingdings" panose="05000000000000000000" pitchFamily="2" charset="2"/>
              <a:buChar char="§"/>
            </a:pPr>
            <a:r>
              <a:rPr lang="en-IN" sz="2500" dirty="0"/>
              <a:t>A </a:t>
            </a:r>
            <a:r>
              <a:rPr lang="en-IN" sz="2500" b="1" dirty="0"/>
              <a:t>Non-Trivial Functional Dependency (FD)</a:t>
            </a:r>
            <a:r>
              <a:rPr lang="en-IN" sz="2500" dirty="0"/>
              <a:t> is a functional dependency where </a:t>
            </a:r>
            <a:r>
              <a:rPr lang="en-IN" sz="2500" b="1" dirty="0"/>
              <a:t>at least one attribute on the right-hand side (RHS) is NOT present on the left-hand side (LHS)</a:t>
            </a:r>
            <a:r>
              <a:rPr lang="en-IN" sz="2500" dirty="0"/>
              <a:t>.</a:t>
            </a:r>
          </a:p>
          <a:p>
            <a:pPr algn="just">
              <a:buFont typeface="Wingdings" panose="05000000000000000000" pitchFamily="2" charset="2"/>
              <a:buChar char="§"/>
            </a:pPr>
            <a:r>
              <a:rPr lang="en-IN" sz="2500" dirty="0"/>
              <a:t>In Non-trivial functional dependency, the dependent is strictly not a subset of the determinant. i.e. If X → Y and Y is not a subset of X, then it is called Non-trivial functional dependency.</a:t>
            </a:r>
          </a:p>
          <a:p>
            <a:pPr algn="just">
              <a:buFont typeface="Wingdings" panose="05000000000000000000" pitchFamily="2" charset="2"/>
              <a:buChar char="§"/>
            </a:pPr>
            <a:r>
              <a:rPr lang="en-IN" sz="2500" dirty="0"/>
              <a:t>In simple words: If the RHS contains an attribute that is </a:t>
            </a:r>
            <a:r>
              <a:rPr lang="en-IN" sz="2500" b="1" dirty="0"/>
              <a:t>not already present</a:t>
            </a:r>
            <a:r>
              <a:rPr lang="en-IN" sz="2500" dirty="0"/>
              <a:t> in the LHS, the FD is </a:t>
            </a:r>
            <a:r>
              <a:rPr lang="en-IN" sz="2500" b="1" dirty="0"/>
              <a:t>non-trivial</a:t>
            </a:r>
            <a:r>
              <a:rPr lang="en-IN" sz="2500" dirty="0"/>
              <a:t>.</a:t>
            </a:r>
          </a:p>
          <a:p>
            <a:pPr algn="just">
              <a:buFont typeface="Wingdings" panose="05000000000000000000" pitchFamily="2" charset="2"/>
              <a:buChar char="§"/>
            </a:pPr>
            <a:r>
              <a:rPr lang="en-IN" sz="2500" b="1" dirty="0">
                <a:solidFill>
                  <a:srgbClr val="FF0000"/>
                </a:solidFill>
              </a:rPr>
              <a:t>Example-1:</a:t>
            </a:r>
          </a:p>
          <a:p>
            <a:pPr>
              <a:buFont typeface="Wingdings" panose="05000000000000000000" pitchFamily="2" charset="2"/>
              <a:buChar char="§"/>
            </a:pPr>
            <a:r>
              <a:rPr lang="en-IN" sz="2500" dirty="0"/>
              <a:t>Suppose: </a:t>
            </a:r>
            <a:r>
              <a:rPr lang="en-IN" sz="2500" b="1" dirty="0" err="1"/>
              <a:t>EmpID</a:t>
            </a:r>
            <a:r>
              <a:rPr lang="en-IN" sz="2500" b="1" dirty="0"/>
              <a:t> → </a:t>
            </a:r>
            <a:r>
              <a:rPr lang="en-IN" sz="2500" b="1" dirty="0" err="1"/>
              <a:t>EmpName</a:t>
            </a:r>
            <a:endParaRPr lang="en-IN" sz="2500" dirty="0"/>
          </a:p>
          <a:p>
            <a:pPr>
              <a:buFont typeface="Wingdings" panose="05000000000000000000" pitchFamily="2" charset="2"/>
              <a:buChar char="§"/>
            </a:pPr>
            <a:r>
              <a:rPr lang="en-IN" sz="2500" dirty="0"/>
              <a:t>Here: LHS = </a:t>
            </a:r>
            <a:r>
              <a:rPr lang="en-IN" sz="2500" dirty="0" err="1"/>
              <a:t>EmpID</a:t>
            </a:r>
            <a:r>
              <a:rPr lang="en-IN" sz="2500" dirty="0"/>
              <a:t>  &amp; RHS = </a:t>
            </a:r>
            <a:r>
              <a:rPr lang="en-IN" sz="2500" dirty="0" err="1"/>
              <a:t>EmpName</a:t>
            </a:r>
            <a:r>
              <a:rPr lang="en-IN" sz="2500" dirty="0"/>
              <a:t> </a:t>
            </a:r>
          </a:p>
          <a:p>
            <a:pPr lvl="0">
              <a:buFont typeface="Wingdings" panose="05000000000000000000" pitchFamily="2" charset="2"/>
              <a:buChar char="§"/>
            </a:pPr>
            <a:r>
              <a:rPr lang="en-IN" sz="2500" dirty="0" err="1"/>
              <a:t>EmpName</a:t>
            </a:r>
            <a:r>
              <a:rPr lang="en-IN" sz="2500" dirty="0"/>
              <a:t> is </a:t>
            </a:r>
            <a:r>
              <a:rPr lang="en-IN" sz="2500" b="1" dirty="0"/>
              <a:t>not present</a:t>
            </a:r>
            <a:r>
              <a:rPr lang="en-IN" sz="2500" dirty="0"/>
              <a:t> in LHS</a:t>
            </a:r>
            <a:r>
              <a:rPr lang="en-IN" sz="2400" dirty="0"/>
              <a:t>. </a:t>
            </a:r>
          </a:p>
          <a:p>
            <a:pPr algn="just">
              <a:buFont typeface="Wingdings" panose="05000000000000000000" pitchFamily="2" charset="2"/>
              <a:buChar char="§"/>
            </a:pPr>
            <a:endParaRPr lang="en-IN" sz="2500" b="1" dirty="0">
              <a:solidFill>
                <a:srgbClr val="FF0000"/>
              </a:solidFill>
            </a:endParaRPr>
          </a:p>
          <a:p>
            <a:pPr algn="just">
              <a:buFont typeface="Wingdings" panose="05000000000000000000" pitchFamily="2" charset="2"/>
              <a:buChar char="§"/>
            </a:pPr>
            <a:endParaRPr lang="en-IN" b="1" dirty="0">
              <a:solidFill>
                <a:srgbClr val="FF0000"/>
              </a:solidFill>
            </a:endParaRPr>
          </a:p>
          <a:p>
            <a:endParaRPr lang="en-IN" sz="2400" b="1" dirty="0">
              <a:solidFill>
                <a:srgbClr val="FF0000"/>
              </a:solidFill>
            </a:endParaRPr>
          </a:p>
          <a:p>
            <a:endParaRPr lang="en-IN" sz="240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2333752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D40FB-81B0-EDA8-FD39-B197BB993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6FF57-FC95-F6DC-D43A-C14BFAA532A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18D2998C-1912-21C8-295F-626F29A4FF57}"/>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Non - Trivial Functional Dependency:</a:t>
            </a:r>
          </a:p>
          <a:p>
            <a:pPr>
              <a:buFont typeface="Wingdings" panose="05000000000000000000" pitchFamily="2" charset="2"/>
              <a:buChar char="§"/>
            </a:pPr>
            <a:r>
              <a:rPr lang="en-IN" sz="2500" dirty="0"/>
              <a:t>Therefore: </a:t>
            </a:r>
            <a:r>
              <a:rPr lang="en-IN" sz="2500" b="1" dirty="0" err="1"/>
              <a:t>EmpID</a:t>
            </a:r>
            <a:r>
              <a:rPr lang="en-IN" sz="2500" b="1" dirty="0"/>
              <a:t> → </a:t>
            </a:r>
            <a:r>
              <a:rPr lang="en-IN" sz="2500" b="1" dirty="0" err="1"/>
              <a:t>EmpName</a:t>
            </a:r>
            <a:r>
              <a:rPr lang="en-IN" sz="2500" dirty="0"/>
              <a:t> is a </a:t>
            </a:r>
            <a:r>
              <a:rPr lang="en-IN" sz="2500" b="1" dirty="0"/>
              <a:t>Non-Trivial FD</a:t>
            </a:r>
            <a:r>
              <a:rPr lang="en-IN" sz="2500" dirty="0"/>
              <a:t>.</a:t>
            </a:r>
          </a:p>
          <a:p>
            <a:pPr>
              <a:buFont typeface="Wingdings" panose="05000000000000000000" pitchFamily="2" charset="2"/>
              <a:buChar char="§"/>
            </a:pPr>
            <a:r>
              <a:rPr lang="en-IN" sz="2500" dirty="0"/>
              <a:t>It means </a:t>
            </a:r>
            <a:r>
              <a:rPr lang="en-IN" sz="2500" b="1" dirty="0" err="1"/>
              <a:t>EmpID</a:t>
            </a:r>
            <a:r>
              <a:rPr lang="en-IN" sz="2500" b="1" dirty="0"/>
              <a:t> determines </a:t>
            </a:r>
            <a:r>
              <a:rPr lang="en-IN" sz="2500" b="1" dirty="0" err="1"/>
              <a:t>EmpName</a:t>
            </a:r>
            <a:r>
              <a:rPr lang="en-IN" sz="2500" dirty="0"/>
              <a:t>.</a:t>
            </a:r>
          </a:p>
          <a:p>
            <a:pPr>
              <a:buFont typeface="Wingdings" panose="05000000000000000000" pitchFamily="2" charset="2"/>
              <a:buChar char="§"/>
            </a:pPr>
            <a:endParaRPr lang="en-IN" dirty="0"/>
          </a:p>
          <a:p>
            <a:pPr algn="just">
              <a:buFont typeface="Wingdings" panose="05000000000000000000" pitchFamily="2" charset="2"/>
              <a:buChar char="§"/>
            </a:pPr>
            <a:r>
              <a:rPr lang="en-IN" sz="2500" b="1" dirty="0">
                <a:solidFill>
                  <a:srgbClr val="FF0000"/>
                </a:solidFill>
              </a:rPr>
              <a:t>Example-2:</a:t>
            </a:r>
          </a:p>
          <a:p>
            <a:pPr>
              <a:buFont typeface="Wingdings" panose="05000000000000000000" pitchFamily="2" charset="2"/>
              <a:buChar char="§"/>
            </a:pPr>
            <a:r>
              <a:rPr lang="en-IN" sz="2400" dirty="0"/>
              <a:t>Suppose: </a:t>
            </a:r>
            <a:r>
              <a:rPr lang="en-IN" sz="2400" b="1" dirty="0" err="1"/>
              <a:t>RollNo</a:t>
            </a:r>
            <a:r>
              <a:rPr lang="en-IN" sz="2400" b="1" dirty="0"/>
              <a:t> → </a:t>
            </a:r>
            <a:r>
              <a:rPr lang="en-IN" sz="2400" b="1" dirty="0" err="1"/>
              <a:t>StudentName</a:t>
            </a:r>
            <a:r>
              <a:rPr lang="en-IN" sz="2400" b="1" dirty="0"/>
              <a:t>, Department</a:t>
            </a:r>
            <a:endParaRPr lang="en-IN" sz="2400" dirty="0"/>
          </a:p>
          <a:p>
            <a:pPr>
              <a:buFont typeface="Wingdings" panose="05000000000000000000" pitchFamily="2" charset="2"/>
              <a:buChar char="§"/>
            </a:pPr>
            <a:r>
              <a:rPr lang="en-IN" sz="2400" dirty="0"/>
              <a:t>Here: LHS = </a:t>
            </a:r>
            <a:r>
              <a:rPr lang="en-IN" dirty="0"/>
              <a:t>{</a:t>
            </a:r>
            <a:r>
              <a:rPr lang="en-IN" dirty="0" err="1"/>
              <a:t>RollNo</a:t>
            </a:r>
            <a:r>
              <a:rPr lang="en-IN" dirty="0"/>
              <a:t>}</a:t>
            </a:r>
            <a:r>
              <a:rPr lang="en-IN" sz="2400" dirty="0"/>
              <a:t> &amp; RHS = </a:t>
            </a:r>
            <a:r>
              <a:rPr lang="en-IN" dirty="0"/>
              <a:t>{</a:t>
            </a:r>
            <a:r>
              <a:rPr lang="en-IN" dirty="0" err="1"/>
              <a:t>StudentName</a:t>
            </a:r>
            <a:r>
              <a:rPr lang="en-IN" dirty="0"/>
              <a:t>, Department}</a:t>
            </a:r>
            <a:r>
              <a:rPr lang="en-IN" sz="2400" dirty="0"/>
              <a:t> </a:t>
            </a:r>
          </a:p>
          <a:p>
            <a:pPr lvl="0">
              <a:buFont typeface="Wingdings" panose="05000000000000000000" pitchFamily="2" charset="2"/>
              <a:buChar char="§"/>
            </a:pPr>
            <a:r>
              <a:rPr lang="en-IN" sz="2400" dirty="0"/>
              <a:t>Neither </a:t>
            </a:r>
            <a:r>
              <a:rPr lang="en-IN" dirty="0" err="1"/>
              <a:t>StudentName</a:t>
            </a:r>
            <a:r>
              <a:rPr lang="en-IN" sz="2400" dirty="0"/>
              <a:t> nor </a:t>
            </a:r>
            <a:r>
              <a:rPr lang="en-IN" dirty="0"/>
              <a:t>Department</a:t>
            </a:r>
            <a:r>
              <a:rPr lang="en-IN" sz="2400" dirty="0"/>
              <a:t> is present in LHS. </a:t>
            </a:r>
          </a:p>
          <a:p>
            <a:pPr>
              <a:buFont typeface="Wingdings" panose="05000000000000000000" pitchFamily="2" charset="2"/>
              <a:buChar char="§"/>
            </a:pPr>
            <a:r>
              <a:rPr lang="en-IN" sz="2400" dirty="0"/>
              <a:t>Therefore: </a:t>
            </a:r>
            <a:r>
              <a:rPr lang="en-IN" sz="2400" b="1" dirty="0" err="1"/>
              <a:t>RollNo</a:t>
            </a:r>
            <a:r>
              <a:rPr lang="en-IN" sz="2400" b="1" dirty="0"/>
              <a:t> → {</a:t>
            </a:r>
            <a:r>
              <a:rPr lang="en-IN" sz="2400" b="1" dirty="0" err="1"/>
              <a:t>StudentName</a:t>
            </a:r>
            <a:r>
              <a:rPr lang="en-IN" sz="2400" b="1" dirty="0"/>
              <a:t>, Department}</a:t>
            </a:r>
            <a:r>
              <a:rPr lang="en-IN" sz="2400" dirty="0"/>
              <a:t> is a </a:t>
            </a:r>
            <a:r>
              <a:rPr lang="en-IN" sz="2400" b="1" dirty="0"/>
              <a:t>Non-Trivial FD</a:t>
            </a:r>
            <a:r>
              <a:rPr lang="en-IN" sz="2400" dirty="0"/>
              <a:t>.</a:t>
            </a:r>
          </a:p>
          <a:p>
            <a:pPr algn="just">
              <a:buFont typeface="Wingdings" panose="05000000000000000000" pitchFamily="2" charset="2"/>
              <a:buChar char="§"/>
            </a:pPr>
            <a:endParaRPr lang="en-IN" sz="2500" b="1" dirty="0">
              <a:solidFill>
                <a:srgbClr val="FF0000"/>
              </a:solidFill>
            </a:endParaRPr>
          </a:p>
          <a:p>
            <a:pPr algn="just">
              <a:buFont typeface="Wingdings" panose="05000000000000000000" pitchFamily="2" charset="2"/>
              <a:buChar char="§"/>
            </a:pPr>
            <a:endParaRPr lang="en-IN" b="1" dirty="0">
              <a:solidFill>
                <a:srgbClr val="FF0000"/>
              </a:solidFill>
            </a:endParaRPr>
          </a:p>
          <a:p>
            <a:endParaRPr lang="en-IN" sz="2400" b="1" dirty="0">
              <a:solidFill>
                <a:srgbClr val="FF0000"/>
              </a:solidFill>
            </a:endParaRPr>
          </a:p>
          <a:p>
            <a:endParaRPr lang="en-IN" sz="240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3297490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69C59-842C-AF36-FBEA-DBB56F913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07E31-04F8-0102-91AE-C90745737BAA}"/>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Functional Dependencies</a:t>
            </a:r>
            <a:endParaRPr lang="en-IN" sz="3200" b="1" dirty="0">
              <a:solidFill>
                <a:schemeClr val="bg1"/>
              </a:solidFill>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BEFDB6-7A89-7F73-D4BE-3659EB3D2EC1}"/>
                  </a:ext>
                </a:extLst>
              </p:cNvPr>
              <p:cNvSpPr>
                <a:spLocks noGrp="1"/>
              </p:cNvSpPr>
              <p:nvPr>
                <p:ph idx="1"/>
              </p:nvPr>
            </p:nvSpPr>
            <p:spPr>
              <a:xfrm>
                <a:off x="493161" y="996593"/>
                <a:ext cx="11239927" cy="5578297"/>
              </a:xfrm>
            </p:spPr>
            <p:txBody>
              <a:bodyPr>
                <a:noAutofit/>
              </a:bodyPr>
              <a:lstStyle/>
              <a:p>
                <a:pPr marL="0" indent="0" algn="just">
                  <a:lnSpc>
                    <a:spcPct val="100000"/>
                  </a:lnSpc>
                  <a:buNone/>
                </a:pPr>
                <a:r>
                  <a:rPr lang="en-IN" b="1" dirty="0">
                    <a:solidFill>
                      <a:srgbClr val="FF0000"/>
                    </a:solidFill>
                  </a:rPr>
                  <a:t>Semi Non - Trivial Functional Dependency:</a:t>
                </a:r>
              </a:p>
              <a:p>
                <a:pPr algn="just">
                  <a:buFont typeface="Wingdings" panose="05000000000000000000" pitchFamily="2" charset="2"/>
                  <a:buChar char="§"/>
                </a:pPr>
                <a:r>
                  <a:rPr lang="en-IN" sz="2550" dirty="0"/>
                  <a:t>A </a:t>
                </a:r>
                <a:r>
                  <a:rPr lang="en-IN" sz="2550" b="1" dirty="0"/>
                  <a:t>Semi-Non-Trivial Functional Dependency</a:t>
                </a:r>
                <a:r>
                  <a:rPr lang="en-IN" sz="2550" dirty="0"/>
                  <a:t> is a functional dependency where </a:t>
                </a:r>
                <a:r>
                  <a:rPr lang="en-IN" sz="2550" b="1" dirty="0"/>
                  <a:t>the LHS and RHS have some common attributes, but the RHS also contains at least one attribute that is not present in the LHS</a:t>
                </a:r>
                <a:r>
                  <a:rPr lang="en-IN" sz="2550" dirty="0"/>
                  <a:t>.</a:t>
                </a:r>
              </a:p>
              <a:p>
                <a:pPr algn="just">
                  <a:buFont typeface="Wingdings" panose="05000000000000000000" pitchFamily="2" charset="2"/>
                  <a:buChar char="§"/>
                </a:pPr>
                <a:r>
                  <a:rPr lang="en-IN" sz="2550" dirty="0"/>
                  <a:t>This is a middle ground between trivial and non-trivial functional dependencies. X -&gt; Y is called semi non-trivial when X intersect Y is not NULL. </a:t>
                </a:r>
              </a:p>
              <a:p>
                <a:pPr>
                  <a:buFont typeface="Wingdings" panose="05000000000000000000" pitchFamily="2" charset="2"/>
                  <a:buChar char="§"/>
                </a:pPr>
                <a:r>
                  <a:rPr lang="en-IN" sz="2550" b="1" dirty="0">
                    <a:solidFill>
                      <a:srgbClr val="FF0000"/>
                    </a:solidFill>
                  </a:rPr>
                  <a:t>Example-1:</a:t>
                </a:r>
                <a:r>
                  <a:rPr lang="en-IN" sz="2550" dirty="0"/>
                  <a:t> Suppose: {</a:t>
                </a:r>
                <a:r>
                  <a:rPr lang="en-IN" sz="2550" dirty="0" err="1"/>
                  <a:t>EmpID</a:t>
                </a:r>
                <a:r>
                  <a:rPr lang="en-IN" sz="2550" dirty="0"/>
                  <a:t> , </a:t>
                </a:r>
                <a:r>
                  <a:rPr lang="en-IN" sz="2550" dirty="0" err="1"/>
                  <a:t>DeptNo</a:t>
                </a:r>
                <a:r>
                  <a:rPr lang="en-IN" sz="2550" dirty="0"/>
                  <a:t>}-&gt; {</a:t>
                </a:r>
                <a:r>
                  <a:rPr lang="en-IN" sz="2550" dirty="0" err="1"/>
                  <a:t>DeptNo</a:t>
                </a:r>
                <a:r>
                  <a:rPr lang="en-IN" sz="2550" dirty="0"/>
                  <a:t> , </a:t>
                </a:r>
                <a:r>
                  <a:rPr lang="en-IN" sz="2550" dirty="0" err="1"/>
                  <a:t>Dname</a:t>
                </a:r>
                <a:r>
                  <a:rPr lang="en-IN" sz="2550" dirty="0"/>
                  <a:t> }</a:t>
                </a:r>
              </a:p>
              <a:p>
                <a:pPr>
                  <a:buFont typeface="Wingdings" panose="05000000000000000000" pitchFamily="2" charset="2"/>
                  <a:buChar char="§"/>
                </a:pPr>
                <a:r>
                  <a:rPr lang="en-IN" sz="2550" dirty="0"/>
                  <a:t>Here: LHS = {</a:t>
                </a:r>
                <a:r>
                  <a:rPr lang="en-IN" sz="2550" dirty="0" err="1"/>
                  <a:t>EmpID</a:t>
                </a:r>
                <a:r>
                  <a:rPr lang="en-IN" sz="2550" dirty="0"/>
                  <a:t>, </a:t>
                </a:r>
                <a:r>
                  <a:rPr lang="en-IN" sz="2550" dirty="0" err="1"/>
                  <a:t>DeptNo</a:t>
                </a:r>
                <a:r>
                  <a:rPr lang="en-IN" sz="2550" dirty="0"/>
                  <a:t>} &amp; RHS = {</a:t>
                </a:r>
                <a:r>
                  <a:rPr lang="en-IN" sz="2550" dirty="0" err="1"/>
                  <a:t>DeptNo</a:t>
                </a:r>
                <a:r>
                  <a:rPr lang="en-IN" sz="2550" dirty="0"/>
                  <a:t>, </a:t>
                </a:r>
                <a:r>
                  <a:rPr lang="en-IN" sz="2550" dirty="0" err="1"/>
                  <a:t>Dname</a:t>
                </a:r>
                <a:r>
                  <a:rPr lang="en-IN" sz="2550" dirty="0"/>
                  <a:t>} </a:t>
                </a:r>
              </a:p>
              <a:p>
                <a:pPr lvl="0">
                  <a:buFont typeface="Wingdings" panose="05000000000000000000" pitchFamily="2" charset="2"/>
                  <a:buChar char="§"/>
                </a:pPr>
                <a:r>
                  <a:rPr lang="en-IN" sz="2550" dirty="0" err="1"/>
                  <a:t>DeptNo</a:t>
                </a:r>
                <a:r>
                  <a:rPr lang="en-IN" sz="2550" dirty="0"/>
                  <a:t> is present in </a:t>
                </a:r>
                <a:r>
                  <a:rPr lang="en-IN" sz="2550" b="1" dirty="0"/>
                  <a:t>both</a:t>
                </a:r>
                <a:r>
                  <a:rPr lang="en-IN" sz="2550" dirty="0"/>
                  <a:t> LHS and RHS. </a:t>
                </a:r>
              </a:p>
              <a:p>
                <a:pPr lvl="0">
                  <a:buFont typeface="Wingdings" panose="05000000000000000000" pitchFamily="2" charset="2"/>
                  <a:buChar char="§"/>
                </a:pPr>
                <a:r>
                  <a:rPr lang="en-IN" sz="2550" dirty="0" err="1"/>
                  <a:t>Dname</a:t>
                </a:r>
                <a:r>
                  <a:rPr lang="en-IN" sz="2550" dirty="0"/>
                  <a:t> is </a:t>
                </a:r>
                <a:r>
                  <a:rPr lang="en-IN" sz="2550" b="1" dirty="0"/>
                  <a:t>not</a:t>
                </a:r>
                <a:r>
                  <a:rPr lang="en-IN" sz="2550" dirty="0"/>
                  <a:t> present in LHS. </a:t>
                </a:r>
              </a:p>
              <a:p>
                <a:pPr>
                  <a:buFont typeface="Wingdings" panose="05000000000000000000" pitchFamily="2" charset="2"/>
                  <a:buChar char="§"/>
                </a:pPr>
                <a:r>
                  <a:rPr lang="en-IN" sz="2550" dirty="0"/>
                  <a:t>Therefore: </a:t>
                </a:r>
                <a14:m>
                  <m:oMath xmlns:m="http://schemas.openxmlformats.org/officeDocument/2006/math">
                    <m:borderBox>
                      <m:borderBoxPr>
                        <m:ctrlPr>
                          <a:rPr lang="en-US" sz="2550" b="0" i="1" smtClean="0">
                            <a:latin typeface="Cambria Math" panose="02040503050406030204" pitchFamily="18" charset="0"/>
                          </a:rPr>
                        </m:ctrlPr>
                      </m:borderBoxPr>
                      <m:e>
                        <m:d>
                          <m:dPr>
                            <m:begChr m:val="{"/>
                            <m:endChr m:val="}"/>
                            <m:ctrlPr>
                              <a:rPr lang="en-US" sz="2550" b="0" i="0" smtClean="0">
                                <a:latin typeface="Cambria Math" panose="02040503050406030204" pitchFamily="18" charset="0"/>
                              </a:rPr>
                            </m:ctrlPr>
                          </m:dPr>
                          <m:e>
                            <m:r>
                              <m:rPr>
                                <m:sty m:val="p"/>
                              </m:rPr>
                              <a:rPr lang="en-US" sz="2550" b="0" i="0" smtClean="0">
                                <a:latin typeface="Cambria Math" panose="02040503050406030204" pitchFamily="18" charset="0"/>
                              </a:rPr>
                              <m:t>EmpID</m:t>
                            </m:r>
                            <m:r>
                              <a:rPr lang="en-US" sz="2550" b="0" i="0" smtClean="0">
                                <a:latin typeface="Cambria Math" panose="02040503050406030204" pitchFamily="18" charset="0"/>
                              </a:rPr>
                              <m:t>,</m:t>
                            </m:r>
                            <m:r>
                              <m:rPr>
                                <m:sty m:val="p"/>
                              </m:rPr>
                              <a:rPr lang="en-US" sz="2550" b="0" i="0" smtClean="0">
                                <a:latin typeface="Cambria Math" panose="02040503050406030204" pitchFamily="18" charset="0"/>
                              </a:rPr>
                              <m:t>DeptNo</m:t>
                            </m:r>
                          </m:e>
                        </m:d>
                        <m:r>
                          <a:rPr lang="en-IN" sz="2550">
                            <a:latin typeface="Cambria Math" panose="02040503050406030204" pitchFamily="18" charset="0"/>
                          </a:rPr>
                          <m:t>→</m:t>
                        </m:r>
                        <m:r>
                          <a:rPr lang="en-US" sz="2550" b="0" i="1" smtClean="0">
                            <a:latin typeface="Cambria Math" panose="02040503050406030204" pitchFamily="18" charset="0"/>
                          </a:rPr>
                          <m:t>{</m:t>
                        </m:r>
                        <m:r>
                          <a:rPr lang="en-US" sz="2550" b="0" i="1" smtClean="0">
                            <a:latin typeface="Cambria Math" panose="02040503050406030204" pitchFamily="18" charset="0"/>
                          </a:rPr>
                          <m:t>𝐷𝑒𝑝𝑡𝑁𝑜</m:t>
                        </m:r>
                        <m:r>
                          <a:rPr lang="en-US" sz="2550" b="0" i="1" smtClean="0">
                            <a:latin typeface="Cambria Math" panose="02040503050406030204" pitchFamily="18" charset="0"/>
                          </a:rPr>
                          <m:t>, </m:t>
                        </m:r>
                        <m:r>
                          <a:rPr lang="en-US" sz="2550" b="0" i="1" smtClean="0">
                            <a:latin typeface="Cambria Math" panose="02040503050406030204" pitchFamily="18" charset="0"/>
                          </a:rPr>
                          <m:t>𝐷𝑛𝑎𝑚𝑒</m:t>
                        </m:r>
                        <m:r>
                          <a:rPr lang="en-US" sz="2550" b="0" i="1" smtClean="0">
                            <a:latin typeface="Cambria Math" panose="02040503050406030204" pitchFamily="18" charset="0"/>
                          </a:rPr>
                          <m:t>}</m:t>
                        </m:r>
                      </m:e>
                    </m:borderBox>
                  </m:oMath>
                </a14:m>
                <a:r>
                  <a:rPr lang="en-IN" sz="2550" dirty="0"/>
                  <a:t> is a </a:t>
                </a:r>
                <a:r>
                  <a:rPr lang="en-IN" sz="2550" b="1" dirty="0"/>
                  <a:t>Semi-Non-Trivial FD</a:t>
                </a:r>
                <a:r>
                  <a:rPr lang="en-IN" sz="2550" dirty="0"/>
                  <a:t>.</a:t>
                </a:r>
              </a:p>
              <a:p>
                <a:pPr algn="just">
                  <a:buFont typeface="Wingdings" panose="05000000000000000000" pitchFamily="2" charset="2"/>
                  <a:buChar char="§"/>
                </a:pPr>
                <a:endParaRPr lang="en-IN" b="1" dirty="0">
                  <a:solidFill>
                    <a:srgbClr val="FF0000"/>
                  </a:solidFill>
                </a:endParaRPr>
              </a:p>
              <a:p>
                <a:endParaRPr lang="en-IN" sz="240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mc:Choice>
        <mc:Fallback xmlns="">
          <p:sp>
            <p:nvSpPr>
              <p:cNvPr id="3" name="Content Placeholder 2">
                <a:extLst>
                  <a:ext uri="{FF2B5EF4-FFF2-40B4-BE49-F238E27FC236}">
                    <a16:creationId xmlns:a16="http://schemas.microsoft.com/office/drawing/2014/main" id="{1DBEFDB6-7A89-7F73-D4BE-3659EB3D2EC1}"/>
                  </a:ext>
                </a:extLst>
              </p:cNvPr>
              <p:cNvSpPr>
                <a:spLocks noGrp="1" noRot="1" noChangeAspect="1" noMove="1" noResize="1" noEditPoints="1" noAdjustHandles="1" noChangeArrowheads="1" noChangeShapeType="1" noTextEdit="1"/>
              </p:cNvSpPr>
              <p:nvPr>
                <p:ph idx="1"/>
              </p:nvPr>
            </p:nvSpPr>
            <p:spPr>
              <a:xfrm>
                <a:off x="493161" y="996593"/>
                <a:ext cx="11239927" cy="5578297"/>
              </a:xfrm>
              <a:blipFill>
                <a:blip r:embed="rId2"/>
                <a:stretch>
                  <a:fillRect l="-1139" t="-983" r="-922"/>
                </a:stretch>
              </a:blipFill>
            </p:spPr>
            <p:txBody>
              <a:bodyPr/>
              <a:lstStyle/>
              <a:p>
                <a:r>
                  <a:rPr lang="en-IN">
                    <a:noFill/>
                  </a:rPr>
                  <a:t> </a:t>
                </a:r>
              </a:p>
            </p:txBody>
          </p:sp>
        </mc:Fallback>
      </mc:AlternateContent>
    </p:spTree>
    <p:extLst>
      <p:ext uri="{BB962C8B-B14F-4D97-AF65-F5344CB8AC3E}">
        <p14:creationId xmlns:p14="http://schemas.microsoft.com/office/powerpoint/2010/main" val="1958330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7F9A-DB55-C558-7D51-F10558C02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2967B-07BF-2235-4F4F-EA4C39431C65}"/>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ECCD0D6B-3DC2-76BF-EF9E-53A28E17AAAE}"/>
              </a:ext>
            </a:extLst>
          </p:cNvPr>
          <p:cNvSpPr>
            <a:spLocks noGrp="1"/>
          </p:cNvSpPr>
          <p:nvPr>
            <p:ph idx="1"/>
          </p:nvPr>
        </p:nvSpPr>
        <p:spPr>
          <a:xfrm>
            <a:off x="493161" y="996593"/>
            <a:ext cx="11239927" cy="5578297"/>
          </a:xfrm>
        </p:spPr>
        <p:txBody>
          <a:bodyPr>
            <a:noAutofit/>
          </a:bodyPr>
          <a:lstStyle/>
          <a:p>
            <a:pPr marL="0" indent="0" algn="just">
              <a:lnSpc>
                <a:spcPct val="100000"/>
              </a:lnSpc>
              <a:buNone/>
            </a:pPr>
            <a:endParaRPr lang="en-IN" b="1" dirty="0">
              <a:solidFill>
                <a:srgbClr val="FF0000"/>
              </a:solidFill>
            </a:endParaRPr>
          </a:p>
          <a:p>
            <a:endParaRPr lang="en-IN" sz="240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
        <p:nvSpPr>
          <p:cNvPr id="4" name="TextBox 3">
            <a:extLst>
              <a:ext uri="{FF2B5EF4-FFF2-40B4-BE49-F238E27FC236}">
                <a16:creationId xmlns:a16="http://schemas.microsoft.com/office/drawing/2014/main" id="{31D7E08E-A1D0-E7E0-384B-F003A07D90CA}"/>
              </a:ext>
            </a:extLst>
          </p:cNvPr>
          <p:cNvSpPr txBox="1"/>
          <p:nvPr/>
        </p:nvSpPr>
        <p:spPr>
          <a:xfrm>
            <a:off x="493160" y="996593"/>
            <a:ext cx="11205679" cy="5586145"/>
          </a:xfrm>
          <a:prstGeom prst="rect">
            <a:avLst/>
          </a:prstGeom>
          <a:noFill/>
        </p:spPr>
        <p:txBody>
          <a:bodyPr wrap="square" rtlCol="0">
            <a:spAutoFit/>
          </a:bodyPr>
          <a:lstStyle/>
          <a:p>
            <a:pPr marL="457200" indent="-457200" algn="just">
              <a:buFont typeface="Wingdings" panose="05000000000000000000" pitchFamily="2" charset="2"/>
              <a:buChar char="§"/>
            </a:pPr>
            <a:r>
              <a:rPr lang="en-IN" sz="2650" b="1" dirty="0">
                <a:solidFill>
                  <a:srgbClr val="FF0000"/>
                </a:solidFill>
              </a:rPr>
              <a:t>Normalization:</a:t>
            </a:r>
            <a:r>
              <a:rPr lang="en-IN" sz="2550" b="1" dirty="0">
                <a:solidFill>
                  <a:srgbClr val="FF0000"/>
                </a:solidFill>
              </a:rPr>
              <a:t> </a:t>
            </a:r>
            <a:r>
              <a:rPr lang="en-IN" sz="2550" dirty="0"/>
              <a:t>It</a:t>
            </a:r>
            <a:r>
              <a:rPr lang="en-IN" sz="2550" b="1" dirty="0">
                <a:solidFill>
                  <a:srgbClr val="FF0000"/>
                </a:solidFill>
              </a:rPr>
              <a:t> </a:t>
            </a:r>
            <a:r>
              <a:rPr lang="en-IN" sz="2550" dirty="0"/>
              <a:t>is a systematic approach of decomposing tables to eliminate data redundancy and undesirable characteristics like insertion. deletion and modification. </a:t>
            </a:r>
          </a:p>
          <a:p>
            <a:pPr marL="457200" indent="-457200" algn="just">
              <a:buFont typeface="Wingdings" panose="05000000000000000000" pitchFamily="2" charset="2"/>
              <a:buChar char="§"/>
            </a:pPr>
            <a:r>
              <a:rPr lang="en-IN" sz="2550" dirty="0"/>
              <a:t>The poor database design gives rise to many anomalies. This anomalies can be avoided by a process called Decomposition process or </a:t>
            </a:r>
            <a:r>
              <a:rPr lang="en-IN" sz="2550" b="1" dirty="0"/>
              <a:t>“Normalization”. </a:t>
            </a:r>
          </a:p>
          <a:p>
            <a:pPr marL="457200" indent="-457200" algn="just">
              <a:buFont typeface="Wingdings" panose="05000000000000000000" pitchFamily="2" charset="2"/>
              <a:buChar char="§"/>
            </a:pPr>
            <a:r>
              <a:rPr lang="en-IN" sz="2550" dirty="0"/>
              <a:t>The guidelines for constructing relation scheme having desirable property and avoiding anomalies are called normal forms. </a:t>
            </a:r>
          </a:p>
          <a:p>
            <a:pPr marL="457200" indent="-457200" algn="just">
              <a:buFont typeface="Wingdings" panose="05000000000000000000" pitchFamily="2" charset="2"/>
              <a:buChar char="§"/>
            </a:pPr>
            <a:r>
              <a:rPr lang="en-IN" sz="2550" dirty="0"/>
              <a:t>Normalization is a process of designing the scheme in an appropriate normal from that can allow to retrieve information easily.</a:t>
            </a:r>
          </a:p>
          <a:p>
            <a:pPr marL="457200" indent="-457200" algn="just">
              <a:buFont typeface="Wingdings" panose="05000000000000000000" pitchFamily="2" charset="2"/>
              <a:buChar char="§"/>
            </a:pPr>
            <a:r>
              <a:rPr lang="en-IN" sz="2550" b="1" dirty="0"/>
              <a:t>Advantages of normalization </a:t>
            </a:r>
            <a:endParaRPr lang="en-IN" sz="2550" dirty="0"/>
          </a:p>
          <a:p>
            <a:r>
              <a:rPr lang="en-IN" sz="2550" dirty="0"/>
              <a:t>       &gt; Improve database design. </a:t>
            </a:r>
          </a:p>
          <a:p>
            <a:r>
              <a:rPr lang="en-IN" sz="2550" dirty="0"/>
              <a:t>       &gt; Ensures minimum redundancy of data. </a:t>
            </a:r>
          </a:p>
          <a:p>
            <a:r>
              <a:rPr lang="en-IN" sz="2550" dirty="0"/>
              <a:t>       &gt; Removes anomalies for database activity. </a:t>
            </a:r>
          </a:p>
          <a:p>
            <a:r>
              <a:rPr lang="en-IN" sz="2550" dirty="0"/>
              <a:t>       &gt; Eliminate the problems of flow data querying and using memory space usage.</a:t>
            </a:r>
          </a:p>
        </p:txBody>
      </p:sp>
    </p:spTree>
    <p:extLst>
      <p:ext uri="{BB962C8B-B14F-4D97-AF65-F5344CB8AC3E}">
        <p14:creationId xmlns:p14="http://schemas.microsoft.com/office/powerpoint/2010/main" val="156444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CA08-9265-9A85-C53C-A4A2BFE25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998C6-DB1C-0D44-5C62-C6AB555F133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73E9D70A-B5CF-1E43-6108-F4923E1B1B5C}"/>
              </a:ext>
            </a:extLst>
          </p:cNvPr>
          <p:cNvSpPr>
            <a:spLocks noGrp="1"/>
          </p:cNvSpPr>
          <p:nvPr>
            <p:ph idx="1"/>
          </p:nvPr>
        </p:nvSpPr>
        <p:spPr>
          <a:xfrm>
            <a:off x="493162" y="996593"/>
            <a:ext cx="5602838" cy="5578297"/>
          </a:xfrm>
        </p:spPr>
        <p:txBody>
          <a:bodyPr>
            <a:noAutofit/>
          </a:bodyPr>
          <a:lstStyle/>
          <a:p>
            <a:pPr marL="0" indent="0" algn="just">
              <a:lnSpc>
                <a:spcPct val="100000"/>
              </a:lnSpc>
              <a:buNone/>
            </a:pPr>
            <a:r>
              <a:rPr lang="en-IN" b="1" dirty="0">
                <a:solidFill>
                  <a:srgbClr val="FF0000"/>
                </a:solidFill>
              </a:rPr>
              <a:t>Types of Normalization:</a:t>
            </a:r>
          </a:p>
          <a:p>
            <a:pPr>
              <a:lnSpc>
                <a:spcPct val="150000"/>
              </a:lnSpc>
              <a:buFont typeface="Wingdings" panose="05000000000000000000" pitchFamily="2" charset="2"/>
              <a:buChar char="Ø"/>
            </a:pPr>
            <a:r>
              <a:rPr lang="en-IN" sz="2700" dirty="0">
                <a:solidFill>
                  <a:srgbClr val="00B050"/>
                </a:solidFill>
              </a:rPr>
              <a:t> </a:t>
            </a:r>
            <a:r>
              <a:rPr lang="en-IN" sz="2700" b="1" dirty="0">
                <a:solidFill>
                  <a:srgbClr val="00B050"/>
                </a:solidFill>
              </a:rPr>
              <a:t>First normal form (1NF) </a:t>
            </a:r>
          </a:p>
          <a:p>
            <a:pPr>
              <a:buFont typeface="Wingdings" panose="05000000000000000000" pitchFamily="2" charset="2"/>
              <a:buChar char="Ø"/>
            </a:pPr>
            <a:r>
              <a:rPr lang="en-IN" sz="2700" b="1" dirty="0">
                <a:solidFill>
                  <a:srgbClr val="00B050"/>
                </a:solidFill>
              </a:rPr>
              <a:t> Second normal form (2NF) </a:t>
            </a:r>
          </a:p>
          <a:p>
            <a:pPr>
              <a:buFont typeface="Wingdings" panose="05000000000000000000" pitchFamily="2" charset="2"/>
              <a:buChar char="Ø"/>
            </a:pPr>
            <a:r>
              <a:rPr lang="en-IN" sz="2700" b="1" dirty="0">
                <a:solidFill>
                  <a:srgbClr val="00B050"/>
                </a:solidFill>
              </a:rPr>
              <a:t> Third normal form (3NF) </a:t>
            </a:r>
          </a:p>
          <a:p>
            <a:pPr>
              <a:buFont typeface="Wingdings" panose="05000000000000000000" pitchFamily="2" charset="2"/>
              <a:buChar char="Ø"/>
            </a:pPr>
            <a:r>
              <a:rPr lang="en-IN" sz="2700" b="1" dirty="0">
                <a:solidFill>
                  <a:srgbClr val="00B050"/>
                </a:solidFill>
              </a:rPr>
              <a:t> Boyee codd normal form (BCNF) </a:t>
            </a:r>
          </a:p>
          <a:p>
            <a:pPr>
              <a:buFont typeface="Wingdings" panose="05000000000000000000" pitchFamily="2" charset="2"/>
              <a:buChar char="Ø"/>
            </a:pPr>
            <a:r>
              <a:rPr lang="en-IN" sz="2700" b="1" dirty="0">
                <a:solidFill>
                  <a:srgbClr val="00B050"/>
                </a:solidFill>
              </a:rPr>
              <a:t> Fourth normal form (4NF) </a:t>
            </a:r>
          </a:p>
          <a:p>
            <a:pPr>
              <a:buFont typeface="Wingdings" panose="05000000000000000000" pitchFamily="2" charset="2"/>
              <a:buChar char="Ø"/>
            </a:pPr>
            <a:r>
              <a:rPr lang="en-IN" sz="2700" b="1" dirty="0">
                <a:solidFill>
                  <a:srgbClr val="00B050"/>
                </a:solidFill>
              </a:rPr>
              <a:t> Fifth normal form (5NF)</a:t>
            </a:r>
          </a:p>
          <a:p>
            <a:pPr marL="0" indent="0" algn="just">
              <a:lnSpc>
                <a:spcPct val="100000"/>
              </a:lnSpc>
              <a:buNone/>
            </a:pPr>
            <a:endParaRPr lang="en-IN"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pic>
        <p:nvPicPr>
          <p:cNvPr id="4" name="Picture 3" descr="DBMS Normal Forms: A Comprehensive Guide with Examples">
            <a:extLst>
              <a:ext uri="{FF2B5EF4-FFF2-40B4-BE49-F238E27FC236}">
                <a16:creationId xmlns:a16="http://schemas.microsoft.com/office/drawing/2014/main" id="{3FFD93A5-207F-4DDA-688F-6F7E5088DD24}"/>
              </a:ext>
            </a:extLst>
          </p:cNvPr>
          <p:cNvPicPr>
            <a:picLocks noChangeAspect="1"/>
          </p:cNvPicPr>
          <p:nvPr/>
        </p:nvPicPr>
        <p:blipFill>
          <a:blip r:embed="rId2"/>
          <a:stretch>
            <a:fillRect/>
          </a:stretch>
        </p:blipFill>
        <p:spPr>
          <a:xfrm>
            <a:off x="5974586" y="1703727"/>
            <a:ext cx="5724252" cy="3875140"/>
          </a:xfrm>
          <a:prstGeom prst="rect">
            <a:avLst/>
          </a:prstGeom>
        </p:spPr>
      </p:pic>
    </p:spTree>
    <p:extLst>
      <p:ext uri="{BB962C8B-B14F-4D97-AF65-F5344CB8AC3E}">
        <p14:creationId xmlns:p14="http://schemas.microsoft.com/office/powerpoint/2010/main" val="1084377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014C-A94C-D8F7-787C-EF760B005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BAF26-3429-C1A7-F5AC-F91334D2958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C9C6A535-07AA-95C3-D8D4-31DDF31720D8}"/>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First normal form (1NF):</a:t>
            </a:r>
          </a:p>
          <a:p>
            <a:pPr algn="just">
              <a:buFont typeface="Wingdings" panose="05000000000000000000" pitchFamily="2" charset="2"/>
              <a:buChar char="§"/>
            </a:pPr>
            <a:r>
              <a:rPr lang="en-IN" sz="2550" dirty="0"/>
              <a:t>A table will be in first normal form when each cell in the table contains precisely one value that means multivalued attribute is not allowed.</a:t>
            </a:r>
          </a:p>
          <a:p>
            <a:pPr algn="just">
              <a:buFont typeface="Wingdings" panose="05000000000000000000" pitchFamily="2" charset="2"/>
              <a:buChar char="§"/>
            </a:pPr>
            <a:r>
              <a:rPr lang="en-IN" sz="2550" dirty="0"/>
              <a:t>Every attribute contains a single, indivisible value &amp; Each cell in the table should store a single piece of information.</a:t>
            </a:r>
          </a:p>
          <a:p>
            <a:pPr>
              <a:buFont typeface="Wingdings" panose="05000000000000000000" pitchFamily="2" charset="2"/>
              <a:buChar char="§"/>
            </a:pPr>
            <a:r>
              <a:rPr lang="en-IN" sz="2550" b="1" dirty="0">
                <a:solidFill>
                  <a:srgbClr val="FF0000"/>
                </a:solidFill>
              </a:rPr>
              <a:t>Example: </a:t>
            </a:r>
            <a:r>
              <a:rPr lang="en-IN" sz="2550" dirty="0"/>
              <a:t>We might have to store data item, colours, price and tax. As every item can have more than one colour so, the arrangement might look like this table.</a:t>
            </a:r>
            <a:endParaRPr lang="en-IN" sz="2550" b="1" dirty="0">
              <a:solidFill>
                <a:srgbClr val="FF0000"/>
              </a:solidFill>
            </a:endParaRPr>
          </a:p>
          <a:p>
            <a:pPr algn="just" fontAlgn="base"/>
            <a:endParaRPr lang="en-IN" sz="2550" dirty="0"/>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pic>
        <p:nvPicPr>
          <p:cNvPr id="6" name="Picture 5">
            <a:extLst>
              <a:ext uri="{FF2B5EF4-FFF2-40B4-BE49-F238E27FC236}">
                <a16:creationId xmlns:a16="http://schemas.microsoft.com/office/drawing/2014/main" id="{FAF59741-2C4A-4574-37FA-290BC9529F18}"/>
              </a:ext>
            </a:extLst>
          </p:cNvPr>
          <p:cNvPicPr>
            <a:picLocks noChangeAspect="1"/>
          </p:cNvPicPr>
          <p:nvPr/>
        </p:nvPicPr>
        <p:blipFill>
          <a:blip r:embed="rId2"/>
          <a:stretch>
            <a:fillRect/>
          </a:stretch>
        </p:blipFill>
        <p:spPr>
          <a:xfrm>
            <a:off x="871519" y="4099997"/>
            <a:ext cx="4556579" cy="2474893"/>
          </a:xfrm>
          <a:prstGeom prst="rect">
            <a:avLst/>
          </a:prstGeom>
        </p:spPr>
      </p:pic>
    </p:spTree>
    <p:extLst>
      <p:ext uri="{BB962C8B-B14F-4D97-AF65-F5344CB8AC3E}">
        <p14:creationId xmlns:p14="http://schemas.microsoft.com/office/powerpoint/2010/main" val="3448628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289A9-084A-D290-A4D8-8C8D788C7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BEDBE-761A-D682-C6A5-7BC5A2EB41F2}"/>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A90A6789-2497-36BD-8E3F-1F6325231E10}"/>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First normal form (1NF):</a:t>
            </a:r>
          </a:p>
          <a:p>
            <a:pPr algn="just">
              <a:buFont typeface="Wingdings" panose="05000000000000000000" pitchFamily="2" charset="2"/>
              <a:buChar char="§"/>
            </a:pPr>
            <a:r>
              <a:rPr lang="en-IN" sz="2550" dirty="0"/>
              <a:t>The Table is not in first normal form because Multiple items present in colour field. To make the table in 1NF we should have the data like this.</a:t>
            </a:r>
          </a:p>
          <a:p>
            <a:pPr marL="0" indent="0" algn="just">
              <a:lnSpc>
                <a:spcPct val="100000"/>
              </a:lnSpc>
              <a:buNone/>
            </a:pPr>
            <a:endParaRPr lang="en-IN" sz="260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pic>
        <p:nvPicPr>
          <p:cNvPr id="5" name="Picture 4">
            <a:extLst>
              <a:ext uri="{FF2B5EF4-FFF2-40B4-BE49-F238E27FC236}">
                <a16:creationId xmlns:a16="http://schemas.microsoft.com/office/drawing/2014/main" id="{40ADFFFF-811A-70AE-4A0E-9A6B14C8EA31}"/>
              </a:ext>
            </a:extLst>
          </p:cNvPr>
          <p:cNvPicPr>
            <a:picLocks noChangeAspect="1"/>
          </p:cNvPicPr>
          <p:nvPr/>
        </p:nvPicPr>
        <p:blipFill>
          <a:blip r:embed="rId2"/>
          <a:stretch>
            <a:fillRect/>
          </a:stretch>
        </p:blipFill>
        <p:spPr>
          <a:xfrm>
            <a:off x="7227684" y="2485071"/>
            <a:ext cx="4360311" cy="4089819"/>
          </a:xfrm>
          <a:prstGeom prst="rect">
            <a:avLst/>
          </a:prstGeom>
        </p:spPr>
      </p:pic>
      <p:pic>
        <p:nvPicPr>
          <p:cNvPr id="8" name="Picture 7">
            <a:extLst>
              <a:ext uri="{FF2B5EF4-FFF2-40B4-BE49-F238E27FC236}">
                <a16:creationId xmlns:a16="http://schemas.microsoft.com/office/drawing/2014/main" id="{0922C31F-1022-F285-791C-E0B6C33D93A6}"/>
              </a:ext>
            </a:extLst>
          </p:cNvPr>
          <p:cNvPicPr>
            <a:picLocks noChangeAspect="1"/>
          </p:cNvPicPr>
          <p:nvPr/>
        </p:nvPicPr>
        <p:blipFill>
          <a:blip r:embed="rId3"/>
          <a:stretch>
            <a:fillRect/>
          </a:stretch>
        </p:blipFill>
        <p:spPr>
          <a:xfrm>
            <a:off x="493160" y="3185597"/>
            <a:ext cx="4556579" cy="2474893"/>
          </a:xfrm>
          <a:prstGeom prst="rect">
            <a:avLst/>
          </a:prstGeom>
        </p:spPr>
      </p:pic>
      <p:sp>
        <p:nvSpPr>
          <p:cNvPr id="9" name="Arrow: Right 8">
            <a:extLst>
              <a:ext uri="{FF2B5EF4-FFF2-40B4-BE49-F238E27FC236}">
                <a16:creationId xmlns:a16="http://schemas.microsoft.com/office/drawing/2014/main" id="{9337BE93-FF22-BE7A-79D6-71FD1668F3DF}"/>
              </a:ext>
            </a:extLst>
          </p:cNvPr>
          <p:cNvSpPr/>
          <p:nvPr/>
        </p:nvSpPr>
        <p:spPr>
          <a:xfrm>
            <a:off x="5414481" y="4212404"/>
            <a:ext cx="1668110" cy="4828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2295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033C1-BC68-D554-65A5-F87311C4E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58148-B175-26AE-4C11-1309348BB1B5}"/>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90714951-2DEA-B627-4C2B-4F0470F543D9}"/>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Second normal form (2NF):</a:t>
            </a:r>
          </a:p>
          <a:p>
            <a:pPr algn="just">
              <a:buFont typeface="Wingdings" panose="05000000000000000000" pitchFamily="2" charset="2"/>
              <a:buChar char="§"/>
            </a:pPr>
            <a:r>
              <a:rPr lang="en-IN" sz="2550" dirty="0"/>
              <a:t>A relation schema is in second normal form </a:t>
            </a:r>
          </a:p>
          <a:p>
            <a:pPr algn="just">
              <a:buFont typeface="Wingdings" panose="05000000000000000000" pitchFamily="2" charset="2"/>
              <a:buChar char="Ø"/>
            </a:pPr>
            <a:r>
              <a:rPr lang="en-IN" sz="2550" dirty="0"/>
              <a:t>If it is in first normal form(1NF). </a:t>
            </a:r>
          </a:p>
          <a:p>
            <a:pPr algn="just">
              <a:buFont typeface="Wingdings" panose="05000000000000000000" pitchFamily="2" charset="2"/>
              <a:buChar char="Ø"/>
            </a:pPr>
            <a:r>
              <a:rPr lang="en-IN" sz="2550" dirty="0"/>
              <a:t>If non-key attribute is not functionally dependant on part of the key attribute (i.e. </a:t>
            </a:r>
            <a:r>
              <a:rPr lang="en-IN" sz="2550" b="1" dirty="0"/>
              <a:t>no partial dependency</a:t>
            </a:r>
            <a:r>
              <a:rPr lang="en-IN" sz="2550" dirty="0"/>
              <a:t>) i.e. if the non key attribute is fully functional dependent of key attribute.</a:t>
            </a:r>
          </a:p>
          <a:p>
            <a:pPr algn="just">
              <a:buFont typeface="Wingdings" panose="05000000000000000000" pitchFamily="2" charset="2"/>
              <a:buChar char="Ø"/>
            </a:pPr>
            <a:r>
              <a:rPr lang="en-IN" sz="2550" dirty="0"/>
              <a:t>In simple words A relation is said to be in 2NF. If it satisfies 1Nf and it has no partial dependency. [primary key should be unique].</a:t>
            </a:r>
          </a:p>
          <a:p>
            <a:pPr algn="just"/>
            <a:r>
              <a:rPr lang="en-IN" sz="2550" b="1" dirty="0">
                <a:solidFill>
                  <a:srgbClr val="FF0000"/>
                </a:solidFill>
              </a:rPr>
              <a:t>Example</a:t>
            </a:r>
            <a:r>
              <a:rPr lang="en-IN" sz="2550" dirty="0">
                <a:solidFill>
                  <a:srgbClr val="FF0000"/>
                </a:solidFill>
              </a:rPr>
              <a:t>: </a:t>
            </a:r>
            <a:r>
              <a:rPr lang="en-IN" sz="2550" dirty="0"/>
              <a:t>The given table is in 1NF because each field contain single attribute. Here we have taken {item, colour} as primary key. However the table is not in 2NF because the non key attribute price and tax depend only on item, but not on colour which is a part of the primary key. This violates the rule for 2NF as the rule says no non-key attribute is functionally dependant on part of the key attribute.</a:t>
            </a:r>
            <a:endParaRPr lang="en-IN" sz="2550" dirty="0">
              <a:solidFill>
                <a:srgbClr val="FF0000"/>
              </a:solidFill>
            </a:endParaRP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spTree>
    <p:extLst>
      <p:ext uri="{BB962C8B-B14F-4D97-AF65-F5344CB8AC3E}">
        <p14:creationId xmlns:p14="http://schemas.microsoft.com/office/powerpoint/2010/main" val="2684946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BD2FE-0081-7299-EA3A-187161C0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50CB9-BD68-D036-9FF7-1495D78BDA19}"/>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4EE48F9F-D314-52BF-48E7-E5257BC247B6}"/>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Second normal form (2NF):</a:t>
            </a:r>
          </a:p>
          <a:p>
            <a:pPr lvl="0" algn="just" fontAlgn="base"/>
            <a:endParaRPr lang="en-IN" sz="2600" dirty="0"/>
          </a:p>
          <a:p>
            <a:pPr algn="just">
              <a:lnSpc>
                <a:spcPct val="100000"/>
              </a:lnSpc>
              <a:buFont typeface="Wingdings" panose="05000000000000000000" pitchFamily="2" charset="2"/>
              <a:buChar char="§"/>
            </a:pPr>
            <a:endParaRPr lang="en-IN"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pic>
        <p:nvPicPr>
          <p:cNvPr id="5" name="Picture 4">
            <a:extLst>
              <a:ext uri="{FF2B5EF4-FFF2-40B4-BE49-F238E27FC236}">
                <a16:creationId xmlns:a16="http://schemas.microsoft.com/office/drawing/2014/main" id="{1CAF5428-2B20-3530-2FE0-0FC79EFA1BF4}"/>
              </a:ext>
            </a:extLst>
          </p:cNvPr>
          <p:cNvPicPr>
            <a:picLocks noChangeAspect="1"/>
          </p:cNvPicPr>
          <p:nvPr/>
        </p:nvPicPr>
        <p:blipFill>
          <a:blip r:embed="rId2"/>
          <a:stretch>
            <a:fillRect/>
          </a:stretch>
        </p:blipFill>
        <p:spPr>
          <a:xfrm>
            <a:off x="493159" y="1770554"/>
            <a:ext cx="4243227" cy="3992987"/>
          </a:xfrm>
          <a:prstGeom prst="rect">
            <a:avLst/>
          </a:prstGeom>
        </p:spPr>
      </p:pic>
      <p:sp>
        <p:nvSpPr>
          <p:cNvPr id="6" name="TextBox 5">
            <a:extLst>
              <a:ext uri="{FF2B5EF4-FFF2-40B4-BE49-F238E27FC236}">
                <a16:creationId xmlns:a16="http://schemas.microsoft.com/office/drawing/2014/main" id="{4A4B55F2-E95F-217F-7DB6-42C2E0B28BC3}"/>
              </a:ext>
            </a:extLst>
          </p:cNvPr>
          <p:cNvSpPr txBox="1"/>
          <p:nvPr/>
        </p:nvSpPr>
        <p:spPr>
          <a:xfrm>
            <a:off x="5260368" y="1770554"/>
            <a:ext cx="6472720" cy="861774"/>
          </a:xfrm>
          <a:prstGeom prst="rect">
            <a:avLst/>
          </a:prstGeom>
          <a:noFill/>
        </p:spPr>
        <p:txBody>
          <a:bodyPr wrap="square" rtlCol="0">
            <a:spAutoFit/>
          </a:bodyPr>
          <a:lstStyle/>
          <a:p>
            <a:pPr marL="342900" indent="-342900" algn="just">
              <a:buFont typeface="Wingdings" panose="05000000000000000000" pitchFamily="2" charset="2"/>
              <a:buChar char="§"/>
            </a:pPr>
            <a:r>
              <a:rPr lang="en-IN" sz="2500" dirty="0"/>
              <a:t>To make the table complies with 2NF we can break it in two tables like this:</a:t>
            </a:r>
          </a:p>
        </p:txBody>
      </p:sp>
      <p:pic>
        <p:nvPicPr>
          <p:cNvPr id="8" name="Picture 7">
            <a:extLst>
              <a:ext uri="{FF2B5EF4-FFF2-40B4-BE49-F238E27FC236}">
                <a16:creationId xmlns:a16="http://schemas.microsoft.com/office/drawing/2014/main" id="{66EB3A00-E473-6D7B-81E0-5F02A016298C}"/>
              </a:ext>
            </a:extLst>
          </p:cNvPr>
          <p:cNvPicPr>
            <a:picLocks noChangeAspect="1"/>
          </p:cNvPicPr>
          <p:nvPr/>
        </p:nvPicPr>
        <p:blipFill>
          <a:blip r:embed="rId3"/>
          <a:stretch>
            <a:fillRect/>
          </a:stretch>
        </p:blipFill>
        <p:spPr>
          <a:xfrm>
            <a:off x="6440931" y="2983489"/>
            <a:ext cx="5257907" cy="3240239"/>
          </a:xfrm>
          <a:prstGeom prst="rect">
            <a:avLst/>
          </a:prstGeom>
        </p:spPr>
      </p:pic>
      <p:sp>
        <p:nvSpPr>
          <p:cNvPr id="9" name="Arrow: Right 8">
            <a:extLst>
              <a:ext uri="{FF2B5EF4-FFF2-40B4-BE49-F238E27FC236}">
                <a16:creationId xmlns:a16="http://schemas.microsoft.com/office/drawing/2014/main" id="{C958F29B-BBC5-C15E-E668-9DAC11F7868B}"/>
              </a:ext>
            </a:extLst>
          </p:cNvPr>
          <p:cNvSpPr/>
          <p:nvPr/>
        </p:nvSpPr>
        <p:spPr>
          <a:xfrm>
            <a:off x="5065160" y="4068566"/>
            <a:ext cx="1030840" cy="34932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71626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FFEA7-83A1-6340-A6D9-5E6ECD76D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352F4-C4CA-3693-9143-09A501B9C029}"/>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BD35F3E7-D5D8-3CFC-8DE5-4E30D3794CB8}"/>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Third normal form (3NF):</a:t>
            </a:r>
          </a:p>
          <a:p>
            <a:pPr algn="just">
              <a:buFont typeface="Wingdings" panose="05000000000000000000" pitchFamily="2" charset="2"/>
              <a:buChar char="§"/>
            </a:pPr>
            <a:r>
              <a:rPr lang="en-IN" sz="2550" dirty="0"/>
              <a:t>A relation R is said to be 3NF. </a:t>
            </a:r>
          </a:p>
          <a:p>
            <a:pPr algn="just">
              <a:buFont typeface="Wingdings" panose="05000000000000000000" pitchFamily="2" charset="2"/>
              <a:buChar char="Ø"/>
            </a:pPr>
            <a:r>
              <a:rPr lang="en-IN" sz="2550" dirty="0"/>
              <a:t>If it is in 2NF. </a:t>
            </a:r>
          </a:p>
          <a:p>
            <a:pPr algn="just">
              <a:buFont typeface="Wingdings" panose="05000000000000000000" pitchFamily="2" charset="2"/>
              <a:buChar char="Ø"/>
            </a:pPr>
            <a:r>
              <a:rPr lang="en-IN" sz="2550" dirty="0"/>
              <a:t>All non-key attribute are functionally depends on the key attribute(primary key)in other words we can say on non-key attribute of relation R is </a:t>
            </a:r>
            <a:r>
              <a:rPr lang="en-IN" sz="2550" b="1" dirty="0"/>
              <a:t>not transitively depend </a:t>
            </a:r>
            <a:r>
              <a:rPr lang="en-IN" sz="2550" dirty="0"/>
              <a:t>on the key attribute.</a:t>
            </a:r>
            <a:endParaRPr lang="en-IN" sz="2550" b="1" dirty="0">
              <a:solidFill>
                <a:srgbClr val="00B050"/>
              </a:solidFill>
            </a:endParaRPr>
          </a:p>
          <a:p>
            <a:pPr lvl="0" algn="just" fontAlgn="base">
              <a:buFont typeface="Wingdings" panose="05000000000000000000" pitchFamily="2" charset="2"/>
              <a:buChar char="§"/>
            </a:pPr>
            <a:r>
              <a:rPr lang="en-IN" sz="2600" b="1" dirty="0">
                <a:solidFill>
                  <a:srgbClr val="FF0000"/>
                </a:solidFill>
              </a:rPr>
              <a:t>Example:</a:t>
            </a:r>
          </a:p>
          <a:p>
            <a:r>
              <a:rPr lang="en-IN" sz="2550" dirty="0"/>
              <a:t>In this table </a:t>
            </a:r>
            <a:r>
              <a:rPr lang="en-IN" sz="2550" b="1" dirty="0"/>
              <a:t>item </a:t>
            </a:r>
            <a:r>
              <a:rPr lang="en-IN" sz="2550" dirty="0"/>
              <a:t>is the Primary key. The non key attribute </a:t>
            </a:r>
            <a:r>
              <a:rPr lang="en-IN" sz="2550" b="1" dirty="0"/>
              <a:t>tax </a:t>
            </a:r>
            <a:r>
              <a:rPr lang="en-IN" sz="2550" dirty="0"/>
              <a:t>depends on </a:t>
            </a:r>
            <a:r>
              <a:rPr lang="en-IN" sz="2550" b="1" dirty="0"/>
              <a:t>price </a:t>
            </a:r>
            <a:r>
              <a:rPr lang="en-IN" sz="2550" dirty="0"/>
              <a:t>not on </a:t>
            </a:r>
            <a:r>
              <a:rPr lang="en-IN" sz="2550" b="1" dirty="0"/>
              <a:t>item. </a:t>
            </a:r>
            <a:endParaRPr lang="en-IN" sz="2550" dirty="0"/>
          </a:p>
          <a:p>
            <a:r>
              <a:rPr lang="en-IN" sz="2550" dirty="0"/>
              <a:t>Here item -&gt; price and price -&gt; tax. So item -&gt; tax. </a:t>
            </a:r>
          </a:p>
          <a:p>
            <a:r>
              <a:rPr lang="en-IN" sz="2550" dirty="0"/>
              <a:t>That means transitive dependency exists here. </a:t>
            </a:r>
          </a:p>
          <a:p>
            <a:r>
              <a:rPr lang="en-IN" sz="2550" dirty="0"/>
              <a:t>Therefore the table is not in 3NF.</a:t>
            </a:r>
            <a:endParaRPr lang="en-IN" sz="2550" b="1" dirty="0">
              <a:solidFill>
                <a:srgbClr val="FF0000"/>
              </a:solidFill>
            </a:endParaRPr>
          </a:p>
          <a:p>
            <a:pPr algn="just">
              <a:buFont typeface="Wingdings" panose="05000000000000000000" pitchFamily="2" charset="2"/>
              <a:buChar char="§"/>
            </a:pPr>
            <a:endParaRPr lang="en-IN" b="1" dirty="0">
              <a:solidFill>
                <a:srgbClr val="FF0000"/>
              </a:solidFill>
            </a:endParaRPr>
          </a:p>
          <a:p>
            <a:pPr lvl="0"/>
            <a:endParaRPr lang="en-IN" dirty="0"/>
          </a:p>
        </p:txBody>
      </p:sp>
      <p:pic>
        <p:nvPicPr>
          <p:cNvPr id="7" name="Picture 6">
            <a:extLst>
              <a:ext uri="{FF2B5EF4-FFF2-40B4-BE49-F238E27FC236}">
                <a16:creationId xmlns:a16="http://schemas.microsoft.com/office/drawing/2014/main" id="{56D02981-5C27-AB99-8C28-43EE575D45C3}"/>
              </a:ext>
            </a:extLst>
          </p:cNvPr>
          <p:cNvPicPr>
            <a:picLocks noChangeAspect="1"/>
          </p:cNvPicPr>
          <p:nvPr/>
        </p:nvPicPr>
        <p:blipFill>
          <a:blip r:embed="rId2"/>
          <a:stretch>
            <a:fillRect/>
          </a:stretch>
        </p:blipFill>
        <p:spPr>
          <a:xfrm>
            <a:off x="8029532" y="4550738"/>
            <a:ext cx="3559717" cy="2024152"/>
          </a:xfrm>
          <a:prstGeom prst="rect">
            <a:avLst/>
          </a:prstGeom>
        </p:spPr>
      </p:pic>
    </p:spTree>
    <p:extLst>
      <p:ext uri="{BB962C8B-B14F-4D97-AF65-F5344CB8AC3E}">
        <p14:creationId xmlns:p14="http://schemas.microsoft.com/office/powerpoint/2010/main" val="654834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D3AAF-57E8-32F7-7AF5-37D8A3ED1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804D5-705A-CC3D-A219-61027485458B}"/>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34E24A27-51A2-082A-43B2-BFD60BB268D9}"/>
              </a:ext>
            </a:extLst>
          </p:cNvPr>
          <p:cNvSpPr>
            <a:spLocks noGrp="1"/>
          </p:cNvSpPr>
          <p:nvPr>
            <p:ph idx="1"/>
          </p:nvPr>
        </p:nvSpPr>
        <p:spPr>
          <a:xfrm>
            <a:off x="493162" y="996593"/>
            <a:ext cx="11239926" cy="5578297"/>
          </a:xfrm>
        </p:spPr>
        <p:txBody>
          <a:bodyPr>
            <a:noAutofit/>
          </a:bodyPr>
          <a:lstStyle/>
          <a:p>
            <a:pPr algn="just">
              <a:lnSpc>
                <a:spcPct val="100000"/>
              </a:lnSpc>
              <a:buFont typeface="Wingdings" panose="05000000000000000000" pitchFamily="2" charset="2"/>
              <a:buChar char="Ø"/>
            </a:pPr>
            <a:r>
              <a:rPr lang="en-IN" sz="2700" dirty="0">
                <a:solidFill>
                  <a:srgbClr val="00B050"/>
                </a:solidFill>
              </a:rPr>
              <a:t> </a:t>
            </a:r>
            <a:r>
              <a:rPr lang="en-IN" sz="2700" b="1" dirty="0">
                <a:solidFill>
                  <a:srgbClr val="00B050"/>
                </a:solidFill>
              </a:rPr>
              <a:t>Third normal form (3NF):</a:t>
            </a:r>
          </a:p>
          <a:p>
            <a:pPr>
              <a:buFont typeface="Wingdings" panose="05000000000000000000" pitchFamily="2" charset="2"/>
              <a:buChar char="§"/>
            </a:pPr>
            <a:r>
              <a:rPr lang="en-IN" sz="2600" dirty="0"/>
              <a:t>To make that table complies with 3NF we have to break the table into two tables to remove the transitive dependency.</a:t>
            </a:r>
            <a:endParaRPr lang="en-IN" sz="2600" b="1" dirty="0">
              <a:solidFill>
                <a:srgbClr val="FF0000"/>
              </a:solidFill>
            </a:endParaRPr>
          </a:p>
          <a:p>
            <a:pPr lvl="0"/>
            <a:endParaRPr lang="en-IN" dirty="0"/>
          </a:p>
        </p:txBody>
      </p:sp>
      <p:pic>
        <p:nvPicPr>
          <p:cNvPr id="5" name="Picture 4">
            <a:extLst>
              <a:ext uri="{FF2B5EF4-FFF2-40B4-BE49-F238E27FC236}">
                <a16:creationId xmlns:a16="http://schemas.microsoft.com/office/drawing/2014/main" id="{134EBFBF-9073-F366-D487-5EF9F8D9EE1C}"/>
              </a:ext>
            </a:extLst>
          </p:cNvPr>
          <p:cNvPicPr>
            <a:picLocks noChangeAspect="1"/>
          </p:cNvPicPr>
          <p:nvPr/>
        </p:nvPicPr>
        <p:blipFill>
          <a:blip r:embed="rId2"/>
          <a:stretch>
            <a:fillRect/>
          </a:stretch>
        </p:blipFill>
        <p:spPr>
          <a:xfrm>
            <a:off x="2960893" y="2874196"/>
            <a:ext cx="6270213" cy="1993817"/>
          </a:xfrm>
          <a:prstGeom prst="rect">
            <a:avLst/>
          </a:prstGeom>
        </p:spPr>
      </p:pic>
    </p:spTree>
    <p:extLst>
      <p:ext uri="{BB962C8B-B14F-4D97-AF65-F5344CB8AC3E}">
        <p14:creationId xmlns:p14="http://schemas.microsoft.com/office/powerpoint/2010/main" val="1877282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BB343-1206-BB0B-32ED-6947A9AE1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11C51-C9BE-0F0B-6148-01D796244B98}"/>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19AB8441-3409-1D50-6358-537809801F40}"/>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Boyce </a:t>
            </a:r>
            <a:r>
              <a:rPr lang="en-IN" sz="2700" b="1" dirty="0" err="1">
                <a:solidFill>
                  <a:srgbClr val="00B050"/>
                </a:solidFill>
              </a:rPr>
              <a:t>codd</a:t>
            </a:r>
            <a:r>
              <a:rPr lang="en-IN" sz="2700" b="1" dirty="0">
                <a:solidFill>
                  <a:srgbClr val="00B050"/>
                </a:solidFill>
              </a:rPr>
              <a:t> normal form (BCNF):</a:t>
            </a:r>
          </a:p>
          <a:p>
            <a:pPr algn="just">
              <a:buFont typeface="Wingdings" panose="05000000000000000000" pitchFamily="2" charset="2"/>
              <a:buChar char="§"/>
            </a:pPr>
            <a:r>
              <a:rPr lang="en-IN" sz="2550" dirty="0"/>
              <a:t>It is slightly stronger version of 3NF. </a:t>
            </a:r>
          </a:p>
          <a:p>
            <a:pPr algn="just">
              <a:buFont typeface="Wingdings" panose="05000000000000000000" pitchFamily="2" charset="2"/>
              <a:buChar char="§"/>
            </a:pPr>
            <a:r>
              <a:rPr lang="en-IN" sz="2550" dirty="0"/>
              <a:t>A table is in BCNF if and only if, it is in 3NF and for every functional X-&gt;Y, X should be the super key of the table.. </a:t>
            </a:r>
          </a:p>
          <a:p>
            <a:pPr algn="just">
              <a:buFont typeface="Wingdings" panose="05000000000000000000" pitchFamily="2" charset="2"/>
              <a:buChar char="§"/>
            </a:pPr>
            <a:r>
              <a:rPr lang="en-IN" sz="2550" dirty="0"/>
              <a:t>The BCNF is a special case of 3NF and BCNF can only be violated if a 3NF complaint table contain more than one candidate key. </a:t>
            </a:r>
          </a:p>
          <a:p>
            <a:pPr algn="just">
              <a:buFont typeface="Wingdings" panose="05000000000000000000" pitchFamily="2" charset="2"/>
              <a:buChar char="§"/>
            </a:pPr>
            <a:r>
              <a:rPr lang="en-IN" sz="2550" dirty="0"/>
              <a:t>CHARACTERISTICS:-</a:t>
            </a:r>
          </a:p>
          <a:p>
            <a:pPr algn="just">
              <a:buFont typeface="Wingdings" panose="05000000000000000000" pitchFamily="2" charset="2"/>
              <a:buChar char="§"/>
            </a:pPr>
            <a:r>
              <a:rPr lang="en-IN" sz="2550" dirty="0"/>
              <a:t> 3NF (special case) </a:t>
            </a:r>
          </a:p>
          <a:p>
            <a:pPr algn="just">
              <a:buFont typeface="Wingdings" panose="05000000000000000000" pitchFamily="2" charset="2"/>
              <a:buChar char="§"/>
            </a:pPr>
            <a:r>
              <a:rPr lang="en-IN" sz="2550" dirty="0"/>
              <a:t> Every determinant is a candidate key.</a:t>
            </a:r>
          </a:p>
          <a:p>
            <a:pPr>
              <a:buFont typeface="Wingdings" panose="05000000000000000000" pitchFamily="2" charset="2"/>
              <a:buChar char="§"/>
            </a:pPr>
            <a:r>
              <a:rPr lang="en-IN" sz="2550" b="1" dirty="0">
                <a:solidFill>
                  <a:srgbClr val="FF0000"/>
                </a:solidFill>
              </a:rPr>
              <a:t>Example</a:t>
            </a:r>
            <a:r>
              <a:rPr lang="en-IN" sz="2550" dirty="0">
                <a:solidFill>
                  <a:srgbClr val="FF0000"/>
                </a:solidFill>
              </a:rPr>
              <a:t>:</a:t>
            </a:r>
            <a:r>
              <a:rPr lang="en-IN" sz="2550" dirty="0"/>
              <a:t> Suppose there is a company wherein employees work in </a:t>
            </a:r>
            <a:r>
              <a:rPr lang="en-IN" sz="2550" b="1" dirty="0"/>
              <a:t>more than one department</a:t>
            </a:r>
            <a:r>
              <a:rPr lang="en-IN" sz="2550" dirty="0"/>
              <a:t>. </a:t>
            </a:r>
          </a:p>
          <a:p>
            <a:pPr>
              <a:buFont typeface="Wingdings" panose="05000000000000000000" pitchFamily="2" charset="2"/>
              <a:buChar char="§"/>
            </a:pPr>
            <a:r>
              <a:rPr lang="en-IN" sz="2550" dirty="0"/>
              <a:t>They store the data like this:</a:t>
            </a:r>
            <a:endParaRPr lang="en-IN" sz="2550" b="1" dirty="0">
              <a:solidFill>
                <a:srgbClr val="00B050"/>
              </a:solidFill>
            </a:endParaRPr>
          </a:p>
          <a:p>
            <a:pPr lvl="0"/>
            <a:endParaRPr lang="en-IN" dirty="0"/>
          </a:p>
        </p:txBody>
      </p:sp>
    </p:spTree>
    <p:extLst>
      <p:ext uri="{BB962C8B-B14F-4D97-AF65-F5344CB8AC3E}">
        <p14:creationId xmlns:p14="http://schemas.microsoft.com/office/powerpoint/2010/main" val="2958156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C89E5-694F-43C4-0AA5-3B537058E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BA337-5795-3F88-E6DB-58E219B303DA}"/>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FEC0234A-523E-A1A0-A566-8BAA9FED9824}"/>
              </a:ext>
            </a:extLst>
          </p:cNvPr>
          <p:cNvSpPr>
            <a:spLocks noGrp="1"/>
          </p:cNvSpPr>
          <p:nvPr>
            <p:ph idx="1"/>
          </p:nvPr>
        </p:nvSpPr>
        <p:spPr>
          <a:xfrm>
            <a:off x="493162" y="996593"/>
            <a:ext cx="5602838"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Boyce </a:t>
            </a:r>
            <a:r>
              <a:rPr lang="en-IN" sz="2700" b="1" dirty="0" err="1">
                <a:solidFill>
                  <a:srgbClr val="00B050"/>
                </a:solidFill>
              </a:rPr>
              <a:t>codd</a:t>
            </a:r>
            <a:r>
              <a:rPr lang="en-IN" sz="2700" b="1" dirty="0">
                <a:solidFill>
                  <a:srgbClr val="00B050"/>
                </a:solidFill>
              </a:rPr>
              <a:t> normal form (BCNF):</a:t>
            </a:r>
          </a:p>
          <a:p>
            <a:pPr algn="just">
              <a:buFont typeface="Wingdings" panose="05000000000000000000" pitchFamily="2" charset="2"/>
              <a:buChar char="§"/>
            </a:pPr>
            <a:r>
              <a:rPr lang="en-IN" sz="2550" b="1" dirty="0"/>
              <a:t>Functional dependencies in the table above</a:t>
            </a:r>
            <a:r>
              <a:rPr lang="en-IN" sz="2550" dirty="0"/>
              <a:t>: </a:t>
            </a:r>
          </a:p>
          <a:p>
            <a:pPr>
              <a:buFont typeface="Wingdings" panose="05000000000000000000" pitchFamily="2" charset="2"/>
              <a:buChar char="§"/>
            </a:pPr>
            <a:r>
              <a:rPr lang="en-IN" sz="2550" dirty="0" err="1"/>
              <a:t>emp_id</a:t>
            </a:r>
            <a:r>
              <a:rPr lang="en-IN" sz="2550" dirty="0"/>
              <a:t> -&gt; </a:t>
            </a:r>
            <a:r>
              <a:rPr lang="en-IN" sz="2550" dirty="0" err="1"/>
              <a:t>emp_nationality</a:t>
            </a:r>
            <a:r>
              <a:rPr lang="en-IN" sz="2550" dirty="0"/>
              <a:t> </a:t>
            </a:r>
          </a:p>
          <a:p>
            <a:pPr>
              <a:buFont typeface="Wingdings" panose="05000000000000000000" pitchFamily="2" charset="2"/>
              <a:buChar char="§"/>
            </a:pPr>
            <a:r>
              <a:rPr lang="en-IN" sz="2550" dirty="0" err="1"/>
              <a:t>emp_dept</a:t>
            </a:r>
            <a:r>
              <a:rPr lang="en-IN" sz="2550" dirty="0"/>
              <a:t> -&gt; {</a:t>
            </a:r>
            <a:r>
              <a:rPr lang="en-IN" sz="2550" dirty="0" err="1"/>
              <a:t>dept_type</a:t>
            </a:r>
            <a:r>
              <a:rPr lang="en-IN" sz="2550" dirty="0"/>
              <a:t>, </a:t>
            </a:r>
            <a:r>
              <a:rPr lang="en-IN" sz="2550" dirty="0" err="1"/>
              <a:t>dept_no_of_emp</a:t>
            </a:r>
            <a:r>
              <a:rPr lang="en-IN" sz="2550" dirty="0"/>
              <a:t>} </a:t>
            </a:r>
          </a:p>
          <a:p>
            <a:pPr algn="just">
              <a:buFont typeface="Wingdings" panose="05000000000000000000" pitchFamily="2" charset="2"/>
              <a:buChar char="§"/>
            </a:pPr>
            <a:r>
              <a:rPr lang="en-IN" sz="2550" b="1" dirty="0"/>
              <a:t>Candidate key</a:t>
            </a:r>
            <a:r>
              <a:rPr lang="en-IN" sz="2550" dirty="0"/>
              <a:t>: {</a:t>
            </a:r>
            <a:r>
              <a:rPr lang="en-IN" sz="2550" dirty="0" err="1"/>
              <a:t>emp_id</a:t>
            </a:r>
            <a:r>
              <a:rPr lang="en-IN" sz="2550" dirty="0"/>
              <a:t>, </a:t>
            </a:r>
            <a:r>
              <a:rPr lang="en-IN" sz="2550" dirty="0" err="1"/>
              <a:t>emp_dept</a:t>
            </a:r>
            <a:r>
              <a:rPr lang="en-IN" sz="2550" dirty="0"/>
              <a:t>} </a:t>
            </a:r>
          </a:p>
          <a:p>
            <a:pPr algn="just">
              <a:buFont typeface="Wingdings" panose="05000000000000000000" pitchFamily="2" charset="2"/>
              <a:buChar char="§"/>
            </a:pPr>
            <a:r>
              <a:rPr lang="en-IN" sz="2550" dirty="0"/>
              <a:t>The table is not in BCNF as neither </a:t>
            </a:r>
            <a:r>
              <a:rPr lang="en-IN" sz="2550" dirty="0" err="1"/>
              <a:t>emp_id</a:t>
            </a:r>
            <a:r>
              <a:rPr lang="en-IN" sz="2550" dirty="0"/>
              <a:t> nor </a:t>
            </a:r>
            <a:r>
              <a:rPr lang="en-IN" sz="2550" dirty="0" err="1"/>
              <a:t>emp_dept</a:t>
            </a:r>
            <a:r>
              <a:rPr lang="en-IN" sz="2550" dirty="0"/>
              <a:t> alone are keys. </a:t>
            </a:r>
          </a:p>
          <a:p>
            <a:pPr algn="just">
              <a:buFont typeface="Wingdings" panose="05000000000000000000" pitchFamily="2" charset="2"/>
              <a:buChar char="§"/>
            </a:pPr>
            <a:r>
              <a:rPr lang="en-IN" sz="2550" dirty="0"/>
              <a:t>To make the table comply with BCNF we can break the table in three tables like this:</a:t>
            </a:r>
            <a:endParaRPr lang="en-IN" sz="2550" b="1" dirty="0">
              <a:solidFill>
                <a:srgbClr val="00B050"/>
              </a:solidFill>
            </a:endParaRPr>
          </a:p>
          <a:p>
            <a:pPr lvl="0"/>
            <a:endParaRPr lang="en-IN" dirty="0"/>
          </a:p>
        </p:txBody>
      </p:sp>
      <p:pic>
        <p:nvPicPr>
          <p:cNvPr id="5" name="Picture 4">
            <a:extLst>
              <a:ext uri="{FF2B5EF4-FFF2-40B4-BE49-F238E27FC236}">
                <a16:creationId xmlns:a16="http://schemas.microsoft.com/office/drawing/2014/main" id="{E9BA9583-F23D-7F98-E63F-8564C0DFACFC}"/>
              </a:ext>
            </a:extLst>
          </p:cNvPr>
          <p:cNvPicPr>
            <a:picLocks noChangeAspect="1"/>
          </p:cNvPicPr>
          <p:nvPr/>
        </p:nvPicPr>
        <p:blipFill>
          <a:blip r:embed="rId2"/>
          <a:stretch>
            <a:fillRect/>
          </a:stretch>
        </p:blipFill>
        <p:spPr>
          <a:xfrm>
            <a:off x="6422386" y="1285982"/>
            <a:ext cx="5413444" cy="2825972"/>
          </a:xfrm>
          <a:prstGeom prst="rect">
            <a:avLst/>
          </a:prstGeom>
        </p:spPr>
      </p:pic>
      <p:pic>
        <p:nvPicPr>
          <p:cNvPr id="8" name="Picture 7">
            <a:extLst>
              <a:ext uri="{FF2B5EF4-FFF2-40B4-BE49-F238E27FC236}">
                <a16:creationId xmlns:a16="http://schemas.microsoft.com/office/drawing/2014/main" id="{24385F19-E97F-FB20-D355-A6F20C3F5FAD}"/>
              </a:ext>
            </a:extLst>
          </p:cNvPr>
          <p:cNvPicPr>
            <a:picLocks noChangeAspect="1"/>
          </p:cNvPicPr>
          <p:nvPr/>
        </p:nvPicPr>
        <p:blipFill>
          <a:blip r:embed="rId3"/>
          <a:stretch>
            <a:fillRect/>
          </a:stretch>
        </p:blipFill>
        <p:spPr>
          <a:xfrm>
            <a:off x="8514873" y="4426035"/>
            <a:ext cx="3320957" cy="2148855"/>
          </a:xfrm>
          <a:prstGeom prst="rect">
            <a:avLst/>
          </a:prstGeom>
        </p:spPr>
      </p:pic>
      <p:sp>
        <p:nvSpPr>
          <p:cNvPr id="9" name="Arrow: Bent 8">
            <a:extLst>
              <a:ext uri="{FF2B5EF4-FFF2-40B4-BE49-F238E27FC236}">
                <a16:creationId xmlns:a16="http://schemas.microsoft.com/office/drawing/2014/main" id="{C8862E88-E749-E3EE-4AB3-2FA5EE56DD64}"/>
              </a:ext>
            </a:extLst>
          </p:cNvPr>
          <p:cNvSpPr/>
          <p:nvPr/>
        </p:nvSpPr>
        <p:spPr>
          <a:xfrm rot="10800000" flipH="1">
            <a:off x="7117585" y="4111952"/>
            <a:ext cx="1009273" cy="1960073"/>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3331795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357E-CF7F-4DD3-4A23-1C33CF3E5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15519-B4A3-ABC5-D186-A0D666F986AF}"/>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2804CD86-8E61-EAE1-ABA2-D856560551C6}"/>
              </a:ext>
            </a:extLst>
          </p:cNvPr>
          <p:cNvSpPr>
            <a:spLocks noGrp="1"/>
          </p:cNvSpPr>
          <p:nvPr>
            <p:ph idx="1"/>
          </p:nvPr>
        </p:nvSpPr>
        <p:spPr>
          <a:xfrm>
            <a:off x="493162" y="996593"/>
            <a:ext cx="5602838"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Boyce </a:t>
            </a:r>
            <a:r>
              <a:rPr lang="en-IN" sz="2700" b="1" dirty="0" err="1">
                <a:solidFill>
                  <a:srgbClr val="00B050"/>
                </a:solidFill>
              </a:rPr>
              <a:t>codd</a:t>
            </a:r>
            <a:r>
              <a:rPr lang="en-IN" sz="2700" b="1" dirty="0">
                <a:solidFill>
                  <a:srgbClr val="00B050"/>
                </a:solidFill>
              </a:rPr>
              <a:t> normal form (BCNF):</a:t>
            </a:r>
          </a:p>
          <a:p>
            <a:pPr>
              <a:buFont typeface="Wingdings" panose="05000000000000000000" pitchFamily="2" charset="2"/>
              <a:buChar char="§"/>
            </a:pPr>
            <a:r>
              <a:rPr lang="en-IN" sz="2550" dirty="0"/>
              <a:t>Functional dependencies: </a:t>
            </a:r>
          </a:p>
          <a:p>
            <a:pPr>
              <a:buFont typeface="Wingdings" panose="05000000000000000000" pitchFamily="2" charset="2"/>
              <a:buChar char="Ø"/>
            </a:pPr>
            <a:r>
              <a:rPr lang="en-IN" sz="2550" dirty="0" err="1"/>
              <a:t>emp_id</a:t>
            </a:r>
            <a:r>
              <a:rPr lang="en-IN" sz="2550" dirty="0"/>
              <a:t> -&gt; </a:t>
            </a:r>
            <a:r>
              <a:rPr lang="en-IN" sz="2550" dirty="0" err="1"/>
              <a:t>emp_nationality</a:t>
            </a:r>
            <a:r>
              <a:rPr lang="en-IN" sz="2550" dirty="0"/>
              <a:t> </a:t>
            </a:r>
          </a:p>
          <a:p>
            <a:pPr>
              <a:buFont typeface="Wingdings" panose="05000000000000000000" pitchFamily="2" charset="2"/>
              <a:buChar char="Ø"/>
            </a:pPr>
            <a:r>
              <a:rPr lang="en-IN" sz="2550" dirty="0" err="1"/>
              <a:t>emp_dept</a:t>
            </a:r>
            <a:r>
              <a:rPr lang="en-IN" sz="2550" dirty="0"/>
              <a:t> -&gt; {</a:t>
            </a:r>
            <a:r>
              <a:rPr lang="en-IN" sz="2550" dirty="0" err="1"/>
              <a:t>dept_type</a:t>
            </a:r>
            <a:r>
              <a:rPr lang="en-IN" sz="2550" dirty="0"/>
              <a:t>, </a:t>
            </a:r>
            <a:r>
              <a:rPr lang="en-IN" sz="2550" dirty="0" err="1"/>
              <a:t>dept_no_of_emp</a:t>
            </a:r>
            <a:r>
              <a:rPr lang="en-IN" sz="2550" dirty="0"/>
              <a:t>} </a:t>
            </a:r>
          </a:p>
          <a:p>
            <a:pPr>
              <a:buFont typeface="Wingdings" panose="05000000000000000000" pitchFamily="2" charset="2"/>
              <a:buChar char="§"/>
            </a:pPr>
            <a:r>
              <a:rPr lang="en-IN" sz="2550" dirty="0"/>
              <a:t>Candidate keys: </a:t>
            </a:r>
          </a:p>
          <a:p>
            <a:pPr>
              <a:buFont typeface="Wingdings" panose="05000000000000000000" pitchFamily="2" charset="2"/>
              <a:buChar char="Ø"/>
            </a:pPr>
            <a:r>
              <a:rPr lang="en-IN" sz="2550" dirty="0"/>
              <a:t>For first table: </a:t>
            </a:r>
            <a:r>
              <a:rPr lang="en-IN" sz="2550" dirty="0" err="1"/>
              <a:t>emp_id</a:t>
            </a:r>
            <a:r>
              <a:rPr lang="en-IN" sz="2550" dirty="0"/>
              <a:t> </a:t>
            </a:r>
          </a:p>
          <a:p>
            <a:pPr>
              <a:buFont typeface="Wingdings" panose="05000000000000000000" pitchFamily="2" charset="2"/>
              <a:buChar char="Ø"/>
            </a:pPr>
            <a:r>
              <a:rPr lang="en-IN" sz="2550" dirty="0"/>
              <a:t>For second table: </a:t>
            </a:r>
            <a:r>
              <a:rPr lang="en-IN" sz="2550" dirty="0" err="1"/>
              <a:t>emp_dept</a:t>
            </a:r>
            <a:r>
              <a:rPr lang="en-IN" sz="2550" dirty="0"/>
              <a:t> </a:t>
            </a:r>
          </a:p>
          <a:p>
            <a:pPr>
              <a:buFont typeface="Wingdings" panose="05000000000000000000" pitchFamily="2" charset="2"/>
              <a:buChar char="Ø"/>
            </a:pPr>
            <a:r>
              <a:rPr lang="en-IN" sz="2550" dirty="0"/>
              <a:t>For third table: {</a:t>
            </a:r>
            <a:r>
              <a:rPr lang="en-IN" sz="2550" dirty="0" err="1"/>
              <a:t>emp_id</a:t>
            </a:r>
            <a:r>
              <a:rPr lang="en-IN" sz="2550" dirty="0"/>
              <a:t>, </a:t>
            </a:r>
            <a:r>
              <a:rPr lang="en-IN" sz="2550" dirty="0" err="1"/>
              <a:t>emp_dept</a:t>
            </a:r>
            <a:r>
              <a:rPr lang="en-IN" sz="2550" dirty="0"/>
              <a:t>} </a:t>
            </a:r>
          </a:p>
          <a:p>
            <a:pPr>
              <a:buFont typeface="Wingdings" panose="05000000000000000000" pitchFamily="2" charset="2"/>
              <a:buChar char="§"/>
            </a:pPr>
            <a:r>
              <a:rPr lang="en-IN" sz="2550" dirty="0"/>
              <a:t>This is now in BCNF as in both the functional dependencies left side part is a key.</a:t>
            </a:r>
          </a:p>
          <a:p>
            <a:pPr algn="just">
              <a:buFont typeface="Wingdings" panose="05000000000000000000" pitchFamily="2" charset="2"/>
              <a:buChar char="Ø"/>
            </a:pPr>
            <a:endParaRPr lang="en-IN" sz="2700" b="1" dirty="0">
              <a:solidFill>
                <a:srgbClr val="00B050"/>
              </a:solidFill>
            </a:endParaRPr>
          </a:p>
          <a:p>
            <a:pPr lvl="0"/>
            <a:endParaRPr lang="en-IN" dirty="0"/>
          </a:p>
        </p:txBody>
      </p:sp>
      <p:pic>
        <p:nvPicPr>
          <p:cNvPr id="6" name="Picture 5">
            <a:extLst>
              <a:ext uri="{FF2B5EF4-FFF2-40B4-BE49-F238E27FC236}">
                <a16:creationId xmlns:a16="http://schemas.microsoft.com/office/drawing/2014/main" id="{1FEC2741-BE1B-0BD6-8254-ADDF58151C77}"/>
              </a:ext>
            </a:extLst>
          </p:cNvPr>
          <p:cNvPicPr>
            <a:picLocks noChangeAspect="1"/>
          </p:cNvPicPr>
          <p:nvPr/>
        </p:nvPicPr>
        <p:blipFill>
          <a:blip r:embed="rId2"/>
          <a:stretch>
            <a:fillRect/>
          </a:stretch>
        </p:blipFill>
        <p:spPr>
          <a:xfrm>
            <a:off x="7166344" y="996593"/>
            <a:ext cx="4164698" cy="2815779"/>
          </a:xfrm>
          <a:prstGeom prst="rect">
            <a:avLst/>
          </a:prstGeom>
        </p:spPr>
      </p:pic>
      <p:pic>
        <p:nvPicPr>
          <p:cNvPr id="10" name="Picture 9">
            <a:extLst>
              <a:ext uri="{FF2B5EF4-FFF2-40B4-BE49-F238E27FC236}">
                <a16:creationId xmlns:a16="http://schemas.microsoft.com/office/drawing/2014/main" id="{839307AB-726A-8444-10C8-67A447C11277}"/>
              </a:ext>
            </a:extLst>
          </p:cNvPr>
          <p:cNvPicPr>
            <a:picLocks noChangeAspect="1"/>
          </p:cNvPicPr>
          <p:nvPr/>
        </p:nvPicPr>
        <p:blipFill>
          <a:blip r:embed="rId3"/>
          <a:stretch>
            <a:fillRect/>
          </a:stretch>
        </p:blipFill>
        <p:spPr>
          <a:xfrm>
            <a:off x="7229730" y="3921571"/>
            <a:ext cx="4030428" cy="2815779"/>
          </a:xfrm>
          <a:prstGeom prst="rect">
            <a:avLst/>
          </a:prstGeom>
        </p:spPr>
      </p:pic>
    </p:spTree>
    <p:extLst>
      <p:ext uri="{BB962C8B-B14F-4D97-AF65-F5344CB8AC3E}">
        <p14:creationId xmlns:p14="http://schemas.microsoft.com/office/powerpoint/2010/main" val="2551717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A5FF-D93B-AE49-69D4-F4925CED2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09FC7-139A-37CE-EB85-B34F1D88B872}"/>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6801C337-6C1C-B987-5358-5A42021740FC}"/>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Fourth normal form (4NF):</a:t>
            </a:r>
          </a:p>
          <a:p>
            <a:pPr algn="just">
              <a:buFont typeface="Wingdings" panose="05000000000000000000" pitchFamily="2" charset="2"/>
              <a:buChar char="§"/>
            </a:pPr>
            <a:r>
              <a:rPr lang="en-IN" sz="2550" dirty="0"/>
              <a:t>A relation is said to be in 4NF if it is in Boyce Codd normal form and should have no multi. Valued dependency.</a:t>
            </a:r>
          </a:p>
          <a:p>
            <a:pPr algn="just">
              <a:buFont typeface="Wingdings" panose="05000000000000000000" pitchFamily="2" charset="2"/>
              <a:buChar char="§"/>
            </a:pPr>
            <a:r>
              <a:rPr lang="en-IN" sz="2550" dirty="0"/>
              <a:t>A table is in </a:t>
            </a:r>
            <a:r>
              <a:rPr lang="en-IN" sz="2550" dirty="0">
                <a:hlinkClick r:id="rId2">
                  <a:extLst>
                    <a:ext uri="{A12FA001-AC4F-418D-AE19-62706E023703}">
                      <ahyp:hlinkClr xmlns:ahyp="http://schemas.microsoft.com/office/drawing/2018/hyperlinkcolor" val="tx"/>
                    </a:ext>
                  </a:extLst>
                </a:hlinkClick>
              </a:rPr>
              <a:t>4NF</a:t>
            </a:r>
            <a:r>
              <a:rPr lang="en-IN" sz="2550" u="sng" dirty="0">
                <a:solidFill>
                  <a:srgbClr val="0563C1"/>
                </a:solidFill>
                <a:hlinkClick r:id="rId2">
                  <a:extLst>
                    <a:ext uri="{A12FA001-AC4F-418D-AE19-62706E023703}">
                      <ahyp:hlinkClr xmlns:ahyp="http://schemas.microsoft.com/office/drawing/2018/hyperlinkcolor" val="tx"/>
                    </a:ext>
                  </a:extLst>
                </a:hlinkClick>
              </a:rPr>
              <a:t> </a:t>
            </a:r>
            <a:r>
              <a:rPr lang="en-IN" sz="2550" dirty="0"/>
              <a:t>if it is in BCNF and has no multi-valued dependencies. A multi-valued dependency occurs when one attribute determines another, and both attributes are independent of all other attributes in the table.</a:t>
            </a:r>
          </a:p>
          <a:p>
            <a:pPr algn="just">
              <a:buFont typeface="Wingdings" panose="05000000000000000000" pitchFamily="2" charset="2"/>
              <a:buChar char="§"/>
            </a:pPr>
            <a:r>
              <a:rPr lang="en-IN" sz="2550" b="1" dirty="0">
                <a:solidFill>
                  <a:srgbClr val="FF0000"/>
                </a:solidFill>
              </a:rPr>
              <a:t>Examples:- </a:t>
            </a:r>
            <a:r>
              <a:rPr lang="en-IN" sz="2400" b="1" dirty="0"/>
              <a:t>STUDENT(</a:t>
            </a:r>
            <a:r>
              <a:rPr lang="en-IN" sz="2400" b="1" dirty="0" err="1"/>
              <a:t>StudentID</a:t>
            </a:r>
            <a:r>
              <a:rPr lang="en-IN" sz="2400" b="1" dirty="0"/>
              <a:t>, Skill, Hobby)</a:t>
            </a:r>
            <a:endParaRPr lang="en-IN" sz="2400" dirty="0"/>
          </a:p>
          <a:p>
            <a:pPr algn="just">
              <a:buFont typeface="Wingdings" panose="05000000000000000000" pitchFamily="2" charset="2"/>
              <a:buChar char="§"/>
            </a:pPr>
            <a:r>
              <a:rPr lang="en-IN" sz="2400" dirty="0"/>
              <a:t>Suppose a student can have </a:t>
            </a:r>
            <a:r>
              <a:rPr lang="en-IN" sz="2400" b="1" dirty="0"/>
              <a:t>multiple skills</a:t>
            </a:r>
            <a:r>
              <a:rPr lang="en-IN" sz="2400" dirty="0"/>
              <a:t> and </a:t>
            </a:r>
            <a:r>
              <a:rPr lang="en-IN" sz="2400" b="1" dirty="0"/>
              <a:t>multiple hobbies</a:t>
            </a:r>
            <a:r>
              <a:rPr lang="en-IN" sz="2400" dirty="0"/>
              <a:t>, and the skills are independent of the hobbies.</a:t>
            </a:r>
          </a:p>
          <a:p>
            <a:pPr algn="just"/>
            <a:endParaRPr lang="en-IN" sz="2550" dirty="0"/>
          </a:p>
        </p:txBody>
      </p:sp>
      <p:graphicFrame>
        <p:nvGraphicFramePr>
          <p:cNvPr id="4" name="Table 3">
            <a:extLst>
              <a:ext uri="{FF2B5EF4-FFF2-40B4-BE49-F238E27FC236}">
                <a16:creationId xmlns:a16="http://schemas.microsoft.com/office/drawing/2014/main" id="{19E22DE2-45BF-FB87-EF5E-F8051ADD6C0B}"/>
              </a:ext>
            </a:extLst>
          </p:cNvPr>
          <p:cNvGraphicFramePr>
            <a:graphicFrameLocks noGrp="1"/>
          </p:cNvGraphicFramePr>
          <p:nvPr>
            <p:extLst>
              <p:ext uri="{D42A27DB-BD31-4B8C-83A1-F6EECF244321}">
                <p14:modId xmlns:p14="http://schemas.microsoft.com/office/powerpoint/2010/main" val="2804069732"/>
              </p:ext>
            </p:extLst>
          </p:nvPr>
        </p:nvGraphicFramePr>
        <p:xfrm>
          <a:off x="745732" y="4746090"/>
          <a:ext cx="10515600" cy="1828800"/>
        </p:xfrm>
        <a:graphic>
          <a:graphicData uri="http://schemas.openxmlformats.org/drawingml/2006/table">
            <a:tbl>
              <a:tblPr/>
              <a:tblGrid>
                <a:gridCol w="3505200">
                  <a:extLst>
                    <a:ext uri="{9D8B030D-6E8A-4147-A177-3AD203B41FA5}">
                      <a16:colId xmlns:a16="http://schemas.microsoft.com/office/drawing/2014/main" val="2293180906"/>
                    </a:ext>
                  </a:extLst>
                </a:gridCol>
                <a:gridCol w="3505200">
                  <a:extLst>
                    <a:ext uri="{9D8B030D-6E8A-4147-A177-3AD203B41FA5}">
                      <a16:colId xmlns:a16="http://schemas.microsoft.com/office/drawing/2014/main" val="4214529795"/>
                    </a:ext>
                  </a:extLst>
                </a:gridCol>
                <a:gridCol w="3505200">
                  <a:extLst>
                    <a:ext uri="{9D8B030D-6E8A-4147-A177-3AD203B41FA5}">
                      <a16:colId xmlns:a16="http://schemas.microsoft.com/office/drawing/2014/main" val="2538790897"/>
                    </a:ext>
                  </a:extLst>
                </a:gridCol>
              </a:tblGrid>
              <a:tr h="0">
                <a:tc>
                  <a:txBody>
                    <a:bodyPr/>
                    <a:lstStyle/>
                    <a:p>
                      <a:pPr>
                        <a:buNone/>
                      </a:pPr>
                      <a:r>
                        <a:rPr lang="en-IN"/>
                        <a:t>StudentID</a:t>
                      </a:r>
                    </a:p>
                  </a:txBody>
                  <a:tcPr anchor="ctr">
                    <a:lnL>
                      <a:noFill/>
                    </a:lnL>
                    <a:lnR>
                      <a:noFill/>
                    </a:lnR>
                    <a:lnT>
                      <a:noFill/>
                    </a:lnT>
                    <a:lnB>
                      <a:noFill/>
                    </a:lnB>
                    <a:noFill/>
                  </a:tcPr>
                </a:tc>
                <a:tc>
                  <a:txBody>
                    <a:bodyPr/>
                    <a:lstStyle/>
                    <a:p>
                      <a:pPr>
                        <a:buNone/>
                      </a:pPr>
                      <a:r>
                        <a:rPr lang="en-IN"/>
                        <a:t>Skill</a:t>
                      </a:r>
                    </a:p>
                  </a:txBody>
                  <a:tcPr anchor="ctr">
                    <a:lnL>
                      <a:noFill/>
                    </a:lnL>
                    <a:lnR>
                      <a:noFill/>
                    </a:lnR>
                    <a:lnT>
                      <a:noFill/>
                    </a:lnT>
                    <a:lnB>
                      <a:noFill/>
                    </a:lnB>
                    <a:noFill/>
                  </a:tcPr>
                </a:tc>
                <a:tc>
                  <a:txBody>
                    <a:bodyPr/>
                    <a:lstStyle/>
                    <a:p>
                      <a:pPr>
                        <a:buNone/>
                      </a:pPr>
                      <a:r>
                        <a:rPr lang="en-IN"/>
                        <a:t>Hobby</a:t>
                      </a:r>
                    </a:p>
                  </a:txBody>
                  <a:tcPr anchor="ctr">
                    <a:lnL>
                      <a:noFill/>
                    </a:lnL>
                    <a:lnR>
                      <a:noFill/>
                    </a:lnR>
                    <a:lnT>
                      <a:noFill/>
                    </a:lnT>
                    <a:lnB>
                      <a:noFill/>
                    </a:lnB>
                    <a:noFill/>
                  </a:tcPr>
                </a:tc>
                <a:extLst>
                  <a:ext uri="{0D108BD9-81ED-4DB2-BD59-A6C34878D82A}">
                    <a16:rowId xmlns:a16="http://schemas.microsoft.com/office/drawing/2014/main" val="2135478240"/>
                  </a:ext>
                </a:extLst>
              </a:tr>
              <a:tr h="0">
                <a:tc>
                  <a:txBody>
                    <a:bodyPr/>
                    <a:lstStyle/>
                    <a:p>
                      <a:pPr>
                        <a:buNone/>
                      </a:pPr>
                      <a:r>
                        <a:rPr lang="en-IN"/>
                        <a:t>S101</a:t>
                      </a:r>
                    </a:p>
                  </a:txBody>
                  <a:tcPr anchor="ctr">
                    <a:lnL>
                      <a:noFill/>
                    </a:lnL>
                    <a:lnR>
                      <a:noFill/>
                    </a:lnR>
                    <a:lnT>
                      <a:noFill/>
                    </a:lnT>
                    <a:lnB>
                      <a:noFill/>
                    </a:lnB>
                    <a:noFill/>
                  </a:tcPr>
                </a:tc>
                <a:tc>
                  <a:txBody>
                    <a:bodyPr/>
                    <a:lstStyle/>
                    <a:p>
                      <a:pPr>
                        <a:buNone/>
                      </a:pPr>
                      <a:r>
                        <a:rPr lang="en-IN"/>
                        <a:t>Java</a:t>
                      </a:r>
                    </a:p>
                  </a:txBody>
                  <a:tcPr anchor="ctr">
                    <a:lnL>
                      <a:noFill/>
                    </a:lnL>
                    <a:lnR>
                      <a:noFill/>
                    </a:lnR>
                    <a:lnT>
                      <a:noFill/>
                    </a:lnT>
                    <a:lnB>
                      <a:noFill/>
                    </a:lnB>
                    <a:noFill/>
                  </a:tcPr>
                </a:tc>
                <a:tc>
                  <a:txBody>
                    <a:bodyPr/>
                    <a:lstStyle/>
                    <a:p>
                      <a:pPr>
                        <a:buNone/>
                      </a:pPr>
                      <a:r>
                        <a:rPr lang="en-IN" dirty="0"/>
                        <a:t>Cricket</a:t>
                      </a:r>
                    </a:p>
                  </a:txBody>
                  <a:tcPr anchor="ctr">
                    <a:lnL>
                      <a:noFill/>
                    </a:lnL>
                    <a:lnR>
                      <a:noFill/>
                    </a:lnR>
                    <a:lnT>
                      <a:noFill/>
                    </a:lnT>
                    <a:lnB>
                      <a:noFill/>
                    </a:lnB>
                    <a:noFill/>
                  </a:tcPr>
                </a:tc>
                <a:extLst>
                  <a:ext uri="{0D108BD9-81ED-4DB2-BD59-A6C34878D82A}">
                    <a16:rowId xmlns:a16="http://schemas.microsoft.com/office/drawing/2014/main" val="2289093057"/>
                  </a:ext>
                </a:extLst>
              </a:tr>
              <a:tr h="0">
                <a:tc>
                  <a:txBody>
                    <a:bodyPr/>
                    <a:lstStyle/>
                    <a:p>
                      <a:pPr>
                        <a:buNone/>
                      </a:pPr>
                      <a:r>
                        <a:rPr lang="en-IN"/>
                        <a:t>S101</a:t>
                      </a:r>
                    </a:p>
                  </a:txBody>
                  <a:tcPr anchor="ctr">
                    <a:lnL>
                      <a:noFill/>
                    </a:lnL>
                    <a:lnR>
                      <a:noFill/>
                    </a:lnR>
                    <a:lnT>
                      <a:noFill/>
                    </a:lnT>
                    <a:lnB>
                      <a:noFill/>
                    </a:lnB>
                    <a:noFill/>
                  </a:tcPr>
                </a:tc>
                <a:tc>
                  <a:txBody>
                    <a:bodyPr/>
                    <a:lstStyle/>
                    <a:p>
                      <a:pPr>
                        <a:buNone/>
                      </a:pPr>
                      <a:r>
                        <a:rPr lang="en-IN"/>
                        <a:t>Java</a:t>
                      </a:r>
                    </a:p>
                  </a:txBody>
                  <a:tcPr anchor="ctr">
                    <a:lnL>
                      <a:noFill/>
                    </a:lnL>
                    <a:lnR>
                      <a:noFill/>
                    </a:lnR>
                    <a:lnT>
                      <a:noFill/>
                    </a:lnT>
                    <a:lnB>
                      <a:noFill/>
                    </a:lnB>
                    <a:noFill/>
                  </a:tcPr>
                </a:tc>
                <a:tc>
                  <a:txBody>
                    <a:bodyPr/>
                    <a:lstStyle/>
                    <a:p>
                      <a:pPr>
                        <a:buNone/>
                      </a:pPr>
                      <a:r>
                        <a:rPr lang="en-IN"/>
                        <a:t>Music</a:t>
                      </a:r>
                    </a:p>
                  </a:txBody>
                  <a:tcPr anchor="ctr">
                    <a:lnL>
                      <a:noFill/>
                    </a:lnL>
                    <a:lnR>
                      <a:noFill/>
                    </a:lnR>
                    <a:lnT>
                      <a:noFill/>
                    </a:lnT>
                    <a:lnB>
                      <a:noFill/>
                    </a:lnB>
                    <a:noFill/>
                  </a:tcPr>
                </a:tc>
                <a:extLst>
                  <a:ext uri="{0D108BD9-81ED-4DB2-BD59-A6C34878D82A}">
                    <a16:rowId xmlns:a16="http://schemas.microsoft.com/office/drawing/2014/main" val="4007333307"/>
                  </a:ext>
                </a:extLst>
              </a:tr>
              <a:tr h="0">
                <a:tc>
                  <a:txBody>
                    <a:bodyPr/>
                    <a:lstStyle/>
                    <a:p>
                      <a:pPr>
                        <a:buNone/>
                      </a:pPr>
                      <a:r>
                        <a:rPr lang="en-IN"/>
                        <a:t>S101</a:t>
                      </a:r>
                    </a:p>
                  </a:txBody>
                  <a:tcPr anchor="ctr">
                    <a:lnL>
                      <a:noFill/>
                    </a:lnL>
                    <a:lnR>
                      <a:noFill/>
                    </a:lnR>
                    <a:lnT>
                      <a:noFill/>
                    </a:lnT>
                    <a:lnB>
                      <a:noFill/>
                    </a:lnB>
                    <a:noFill/>
                  </a:tcPr>
                </a:tc>
                <a:tc>
                  <a:txBody>
                    <a:bodyPr/>
                    <a:lstStyle/>
                    <a:p>
                      <a:pPr>
                        <a:buNone/>
                      </a:pPr>
                      <a:r>
                        <a:rPr lang="en-IN"/>
                        <a:t>Python</a:t>
                      </a:r>
                    </a:p>
                  </a:txBody>
                  <a:tcPr anchor="ctr">
                    <a:lnL>
                      <a:noFill/>
                    </a:lnL>
                    <a:lnR>
                      <a:noFill/>
                    </a:lnR>
                    <a:lnT>
                      <a:noFill/>
                    </a:lnT>
                    <a:lnB>
                      <a:noFill/>
                    </a:lnB>
                    <a:noFill/>
                  </a:tcPr>
                </a:tc>
                <a:tc>
                  <a:txBody>
                    <a:bodyPr/>
                    <a:lstStyle/>
                    <a:p>
                      <a:pPr>
                        <a:buNone/>
                      </a:pPr>
                      <a:r>
                        <a:rPr lang="en-IN"/>
                        <a:t>Cricket</a:t>
                      </a:r>
                    </a:p>
                  </a:txBody>
                  <a:tcPr anchor="ctr">
                    <a:lnL>
                      <a:noFill/>
                    </a:lnL>
                    <a:lnR>
                      <a:noFill/>
                    </a:lnR>
                    <a:lnT>
                      <a:noFill/>
                    </a:lnT>
                    <a:lnB>
                      <a:noFill/>
                    </a:lnB>
                    <a:noFill/>
                  </a:tcPr>
                </a:tc>
                <a:extLst>
                  <a:ext uri="{0D108BD9-81ED-4DB2-BD59-A6C34878D82A}">
                    <a16:rowId xmlns:a16="http://schemas.microsoft.com/office/drawing/2014/main" val="3961295573"/>
                  </a:ext>
                </a:extLst>
              </a:tr>
              <a:tr h="0">
                <a:tc>
                  <a:txBody>
                    <a:bodyPr/>
                    <a:lstStyle/>
                    <a:p>
                      <a:pPr>
                        <a:buNone/>
                      </a:pPr>
                      <a:r>
                        <a:rPr lang="en-IN"/>
                        <a:t>S101</a:t>
                      </a:r>
                    </a:p>
                  </a:txBody>
                  <a:tcPr anchor="ctr">
                    <a:lnL>
                      <a:noFill/>
                    </a:lnL>
                    <a:lnR>
                      <a:noFill/>
                    </a:lnR>
                    <a:lnT>
                      <a:noFill/>
                    </a:lnT>
                    <a:lnB>
                      <a:noFill/>
                    </a:lnB>
                    <a:noFill/>
                  </a:tcPr>
                </a:tc>
                <a:tc>
                  <a:txBody>
                    <a:bodyPr/>
                    <a:lstStyle/>
                    <a:p>
                      <a:pPr>
                        <a:buNone/>
                      </a:pPr>
                      <a:r>
                        <a:rPr lang="en-IN"/>
                        <a:t>Python</a:t>
                      </a:r>
                    </a:p>
                  </a:txBody>
                  <a:tcPr anchor="ctr">
                    <a:lnL>
                      <a:noFill/>
                    </a:lnL>
                    <a:lnR>
                      <a:noFill/>
                    </a:lnR>
                    <a:lnT>
                      <a:noFill/>
                    </a:lnT>
                    <a:lnB>
                      <a:noFill/>
                    </a:lnB>
                    <a:noFill/>
                  </a:tcPr>
                </a:tc>
                <a:tc>
                  <a:txBody>
                    <a:bodyPr/>
                    <a:lstStyle/>
                    <a:p>
                      <a:pPr>
                        <a:buNone/>
                      </a:pPr>
                      <a:r>
                        <a:rPr lang="en-IN" dirty="0"/>
                        <a:t>Music</a:t>
                      </a:r>
                    </a:p>
                  </a:txBody>
                  <a:tcPr anchor="ctr">
                    <a:lnL>
                      <a:noFill/>
                    </a:lnL>
                    <a:lnR>
                      <a:noFill/>
                    </a:lnR>
                    <a:lnT>
                      <a:noFill/>
                    </a:lnT>
                    <a:lnB>
                      <a:noFill/>
                    </a:lnB>
                    <a:noFill/>
                  </a:tcPr>
                </a:tc>
                <a:extLst>
                  <a:ext uri="{0D108BD9-81ED-4DB2-BD59-A6C34878D82A}">
                    <a16:rowId xmlns:a16="http://schemas.microsoft.com/office/drawing/2014/main" val="4010977217"/>
                  </a:ext>
                </a:extLst>
              </a:tr>
            </a:tbl>
          </a:graphicData>
        </a:graphic>
      </p:graphicFrame>
    </p:spTree>
    <p:extLst>
      <p:ext uri="{BB962C8B-B14F-4D97-AF65-F5344CB8AC3E}">
        <p14:creationId xmlns:p14="http://schemas.microsoft.com/office/powerpoint/2010/main" val="3923337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EE48-295E-76DB-A800-211DB6CDC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D5D7A-5EE1-6FDD-2909-6E90C16EE641}"/>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38E742-2A7B-4E13-9927-5A2834BEED22}"/>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Fourth normal form (4NF):</a:t>
                </a:r>
              </a:p>
              <a:p>
                <a:pPr>
                  <a:buFont typeface="Wingdings" panose="05000000000000000000" pitchFamily="2" charset="2"/>
                  <a:buChar char="§"/>
                </a:pPr>
                <a:r>
                  <a:rPr lang="en-IN" sz="2400" dirty="0"/>
                  <a:t>Here: </a:t>
                </a:r>
                <a14:m>
                  <m:oMath xmlns:m="http://schemas.openxmlformats.org/officeDocument/2006/math">
                    <m:r>
                      <a:rPr lang="en-IN" i="1">
                        <a:latin typeface="Cambria Math" panose="02040503050406030204" pitchFamily="18" charset="0"/>
                      </a:rPr>
                      <m:t>𝑆𝑡𝑢𝑑𝑒𝑛𝑡𝐼𝐷</m:t>
                    </m:r>
                    <m:r>
                      <a:rPr lang="en-IN">
                        <a:latin typeface="Cambria Math" panose="02040503050406030204" pitchFamily="18" charset="0"/>
                      </a:rPr>
                      <m:t>↠</m:t>
                    </m:r>
                    <m:r>
                      <a:rPr lang="en-IN" i="1">
                        <a:latin typeface="Cambria Math" panose="02040503050406030204" pitchFamily="18" charset="0"/>
                      </a:rPr>
                      <m:t>𝑆𝑘𝑖𝑙𝑙</m:t>
                    </m:r>
                    <m:r>
                      <a:rPr lang="en-US" b="0" i="0" smtClean="0">
                        <a:latin typeface="Cambria Math" panose="02040503050406030204" pitchFamily="18" charset="0"/>
                      </a:rPr>
                      <m:t> </m:t>
                    </m:r>
                  </m:oMath>
                </a14:m>
                <a:r>
                  <a:rPr lang="en-IN" sz="2400" dirty="0"/>
                  <a:t>And </a:t>
                </a:r>
                <a14:m>
                  <m:oMath xmlns:m="http://schemas.openxmlformats.org/officeDocument/2006/math">
                    <m:r>
                      <a:rPr lang="en-IN" i="1">
                        <a:latin typeface="Cambria Math" panose="02040503050406030204" pitchFamily="18" charset="0"/>
                      </a:rPr>
                      <m:t>𝑆𝑡𝑢𝑑𝑒𝑛𝑡𝐼𝐷</m:t>
                    </m:r>
                    <m:r>
                      <a:rPr lang="en-IN">
                        <a:latin typeface="Cambria Math" panose="02040503050406030204" pitchFamily="18" charset="0"/>
                      </a:rPr>
                      <m:t>↠</m:t>
                    </m:r>
                    <m:r>
                      <a:rPr lang="en-IN" i="1">
                        <a:latin typeface="Cambria Math" panose="02040503050406030204" pitchFamily="18" charset="0"/>
                      </a:rPr>
                      <m:t>𝐻𝑜𝑏𝑏𝑦</m:t>
                    </m:r>
                  </m:oMath>
                </a14:m>
                <a:endParaRPr lang="en-IN" sz="2400" dirty="0"/>
              </a:p>
              <a:p>
                <a:pPr>
                  <a:buFont typeface="Wingdings" panose="05000000000000000000" pitchFamily="2" charset="2"/>
                  <a:buChar char="§"/>
                </a:pPr>
                <a:r>
                  <a:rPr lang="en-IN" sz="2400" dirty="0"/>
                  <a:t>The skills and hobbies are </a:t>
                </a:r>
                <a:r>
                  <a:rPr lang="en-IN" sz="2400" b="1" dirty="0"/>
                  <a:t>independent multivalued facts</a:t>
                </a:r>
                <a:r>
                  <a:rPr lang="en-IN" sz="2400" dirty="0"/>
                  <a:t> about the student.</a:t>
                </a:r>
              </a:p>
              <a:p>
                <a:pPr>
                  <a:buFont typeface="Wingdings" panose="05000000000000000000" pitchFamily="2" charset="2"/>
                  <a:buChar char="§"/>
                </a:pPr>
                <a:r>
                  <a:rPr lang="en-IN" sz="2400" dirty="0"/>
                  <a:t>The key is: {Student, skills, hobby}</a:t>
                </a:r>
              </a:p>
              <a:p>
                <a:pPr>
                  <a:buFont typeface="Wingdings" panose="05000000000000000000" pitchFamily="2" charset="2"/>
                  <a:buChar char="§"/>
                </a:pPr>
                <a:r>
                  <a:rPr lang="en-IN" sz="2400" dirty="0"/>
                  <a:t>But: </a:t>
                </a:r>
                <a:r>
                  <a:rPr lang="en-IN" sz="2400" dirty="0" err="1"/>
                  <a:t>StudentID</a:t>
                </a:r>
                <a:r>
                  <a:rPr lang="en-IN" sz="2400" dirty="0"/>
                  <a:t>↠ Skill , is a </a:t>
                </a:r>
                <a:r>
                  <a:rPr lang="en-IN" sz="2400" b="1" dirty="0"/>
                  <a:t>non-trivial MVD</a:t>
                </a:r>
                <a:r>
                  <a:rPr lang="en-IN" sz="2400" dirty="0"/>
                  <a:t>, and </a:t>
                </a:r>
                <a:r>
                  <a:rPr lang="en-IN" dirty="0" err="1"/>
                  <a:t>StudentID</a:t>
                </a:r>
                <a:r>
                  <a:rPr lang="en-IN" sz="2400" dirty="0"/>
                  <a:t> alone is </a:t>
                </a:r>
                <a:r>
                  <a:rPr lang="en-IN" sz="2400" b="1" dirty="0"/>
                  <a:t>not a super key</a:t>
                </a:r>
                <a:r>
                  <a:rPr lang="en-IN" sz="2400" dirty="0"/>
                  <a:t>.</a:t>
                </a:r>
              </a:p>
              <a:p>
                <a:pPr>
                  <a:buFont typeface="Wingdings" panose="05000000000000000000" pitchFamily="2" charset="2"/>
                  <a:buChar char="§"/>
                </a:pPr>
                <a:r>
                  <a:rPr lang="en-IN" sz="2400" dirty="0"/>
                  <a:t>Therefore, the relation </a:t>
                </a:r>
                <a:r>
                  <a:rPr lang="en-IN" sz="2400" b="1" dirty="0"/>
                  <a:t>violates 4NF</a:t>
                </a:r>
                <a:r>
                  <a:rPr lang="en-IN" sz="2400" dirty="0"/>
                  <a:t>.</a:t>
                </a:r>
              </a:p>
              <a:p>
                <a:endParaRPr lang="en-IN" sz="2550" dirty="0"/>
              </a:p>
            </p:txBody>
          </p:sp>
        </mc:Choice>
        <mc:Fallback>
          <p:sp>
            <p:nvSpPr>
              <p:cNvPr id="3" name="Content Placeholder 2">
                <a:extLst>
                  <a:ext uri="{FF2B5EF4-FFF2-40B4-BE49-F238E27FC236}">
                    <a16:creationId xmlns:a16="http://schemas.microsoft.com/office/drawing/2014/main" id="{B938E742-2A7B-4E13-9927-5A2834BEED22}"/>
                  </a:ext>
                </a:extLst>
              </p:cNvPr>
              <p:cNvSpPr>
                <a:spLocks noGrp="1" noRot="1" noChangeAspect="1" noMove="1" noResize="1" noEditPoints="1" noAdjustHandles="1" noChangeArrowheads="1" noChangeShapeType="1" noTextEdit="1"/>
              </p:cNvSpPr>
              <p:nvPr>
                <p:ph idx="1"/>
              </p:nvPr>
            </p:nvSpPr>
            <p:spPr>
              <a:xfrm>
                <a:off x="493162" y="996593"/>
                <a:ext cx="11239926" cy="5578297"/>
              </a:xfrm>
              <a:blipFill>
                <a:blip r:embed="rId2"/>
                <a:stretch>
                  <a:fillRect l="-922" t="-1638"/>
                </a:stretch>
              </a:blipFill>
            </p:spPr>
            <p:txBody>
              <a:bodyPr/>
              <a:lstStyle/>
              <a:p>
                <a:r>
                  <a:rPr lang="en-IN">
                    <a:noFill/>
                  </a:rPr>
                  <a:t> </a:t>
                </a:r>
              </a:p>
            </p:txBody>
          </p:sp>
        </mc:Fallback>
      </mc:AlternateContent>
      <p:graphicFrame>
        <p:nvGraphicFramePr>
          <p:cNvPr id="5" name="Table 4">
            <a:extLst>
              <a:ext uri="{FF2B5EF4-FFF2-40B4-BE49-F238E27FC236}">
                <a16:creationId xmlns:a16="http://schemas.microsoft.com/office/drawing/2014/main" id="{D8439012-71DE-DEFA-599E-5451736E64DC}"/>
              </a:ext>
            </a:extLst>
          </p:cNvPr>
          <p:cNvGraphicFramePr>
            <a:graphicFrameLocks noGrp="1"/>
          </p:cNvGraphicFramePr>
          <p:nvPr>
            <p:extLst>
              <p:ext uri="{D42A27DB-BD31-4B8C-83A1-F6EECF244321}">
                <p14:modId xmlns:p14="http://schemas.microsoft.com/office/powerpoint/2010/main" val="1855036099"/>
              </p:ext>
            </p:extLst>
          </p:nvPr>
        </p:nvGraphicFramePr>
        <p:xfrm>
          <a:off x="493160" y="4161569"/>
          <a:ext cx="4921322" cy="1119348"/>
        </p:xfrm>
        <a:graphic>
          <a:graphicData uri="http://schemas.openxmlformats.org/drawingml/2006/table">
            <a:tbl>
              <a:tblPr>
                <a:tableStyleId>{5C22544A-7EE6-4342-B048-85BDC9FD1C3A}</a:tableStyleId>
              </a:tblPr>
              <a:tblGrid>
                <a:gridCol w="2460661">
                  <a:extLst>
                    <a:ext uri="{9D8B030D-6E8A-4147-A177-3AD203B41FA5}">
                      <a16:colId xmlns:a16="http://schemas.microsoft.com/office/drawing/2014/main" val="210638890"/>
                    </a:ext>
                  </a:extLst>
                </a:gridCol>
                <a:gridCol w="2460661">
                  <a:extLst>
                    <a:ext uri="{9D8B030D-6E8A-4147-A177-3AD203B41FA5}">
                      <a16:colId xmlns:a16="http://schemas.microsoft.com/office/drawing/2014/main" val="787899079"/>
                    </a:ext>
                  </a:extLst>
                </a:gridCol>
              </a:tblGrid>
              <a:tr h="373116">
                <a:tc>
                  <a:txBody>
                    <a:bodyPr/>
                    <a:lstStyle/>
                    <a:p>
                      <a:pPr>
                        <a:buNone/>
                      </a:pPr>
                      <a:r>
                        <a:rPr lang="en-IN"/>
                        <a:t>StudentID</a:t>
                      </a:r>
                    </a:p>
                  </a:txBody>
                  <a:tcPr anchor="ctr"/>
                </a:tc>
                <a:tc>
                  <a:txBody>
                    <a:bodyPr/>
                    <a:lstStyle/>
                    <a:p>
                      <a:pPr>
                        <a:buNone/>
                      </a:pPr>
                      <a:r>
                        <a:rPr lang="en-IN"/>
                        <a:t>Skill</a:t>
                      </a:r>
                    </a:p>
                  </a:txBody>
                  <a:tcPr anchor="ctr"/>
                </a:tc>
                <a:extLst>
                  <a:ext uri="{0D108BD9-81ED-4DB2-BD59-A6C34878D82A}">
                    <a16:rowId xmlns:a16="http://schemas.microsoft.com/office/drawing/2014/main" val="430042812"/>
                  </a:ext>
                </a:extLst>
              </a:tr>
              <a:tr h="373116">
                <a:tc>
                  <a:txBody>
                    <a:bodyPr/>
                    <a:lstStyle/>
                    <a:p>
                      <a:pPr>
                        <a:buNone/>
                      </a:pPr>
                      <a:r>
                        <a:rPr lang="en-IN"/>
                        <a:t>S101</a:t>
                      </a:r>
                    </a:p>
                  </a:txBody>
                  <a:tcPr anchor="ctr"/>
                </a:tc>
                <a:tc>
                  <a:txBody>
                    <a:bodyPr/>
                    <a:lstStyle/>
                    <a:p>
                      <a:pPr>
                        <a:buNone/>
                      </a:pPr>
                      <a:r>
                        <a:rPr lang="en-IN"/>
                        <a:t>Java</a:t>
                      </a:r>
                    </a:p>
                  </a:txBody>
                  <a:tcPr anchor="ctr"/>
                </a:tc>
                <a:extLst>
                  <a:ext uri="{0D108BD9-81ED-4DB2-BD59-A6C34878D82A}">
                    <a16:rowId xmlns:a16="http://schemas.microsoft.com/office/drawing/2014/main" val="2181071909"/>
                  </a:ext>
                </a:extLst>
              </a:tr>
              <a:tr h="373116">
                <a:tc>
                  <a:txBody>
                    <a:bodyPr/>
                    <a:lstStyle/>
                    <a:p>
                      <a:pPr>
                        <a:buNone/>
                      </a:pPr>
                      <a:r>
                        <a:rPr lang="en-IN"/>
                        <a:t>S101</a:t>
                      </a:r>
                    </a:p>
                  </a:txBody>
                  <a:tcPr anchor="ctr"/>
                </a:tc>
                <a:tc>
                  <a:txBody>
                    <a:bodyPr/>
                    <a:lstStyle/>
                    <a:p>
                      <a:pPr>
                        <a:buNone/>
                      </a:pPr>
                      <a:r>
                        <a:rPr lang="en-IN" dirty="0"/>
                        <a:t>Python</a:t>
                      </a:r>
                    </a:p>
                  </a:txBody>
                  <a:tcPr anchor="ctr"/>
                </a:tc>
                <a:extLst>
                  <a:ext uri="{0D108BD9-81ED-4DB2-BD59-A6C34878D82A}">
                    <a16:rowId xmlns:a16="http://schemas.microsoft.com/office/drawing/2014/main" val="3354420497"/>
                  </a:ext>
                </a:extLst>
              </a:tr>
            </a:tbl>
          </a:graphicData>
        </a:graphic>
      </p:graphicFrame>
      <p:graphicFrame>
        <p:nvGraphicFramePr>
          <p:cNvPr id="6" name="Table 5">
            <a:extLst>
              <a:ext uri="{FF2B5EF4-FFF2-40B4-BE49-F238E27FC236}">
                <a16:creationId xmlns:a16="http://schemas.microsoft.com/office/drawing/2014/main" id="{11BDFF00-05BB-78B4-B6BA-59E46279A7CD}"/>
              </a:ext>
            </a:extLst>
          </p:cNvPr>
          <p:cNvGraphicFramePr>
            <a:graphicFrameLocks noGrp="1"/>
          </p:cNvGraphicFramePr>
          <p:nvPr>
            <p:extLst>
              <p:ext uri="{D42A27DB-BD31-4B8C-83A1-F6EECF244321}">
                <p14:modId xmlns:p14="http://schemas.microsoft.com/office/powerpoint/2010/main" val="176199312"/>
              </p:ext>
            </p:extLst>
          </p:nvPr>
        </p:nvGraphicFramePr>
        <p:xfrm>
          <a:off x="5897368" y="4120473"/>
          <a:ext cx="5939318" cy="1119348"/>
        </p:xfrm>
        <a:graphic>
          <a:graphicData uri="http://schemas.openxmlformats.org/drawingml/2006/table">
            <a:tbl>
              <a:tblPr>
                <a:tableStyleId>{5C22544A-7EE6-4342-B048-85BDC9FD1C3A}</a:tableStyleId>
              </a:tblPr>
              <a:tblGrid>
                <a:gridCol w="2969659">
                  <a:extLst>
                    <a:ext uri="{9D8B030D-6E8A-4147-A177-3AD203B41FA5}">
                      <a16:colId xmlns:a16="http://schemas.microsoft.com/office/drawing/2014/main" val="4143609552"/>
                    </a:ext>
                  </a:extLst>
                </a:gridCol>
                <a:gridCol w="2969659">
                  <a:extLst>
                    <a:ext uri="{9D8B030D-6E8A-4147-A177-3AD203B41FA5}">
                      <a16:colId xmlns:a16="http://schemas.microsoft.com/office/drawing/2014/main" val="554731897"/>
                    </a:ext>
                  </a:extLst>
                </a:gridCol>
              </a:tblGrid>
              <a:tr h="373116">
                <a:tc>
                  <a:txBody>
                    <a:bodyPr/>
                    <a:lstStyle/>
                    <a:p>
                      <a:pPr>
                        <a:buNone/>
                      </a:pPr>
                      <a:r>
                        <a:rPr lang="en-IN"/>
                        <a:t>StudentID</a:t>
                      </a:r>
                    </a:p>
                  </a:txBody>
                  <a:tcPr anchor="ctr"/>
                </a:tc>
                <a:tc>
                  <a:txBody>
                    <a:bodyPr/>
                    <a:lstStyle/>
                    <a:p>
                      <a:pPr>
                        <a:buNone/>
                      </a:pPr>
                      <a:r>
                        <a:rPr lang="en-IN"/>
                        <a:t>Hobby</a:t>
                      </a:r>
                    </a:p>
                  </a:txBody>
                  <a:tcPr anchor="ctr"/>
                </a:tc>
                <a:extLst>
                  <a:ext uri="{0D108BD9-81ED-4DB2-BD59-A6C34878D82A}">
                    <a16:rowId xmlns:a16="http://schemas.microsoft.com/office/drawing/2014/main" val="2833700806"/>
                  </a:ext>
                </a:extLst>
              </a:tr>
              <a:tr h="373116">
                <a:tc>
                  <a:txBody>
                    <a:bodyPr/>
                    <a:lstStyle/>
                    <a:p>
                      <a:pPr>
                        <a:buNone/>
                      </a:pPr>
                      <a:r>
                        <a:rPr lang="en-IN"/>
                        <a:t>S101</a:t>
                      </a:r>
                    </a:p>
                  </a:txBody>
                  <a:tcPr anchor="ctr"/>
                </a:tc>
                <a:tc>
                  <a:txBody>
                    <a:bodyPr/>
                    <a:lstStyle/>
                    <a:p>
                      <a:pPr>
                        <a:buNone/>
                      </a:pPr>
                      <a:r>
                        <a:rPr lang="en-IN"/>
                        <a:t>Cricket</a:t>
                      </a:r>
                    </a:p>
                  </a:txBody>
                  <a:tcPr anchor="ctr"/>
                </a:tc>
                <a:extLst>
                  <a:ext uri="{0D108BD9-81ED-4DB2-BD59-A6C34878D82A}">
                    <a16:rowId xmlns:a16="http://schemas.microsoft.com/office/drawing/2014/main" val="3686734402"/>
                  </a:ext>
                </a:extLst>
              </a:tr>
              <a:tr h="373116">
                <a:tc>
                  <a:txBody>
                    <a:bodyPr/>
                    <a:lstStyle/>
                    <a:p>
                      <a:pPr>
                        <a:buNone/>
                      </a:pPr>
                      <a:r>
                        <a:rPr lang="en-IN"/>
                        <a:t>S101</a:t>
                      </a:r>
                    </a:p>
                  </a:txBody>
                  <a:tcPr anchor="ctr"/>
                </a:tc>
                <a:tc>
                  <a:txBody>
                    <a:bodyPr/>
                    <a:lstStyle/>
                    <a:p>
                      <a:pPr>
                        <a:buNone/>
                      </a:pPr>
                      <a:r>
                        <a:rPr lang="en-IN" dirty="0"/>
                        <a:t>Music</a:t>
                      </a:r>
                    </a:p>
                  </a:txBody>
                  <a:tcPr anchor="ctr"/>
                </a:tc>
                <a:extLst>
                  <a:ext uri="{0D108BD9-81ED-4DB2-BD59-A6C34878D82A}">
                    <a16:rowId xmlns:a16="http://schemas.microsoft.com/office/drawing/2014/main" val="1642128217"/>
                  </a:ext>
                </a:extLst>
              </a:tr>
            </a:tbl>
          </a:graphicData>
        </a:graphic>
      </p:graphicFrame>
    </p:spTree>
    <p:extLst>
      <p:ext uri="{BB962C8B-B14F-4D97-AF65-F5344CB8AC3E}">
        <p14:creationId xmlns:p14="http://schemas.microsoft.com/office/powerpoint/2010/main" val="177781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DA1B4-03DC-5CBD-E6E6-C1644F9E9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1072F-6E08-3BCD-BFC3-7EA9E5F009CC}"/>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5CEFBF-6AAC-2D8F-9C34-3D4D05570578}"/>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US" b="1" dirty="0">
                    <a:solidFill>
                      <a:srgbClr val="00B050"/>
                    </a:solidFill>
                  </a:rPr>
                  <a:t>Lossless Join Decomposition:</a:t>
                </a:r>
              </a:p>
              <a:p>
                <a:pPr algn="just" fontAlgn="base">
                  <a:buFont typeface="Wingdings" panose="05000000000000000000" pitchFamily="2" charset="2"/>
                  <a:buChar char="§"/>
                </a:pPr>
                <a:r>
                  <a:rPr lang="en-IN" sz="2650" dirty="0"/>
                  <a:t>A lossless decomposition is a process of decomposing a relation schema into multiple relations in such a way that it preserves the information contained in the original relation.</a:t>
                </a:r>
              </a:p>
              <a:p>
                <a:pPr lvl="0" algn="just" fontAlgn="base">
                  <a:buFont typeface="Wingdings" panose="05000000000000000000" pitchFamily="2" charset="2"/>
                  <a:buChar char="§"/>
                </a:pPr>
                <a:r>
                  <a:rPr lang="en-IN" sz="2650" dirty="0"/>
                  <a:t>Joining the decomposed tables gives back the original table. No extra or missing rows are created.</a:t>
                </a:r>
              </a:p>
              <a:p>
                <a:pPr lvl="0" algn="just" fontAlgn="base">
                  <a:buFont typeface="Wingdings" panose="05000000000000000000" pitchFamily="2" charset="2"/>
                  <a:buChar char="§"/>
                </a:pPr>
                <a:r>
                  <a:rPr lang="en-IN" sz="2650" dirty="0"/>
                  <a:t>In Simple Words Lossless decomposition means no information is lost and no extra/spurious tuples are generated when the decomposed relations are joined.</a:t>
                </a:r>
              </a:p>
              <a:p>
                <a:pPr algn="just">
                  <a:buFont typeface="Wingdings" panose="05000000000000000000" pitchFamily="2" charset="2"/>
                  <a:buChar char="§"/>
                </a:pPr>
                <a:r>
                  <a:rPr lang="en-IN" sz="2650" dirty="0"/>
                  <a:t>If relation </a:t>
                </a:r>
                <a:r>
                  <a:rPr lang="en-IN" sz="2650" b="1" dirty="0"/>
                  <a:t>R</a:t>
                </a:r>
                <a:r>
                  <a:rPr lang="en-IN" sz="2650" dirty="0"/>
                  <a:t> is decomposed into </a:t>
                </a:r>
                <a:r>
                  <a:rPr lang="en-IN" sz="2650" b="1" dirty="0"/>
                  <a:t>R₁</a:t>
                </a:r>
                <a:r>
                  <a:rPr lang="en-IN" sz="2650" dirty="0"/>
                  <a:t> and </a:t>
                </a:r>
                <a:r>
                  <a:rPr lang="en-IN" sz="2650" b="1" dirty="0"/>
                  <a:t>R₂</a:t>
                </a:r>
                <a:r>
                  <a:rPr lang="en-IN" sz="2650" dirty="0"/>
                  <a:t>, then the decomposition is lossless if:</a:t>
                </a:r>
              </a:p>
              <a:p>
                <a:pPr algn="just">
                  <a:buFont typeface="Wingdings" panose="05000000000000000000" pitchFamily="2" charset="2"/>
                  <a:buChar char="§"/>
                </a:pPr>
                <a14:m>
                  <m:oMath xmlns:m="http://schemas.openxmlformats.org/officeDocument/2006/math">
                    <m:r>
                      <a:rPr lang="en-IN" sz="2650" i="1"/>
                      <m:t>𝑅</m:t>
                    </m:r>
                    <m:r>
                      <a:rPr lang="en-IN" sz="2650"/>
                      <m:t>=</m:t>
                    </m:r>
                    <m:sSub>
                      <m:sSubPr>
                        <m:ctrlPr>
                          <a:rPr lang="en-IN" sz="2650" i="1"/>
                        </m:ctrlPr>
                      </m:sSubPr>
                      <m:e>
                        <m:r>
                          <a:rPr lang="en-IN" sz="2650" i="1"/>
                          <m:t>𝑅</m:t>
                        </m:r>
                      </m:e>
                      <m:sub>
                        <m:r>
                          <a:rPr lang="en-IN" sz="2650"/>
                          <m:t>1</m:t>
                        </m:r>
                      </m:sub>
                    </m:sSub>
                    <m:r>
                      <a:rPr lang="en-IN" sz="2650"/>
                      <m:t>⋈</m:t>
                    </m:r>
                    <m:sSub>
                      <m:sSubPr>
                        <m:ctrlPr>
                          <a:rPr lang="en-IN" sz="2650" i="1"/>
                        </m:ctrlPr>
                      </m:sSubPr>
                      <m:e>
                        <m:r>
                          <a:rPr lang="en-IN" sz="2650" i="1"/>
                          <m:t>𝑅</m:t>
                        </m:r>
                      </m:e>
                      <m:sub>
                        <m:r>
                          <a:rPr lang="en-IN" sz="2650"/>
                          <m:t>2</m:t>
                        </m:r>
                      </m:sub>
                    </m:sSub>
                  </m:oMath>
                </a14:m>
                <a:r>
                  <a:rPr lang="en-IN" sz="2650" dirty="0"/>
                  <a:t>, where </a:t>
                </a:r>
                <a:r>
                  <a:rPr lang="en-IN" sz="2650" b="1" dirty="0"/>
                  <a:t>⋈</a:t>
                </a:r>
                <a:r>
                  <a:rPr lang="en-IN" sz="2650" dirty="0"/>
                  <a:t> represents the natural join.</a:t>
                </a:r>
              </a:p>
              <a:p>
                <a:pPr lvl="0" fontAlgn="base"/>
                <a:endParaRPr lang="en-IN" dirty="0"/>
              </a:p>
              <a:p>
                <a:pPr algn="just">
                  <a:buFont typeface="Wingdings" panose="05000000000000000000" pitchFamily="2" charset="2"/>
                  <a:buChar char="§"/>
                </a:pPr>
                <a:endParaRPr lang="en-IN" sz="2550" b="1" dirty="0">
                  <a:solidFill>
                    <a:srgbClr val="00B050"/>
                  </a:solidFill>
                </a:endParaRPr>
              </a:p>
            </p:txBody>
          </p:sp>
        </mc:Choice>
        <mc:Fallback>
          <p:sp>
            <p:nvSpPr>
              <p:cNvPr id="3" name="Content Placeholder 2">
                <a:extLst>
                  <a:ext uri="{FF2B5EF4-FFF2-40B4-BE49-F238E27FC236}">
                    <a16:creationId xmlns:a16="http://schemas.microsoft.com/office/drawing/2014/main" id="{AF5CEFBF-6AAC-2D8F-9C34-3D4D05570578}"/>
                  </a:ext>
                </a:extLst>
              </p:cNvPr>
              <p:cNvSpPr>
                <a:spLocks noGrp="1" noRot="1" noChangeAspect="1" noMove="1" noResize="1" noEditPoints="1" noAdjustHandles="1" noChangeArrowheads="1" noChangeShapeType="1" noTextEdit="1"/>
              </p:cNvSpPr>
              <p:nvPr>
                <p:ph idx="1"/>
              </p:nvPr>
            </p:nvSpPr>
            <p:spPr>
              <a:xfrm>
                <a:off x="493162" y="996593"/>
                <a:ext cx="11239926" cy="5578297"/>
              </a:xfrm>
              <a:blipFill>
                <a:blip r:embed="rId2"/>
                <a:stretch>
                  <a:fillRect l="-922" t="-1747" r="-976"/>
                </a:stretch>
              </a:blipFill>
            </p:spPr>
            <p:txBody>
              <a:bodyPr/>
              <a:lstStyle/>
              <a:p>
                <a:r>
                  <a:rPr lang="en-IN">
                    <a:noFill/>
                  </a:rPr>
                  <a:t> </a:t>
                </a:r>
              </a:p>
            </p:txBody>
          </p:sp>
        </mc:Fallback>
      </mc:AlternateContent>
    </p:spTree>
    <p:extLst>
      <p:ext uri="{BB962C8B-B14F-4D97-AF65-F5344CB8AC3E}">
        <p14:creationId xmlns:p14="http://schemas.microsoft.com/office/powerpoint/2010/main" val="2424730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FCFC8-1480-BBC2-4AD0-598E7343C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00FAF-831C-1267-C3C8-C1D0E9406810}"/>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69531F4A-ADF6-3E91-DC08-50E08CF87CEB}"/>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US" b="1" dirty="0">
                <a:solidFill>
                  <a:srgbClr val="00B050"/>
                </a:solidFill>
              </a:rPr>
              <a:t>Lossless Join Decomposition:</a:t>
            </a:r>
          </a:p>
          <a:p>
            <a:pPr algn="just" fontAlgn="base">
              <a:buFont typeface="Wingdings" panose="05000000000000000000" pitchFamily="2" charset="2"/>
              <a:buChar char="§"/>
            </a:pPr>
            <a:r>
              <a:rPr lang="en-IN" sz="2650" dirty="0"/>
              <a:t>Example: </a:t>
            </a:r>
            <a:endParaRPr lang="en-IN" dirty="0"/>
          </a:p>
          <a:p>
            <a:pPr algn="just">
              <a:buFont typeface="Wingdings" panose="05000000000000000000" pitchFamily="2" charset="2"/>
              <a:buChar char="§"/>
            </a:pPr>
            <a:endParaRPr lang="en-IN" sz="2550" b="1" dirty="0">
              <a:solidFill>
                <a:srgbClr val="00B050"/>
              </a:solidFill>
            </a:endParaRPr>
          </a:p>
        </p:txBody>
      </p:sp>
      <p:pic>
        <p:nvPicPr>
          <p:cNvPr id="5" name="Picture 4">
            <a:extLst>
              <a:ext uri="{FF2B5EF4-FFF2-40B4-BE49-F238E27FC236}">
                <a16:creationId xmlns:a16="http://schemas.microsoft.com/office/drawing/2014/main" id="{29C5FD9E-B71B-5E47-C304-3616CC2C6D61}"/>
              </a:ext>
            </a:extLst>
          </p:cNvPr>
          <p:cNvPicPr>
            <a:picLocks noChangeAspect="1"/>
          </p:cNvPicPr>
          <p:nvPr/>
        </p:nvPicPr>
        <p:blipFill>
          <a:blip r:embed="rId2"/>
          <a:stretch>
            <a:fillRect/>
          </a:stretch>
        </p:blipFill>
        <p:spPr>
          <a:xfrm>
            <a:off x="1642436" y="1942715"/>
            <a:ext cx="9278993" cy="4654910"/>
          </a:xfrm>
          <a:prstGeom prst="rect">
            <a:avLst/>
          </a:prstGeom>
        </p:spPr>
      </p:pic>
    </p:spTree>
    <p:extLst>
      <p:ext uri="{BB962C8B-B14F-4D97-AF65-F5344CB8AC3E}">
        <p14:creationId xmlns:p14="http://schemas.microsoft.com/office/powerpoint/2010/main" val="2622015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DCC96-656F-F14C-3D0D-1993CE830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ACC6E-D230-9245-836B-4F4B69536A14}"/>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A88A6AFE-C18B-56CE-315C-F989E6F57E26}"/>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b="1" dirty="0">
                <a:solidFill>
                  <a:srgbClr val="00B050"/>
                </a:solidFill>
              </a:rPr>
              <a:t>Dependency Preservation:</a:t>
            </a:r>
          </a:p>
          <a:p>
            <a:pPr algn="just">
              <a:buFont typeface="Wingdings" panose="05000000000000000000" pitchFamily="2" charset="2"/>
              <a:buChar char="§"/>
            </a:pPr>
            <a:r>
              <a:rPr lang="en-IN" sz="2600" dirty="0"/>
              <a:t>In a </a:t>
            </a:r>
            <a:r>
              <a:rPr lang="en-IN" sz="2600" b="1" dirty="0"/>
              <a:t>Database Management System (DBMS)</a:t>
            </a:r>
            <a:r>
              <a:rPr lang="en-IN" sz="2600" dirty="0"/>
              <a:t>, </a:t>
            </a:r>
            <a:r>
              <a:rPr lang="en-IN" sz="2600" b="1" dirty="0"/>
              <a:t>dependency-preserving decomposition</a:t>
            </a:r>
            <a:r>
              <a:rPr lang="en-IN" sz="2600" dirty="0"/>
              <a:t> refers to the process of breaking down a complex database schema into simpler, smaller tables, such that all the functional dependencies of the original schema are still enforceable without needing to perform additional joins.</a:t>
            </a:r>
          </a:p>
          <a:p>
            <a:pPr algn="just">
              <a:buFont typeface="Wingdings" panose="05000000000000000000" pitchFamily="2" charset="2"/>
              <a:buChar char="§"/>
            </a:pPr>
            <a:r>
              <a:rPr lang="en-IN" sz="2600" b="1" dirty="0"/>
              <a:t>Dependency Preservation</a:t>
            </a:r>
            <a:r>
              <a:rPr lang="en-IN" sz="2600" dirty="0"/>
              <a:t> is a desirable property of </a:t>
            </a:r>
            <a:r>
              <a:rPr lang="en-IN" sz="2600" b="1" dirty="0"/>
              <a:t>relational database decomposition</a:t>
            </a:r>
            <a:r>
              <a:rPr lang="en-IN" sz="2600" dirty="0"/>
              <a:t>.</a:t>
            </a:r>
          </a:p>
          <a:p>
            <a:pPr algn="just">
              <a:buFont typeface="Wingdings" panose="05000000000000000000" pitchFamily="2" charset="2"/>
              <a:buChar char="§"/>
            </a:pPr>
            <a:r>
              <a:rPr lang="en-IN" sz="2600" dirty="0"/>
              <a:t>When a relation is decomposed into multiple smaller relations, the </a:t>
            </a:r>
            <a:r>
              <a:rPr lang="en-IN" sz="2600" b="1" dirty="0"/>
              <a:t>functional dependencies (FDs)</a:t>
            </a:r>
            <a:r>
              <a:rPr lang="en-IN" sz="2600" dirty="0"/>
              <a:t> of the original relation should still be enforceable by checking the individual decomposed relations </a:t>
            </a:r>
            <a:r>
              <a:rPr lang="en-IN" sz="2600" b="1" dirty="0"/>
              <a:t>without performing a join</a:t>
            </a:r>
            <a:r>
              <a:rPr lang="en-IN" sz="2600" dirty="0"/>
              <a:t>.</a:t>
            </a:r>
          </a:p>
          <a:p>
            <a:pPr algn="just" fontAlgn="base">
              <a:buFont typeface="Wingdings" panose="05000000000000000000" pitchFamily="2" charset="2"/>
              <a:buChar char="§"/>
            </a:pPr>
            <a:endParaRPr lang="en-IN" dirty="0"/>
          </a:p>
          <a:p>
            <a:pPr algn="just" fontAlgn="base">
              <a:buFont typeface="Wingdings" panose="05000000000000000000" pitchFamily="2" charset="2"/>
              <a:buChar char="§"/>
            </a:pPr>
            <a:endParaRPr lang="en-IN" dirty="0"/>
          </a:p>
          <a:p>
            <a:pPr algn="just">
              <a:buFont typeface="Wingdings" panose="05000000000000000000" pitchFamily="2" charset="2"/>
              <a:buChar char="§"/>
            </a:pPr>
            <a:endParaRPr lang="en-IN" sz="2550" b="1" dirty="0">
              <a:solidFill>
                <a:srgbClr val="00B050"/>
              </a:solidFill>
            </a:endParaRPr>
          </a:p>
        </p:txBody>
      </p:sp>
    </p:spTree>
    <p:extLst>
      <p:ext uri="{BB962C8B-B14F-4D97-AF65-F5344CB8AC3E}">
        <p14:creationId xmlns:p14="http://schemas.microsoft.com/office/powerpoint/2010/main" val="1813545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8F571-428C-0EC7-123A-FB7FB68CC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10E34-6253-278D-8DF6-65CC9E92D220}"/>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85BD8DD-13DF-061A-94EA-BA8194324A96}"/>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b="1" dirty="0">
                    <a:solidFill>
                      <a:srgbClr val="00B050"/>
                    </a:solidFill>
                  </a:rPr>
                  <a:t>Dependency Preservation:</a:t>
                </a:r>
              </a:p>
              <a:p>
                <a:pPr>
                  <a:buFont typeface="Wingdings" panose="05000000000000000000" pitchFamily="2" charset="2"/>
                  <a:buChar char="§"/>
                </a:pPr>
                <a:r>
                  <a:rPr lang="en-IN" sz="2600" b="1" dirty="0">
                    <a:solidFill>
                      <a:srgbClr val="FF0000"/>
                    </a:solidFill>
                  </a:rPr>
                  <a:t>Example: </a:t>
                </a:r>
                <a:r>
                  <a:rPr lang="en-IN" sz="2600" dirty="0"/>
                  <a:t>Consider: </a:t>
                </a:r>
                <a14:m>
                  <m:oMath xmlns:m="http://schemas.openxmlformats.org/officeDocument/2006/math">
                    <m:r>
                      <a:rPr lang="en-IN" sz="2600" i="1"/>
                      <m:t>𝑅</m:t>
                    </m:r>
                    <m:d>
                      <m:dPr>
                        <m:sepChr m:val=","/>
                        <m:ctrlPr>
                          <a:rPr lang="en-IN" sz="2600" i="1"/>
                        </m:ctrlPr>
                      </m:dPr>
                      <m:e>
                        <m:r>
                          <a:rPr lang="en-IN" sz="2600" i="1"/>
                          <m:t>𝐴</m:t>
                        </m:r>
                      </m:e>
                      <m:e>
                        <m:r>
                          <a:rPr lang="en-IN" sz="2600" i="1"/>
                          <m:t>𝐵</m:t>
                        </m:r>
                      </m:e>
                      <m:e>
                        <m:r>
                          <a:rPr lang="en-IN" sz="2600" i="1"/>
                          <m:t>𝐶</m:t>
                        </m:r>
                      </m:e>
                    </m:d>
                  </m:oMath>
                </a14:m>
                <a:endParaRPr lang="en-IN" sz="2600" dirty="0"/>
              </a:p>
              <a:p>
                <a:pPr>
                  <a:buFont typeface="Wingdings" panose="05000000000000000000" pitchFamily="2" charset="2"/>
                  <a:buChar char="§"/>
                </a:pPr>
                <a:r>
                  <a:rPr lang="en-IN" sz="2600" dirty="0"/>
                  <a:t>Functional dependencies: </a:t>
                </a:r>
                <a14:m>
                  <m:oMath xmlns:m="http://schemas.openxmlformats.org/officeDocument/2006/math">
                    <m:r>
                      <a:rPr lang="en-IN" sz="2600" i="1"/>
                      <m:t>𝐹</m:t>
                    </m:r>
                    <m:r>
                      <a:rPr lang="en-IN" sz="2600"/>
                      <m:t>=</m:t>
                    </m:r>
                    <m:d>
                      <m:dPr>
                        <m:begChr m:val="{"/>
                        <m:endChr m:val="}"/>
                        <m:sepChr m:val=","/>
                        <m:ctrlPr>
                          <a:rPr lang="en-IN" sz="2600" i="1"/>
                        </m:ctrlPr>
                      </m:dPr>
                      <m:e>
                        <m:r>
                          <a:rPr lang="en-IN" sz="2600" i="1"/>
                          <m:t>𝐴</m:t>
                        </m:r>
                      </m:e>
                      <m:e>
                        <m:r>
                          <a:rPr lang="en-IN" sz="2600"/>
                          <m:t>→</m:t>
                        </m:r>
                        <m:r>
                          <a:rPr lang="en-IN" sz="2600" i="1"/>
                          <m:t>𝐵</m:t>
                        </m:r>
                        <m:r>
                          <m:rPr>
                            <m:nor/>
                          </m:rPr>
                          <a:rPr lang="en-IN" sz="2600"/>
                          <m:t> </m:t>
                        </m:r>
                        <m:r>
                          <a:rPr lang="en-IN" sz="2600" i="1"/>
                          <m:t>𝐵</m:t>
                        </m:r>
                        <m:r>
                          <a:rPr lang="en-IN" sz="2600"/>
                          <m:t>→</m:t>
                        </m:r>
                        <m:r>
                          <a:rPr lang="en-IN" sz="2600" i="1"/>
                          <m:t>𝐶</m:t>
                        </m:r>
                      </m:e>
                    </m:d>
                  </m:oMath>
                </a14:m>
                <a:endParaRPr lang="en-IN" sz="2600" b="0" dirty="0"/>
              </a:p>
              <a:p>
                <a:pPr>
                  <a:buFont typeface="Wingdings" panose="05000000000000000000" pitchFamily="2" charset="2"/>
                  <a:buChar char="§"/>
                </a:pPr>
                <a:r>
                  <a:rPr lang="en-IN" sz="2600" dirty="0"/>
                  <a:t>Decompose into: R1 </a:t>
                </a:r>
                <a14:m>
                  <m:oMath xmlns:m="http://schemas.openxmlformats.org/officeDocument/2006/math">
                    <m:d>
                      <m:dPr>
                        <m:sepChr m:val=","/>
                        <m:ctrlPr>
                          <a:rPr lang="en-IN" sz="2600" i="1"/>
                        </m:ctrlPr>
                      </m:dPr>
                      <m:e>
                        <m:r>
                          <a:rPr lang="en-IN" sz="2600" i="1"/>
                          <m:t>𝐴</m:t>
                        </m:r>
                      </m:e>
                      <m:e>
                        <m:r>
                          <a:rPr lang="en-IN" sz="2600" i="1"/>
                          <m:t>𝐵</m:t>
                        </m:r>
                      </m:e>
                    </m:d>
                    <m:r>
                      <a:rPr lang="en-US" sz="2600" b="0" i="0" smtClean="0"/>
                      <m:t> &amp; </m:t>
                    </m:r>
                    <m:sSub>
                      <m:sSubPr>
                        <m:ctrlPr>
                          <a:rPr lang="en-IN" sz="2600" i="1"/>
                        </m:ctrlPr>
                      </m:sSubPr>
                      <m:e>
                        <m:r>
                          <a:rPr lang="en-IN" sz="2600" i="1"/>
                          <m:t>𝑅</m:t>
                        </m:r>
                      </m:e>
                      <m:sub>
                        <m:r>
                          <a:rPr lang="en-IN" sz="2600"/>
                          <m:t>2</m:t>
                        </m:r>
                      </m:sub>
                    </m:sSub>
                    <m:d>
                      <m:dPr>
                        <m:sepChr m:val=","/>
                        <m:ctrlPr>
                          <a:rPr lang="en-IN" sz="2600" i="1"/>
                        </m:ctrlPr>
                      </m:dPr>
                      <m:e>
                        <m:r>
                          <a:rPr lang="en-IN" sz="2600" i="1"/>
                          <m:t>𝐵</m:t>
                        </m:r>
                      </m:e>
                      <m:e>
                        <m:r>
                          <a:rPr lang="en-IN" sz="2600" i="1"/>
                          <m:t>𝐶</m:t>
                        </m:r>
                      </m:e>
                    </m:d>
                  </m:oMath>
                </a14:m>
                <a:endParaRPr lang="en-IN" sz="2600" dirty="0"/>
              </a:p>
              <a:p>
                <a:pPr>
                  <a:buFont typeface="Wingdings" panose="05000000000000000000" pitchFamily="2" charset="2"/>
                  <a:buChar char="§"/>
                </a:pPr>
                <a:r>
                  <a:rPr lang="en-IN" sz="2600" b="1" dirty="0"/>
                  <a:t>Check </a:t>
                </a:r>
                <a14:m>
                  <m:oMath xmlns:m="http://schemas.openxmlformats.org/officeDocument/2006/math">
                    <m:r>
                      <a:rPr lang="en-IN" sz="2600" i="1"/>
                      <m:t>𝐴</m:t>
                    </m:r>
                    <m:r>
                      <a:rPr lang="en-IN" sz="2600"/>
                      <m:t>→</m:t>
                    </m:r>
                    <m:r>
                      <a:rPr lang="en-IN" sz="2600" i="1"/>
                      <m:t>𝐵</m:t>
                    </m:r>
                  </m:oMath>
                </a14:m>
                <a:r>
                  <a:rPr lang="en-IN" sz="2600" b="1" dirty="0"/>
                  <a:t>, </a:t>
                </a:r>
                <a:r>
                  <a:rPr lang="en-IN" sz="2600" dirty="0"/>
                  <a:t>This dependency exists completely in: </a:t>
                </a:r>
                <a14:m>
                  <m:oMath xmlns:m="http://schemas.openxmlformats.org/officeDocument/2006/math">
                    <m:sSub>
                      <m:sSubPr>
                        <m:ctrlPr>
                          <a:rPr lang="en-IN" sz="2600" i="1"/>
                        </m:ctrlPr>
                      </m:sSubPr>
                      <m:e>
                        <m:r>
                          <a:rPr lang="en-IN" sz="2600" i="1"/>
                          <m:t>𝑅</m:t>
                        </m:r>
                      </m:e>
                      <m:sub>
                        <m:r>
                          <a:rPr lang="en-IN" sz="2600"/>
                          <m:t>1</m:t>
                        </m:r>
                      </m:sub>
                    </m:sSub>
                    <m:d>
                      <m:dPr>
                        <m:sepChr m:val=","/>
                        <m:ctrlPr>
                          <a:rPr lang="en-IN" sz="2600" i="1"/>
                        </m:ctrlPr>
                      </m:dPr>
                      <m:e>
                        <m:r>
                          <a:rPr lang="en-IN" sz="2600" i="1"/>
                          <m:t>𝐴</m:t>
                        </m:r>
                      </m:e>
                      <m:e>
                        <m:r>
                          <a:rPr lang="en-IN" sz="2600" i="1"/>
                          <m:t>𝐵</m:t>
                        </m:r>
                      </m:e>
                    </m:d>
                  </m:oMath>
                </a14:m>
                <a:endParaRPr lang="en-IN" sz="2600" dirty="0"/>
              </a:p>
              <a:p>
                <a:pPr>
                  <a:buFont typeface="Wingdings" panose="05000000000000000000" pitchFamily="2" charset="2"/>
                  <a:buChar char="§"/>
                </a:pPr>
                <a:r>
                  <a:rPr lang="en-IN" sz="2600" dirty="0"/>
                  <a:t>So it can be checked directly in </a:t>
                </a:r>
                <a14:m>
                  <m:oMath xmlns:m="http://schemas.openxmlformats.org/officeDocument/2006/math">
                    <m:sSub>
                      <m:sSubPr>
                        <m:ctrlPr>
                          <a:rPr lang="en-IN" sz="2600" i="1"/>
                        </m:ctrlPr>
                      </m:sSubPr>
                      <m:e>
                        <m:r>
                          <a:rPr lang="en-IN" sz="2600" i="1"/>
                          <m:t>𝑅</m:t>
                        </m:r>
                      </m:e>
                      <m:sub>
                        <m:r>
                          <a:rPr lang="en-IN" sz="2600"/>
                          <m:t>1</m:t>
                        </m:r>
                      </m:sub>
                    </m:sSub>
                  </m:oMath>
                </a14:m>
                <a:r>
                  <a:rPr lang="en-IN" sz="2600" dirty="0"/>
                  <a:t>.</a:t>
                </a:r>
              </a:p>
              <a:p>
                <a:pPr>
                  <a:buFont typeface="Wingdings" panose="05000000000000000000" pitchFamily="2" charset="2"/>
                  <a:buChar char="§"/>
                </a:pPr>
                <a:r>
                  <a:rPr lang="en-IN" sz="2600" b="1" dirty="0"/>
                  <a:t>Check </a:t>
                </a:r>
                <a14:m>
                  <m:oMath xmlns:m="http://schemas.openxmlformats.org/officeDocument/2006/math">
                    <m:r>
                      <a:rPr lang="en-IN" sz="2600" i="1"/>
                      <m:t>𝐵</m:t>
                    </m:r>
                    <m:r>
                      <a:rPr lang="en-IN" sz="2600"/>
                      <m:t>→</m:t>
                    </m:r>
                    <m:r>
                      <a:rPr lang="en-IN" sz="2600" i="1"/>
                      <m:t>𝐶</m:t>
                    </m:r>
                  </m:oMath>
                </a14:m>
                <a:r>
                  <a:rPr lang="en-IN" sz="2600" b="1" dirty="0"/>
                  <a:t>, </a:t>
                </a:r>
                <a:r>
                  <a:rPr lang="en-IN" sz="2600" dirty="0"/>
                  <a:t>This dependency exists completely in: </a:t>
                </a:r>
                <a14:m>
                  <m:oMath xmlns:m="http://schemas.openxmlformats.org/officeDocument/2006/math">
                    <m:sSub>
                      <m:sSubPr>
                        <m:ctrlPr>
                          <a:rPr lang="en-IN" sz="2600" i="1"/>
                        </m:ctrlPr>
                      </m:sSubPr>
                      <m:e>
                        <m:r>
                          <a:rPr lang="en-IN" sz="2600" i="1"/>
                          <m:t>𝑅</m:t>
                        </m:r>
                      </m:e>
                      <m:sub>
                        <m:r>
                          <a:rPr lang="en-IN" sz="2600"/>
                          <m:t>2</m:t>
                        </m:r>
                      </m:sub>
                    </m:sSub>
                    <m:d>
                      <m:dPr>
                        <m:sepChr m:val=","/>
                        <m:ctrlPr>
                          <a:rPr lang="en-IN" sz="2600" i="1"/>
                        </m:ctrlPr>
                      </m:dPr>
                      <m:e>
                        <m:r>
                          <a:rPr lang="en-IN" sz="2600" i="1"/>
                          <m:t>𝐵</m:t>
                        </m:r>
                      </m:e>
                      <m:e>
                        <m:r>
                          <a:rPr lang="en-IN" sz="2600" i="1"/>
                          <m:t>𝐶</m:t>
                        </m:r>
                      </m:e>
                    </m:d>
                  </m:oMath>
                </a14:m>
                <a:endParaRPr lang="en-IN" sz="2600" dirty="0"/>
              </a:p>
              <a:p>
                <a:pPr>
                  <a:buFont typeface="Wingdings" panose="05000000000000000000" pitchFamily="2" charset="2"/>
                  <a:buChar char="§"/>
                </a:pPr>
                <a:r>
                  <a:rPr lang="en-IN" sz="2600" dirty="0"/>
                  <a:t>So it can be checked directly in </a:t>
                </a:r>
                <a14:m>
                  <m:oMath xmlns:m="http://schemas.openxmlformats.org/officeDocument/2006/math">
                    <m:sSub>
                      <m:sSubPr>
                        <m:ctrlPr>
                          <a:rPr lang="en-IN" sz="2600" i="1"/>
                        </m:ctrlPr>
                      </m:sSubPr>
                      <m:e>
                        <m:r>
                          <a:rPr lang="en-IN" sz="2600" i="1"/>
                          <m:t>𝑅</m:t>
                        </m:r>
                      </m:e>
                      <m:sub>
                        <m:r>
                          <a:rPr lang="en-IN" sz="2600"/>
                          <m:t>2</m:t>
                        </m:r>
                      </m:sub>
                    </m:sSub>
                  </m:oMath>
                </a14:m>
                <a:r>
                  <a:rPr lang="en-IN" sz="2600" dirty="0"/>
                  <a:t>.</a:t>
                </a:r>
              </a:p>
              <a:p>
                <a:pPr>
                  <a:buFont typeface="Wingdings" panose="05000000000000000000" pitchFamily="2" charset="2"/>
                  <a:buChar char="§"/>
                </a:pPr>
                <a:r>
                  <a:rPr lang="en-IN" sz="2600" dirty="0"/>
                  <a:t>Therefore, </a:t>
                </a:r>
                <a:r>
                  <a:rPr lang="en-IN" sz="2600" b="1" dirty="0"/>
                  <a:t>The decomposition is dependency preserving. </a:t>
                </a:r>
                <a:r>
                  <a:rPr lang="en-IN" sz="2600" dirty="0"/>
                  <a:t>No join is required to check either dependency.</a:t>
                </a:r>
              </a:p>
              <a:p>
                <a:pPr algn="just">
                  <a:buFont typeface="Wingdings" panose="05000000000000000000" pitchFamily="2" charset="2"/>
                  <a:buChar char="§"/>
                </a:pPr>
                <a:endParaRPr lang="en-IN" sz="2600" b="1" dirty="0">
                  <a:solidFill>
                    <a:srgbClr val="FF0000"/>
                  </a:solidFill>
                </a:endParaRPr>
              </a:p>
              <a:p>
                <a:pPr algn="just" fontAlgn="base">
                  <a:buFont typeface="Wingdings" panose="05000000000000000000" pitchFamily="2" charset="2"/>
                  <a:buChar char="§"/>
                </a:pPr>
                <a:endParaRPr lang="en-IN" dirty="0"/>
              </a:p>
              <a:p>
                <a:pPr algn="just" fontAlgn="base">
                  <a:buFont typeface="Wingdings" panose="05000000000000000000" pitchFamily="2" charset="2"/>
                  <a:buChar char="§"/>
                </a:pPr>
                <a:endParaRPr lang="en-IN" dirty="0"/>
              </a:p>
              <a:p>
                <a:pPr algn="just">
                  <a:buFont typeface="Wingdings" panose="05000000000000000000" pitchFamily="2" charset="2"/>
                  <a:buChar char="§"/>
                </a:pPr>
                <a:endParaRPr lang="en-IN" sz="2550" b="1" dirty="0">
                  <a:solidFill>
                    <a:srgbClr val="00B050"/>
                  </a:solidFill>
                </a:endParaRPr>
              </a:p>
            </p:txBody>
          </p:sp>
        </mc:Choice>
        <mc:Fallback>
          <p:sp>
            <p:nvSpPr>
              <p:cNvPr id="3" name="Content Placeholder 2">
                <a:extLst>
                  <a:ext uri="{FF2B5EF4-FFF2-40B4-BE49-F238E27FC236}">
                    <a16:creationId xmlns:a16="http://schemas.microsoft.com/office/drawing/2014/main" id="{385BD8DD-13DF-061A-94EA-BA8194324A96}"/>
                  </a:ext>
                </a:extLst>
              </p:cNvPr>
              <p:cNvSpPr>
                <a:spLocks noGrp="1" noRot="1" noChangeAspect="1" noMove="1" noResize="1" noEditPoints="1" noAdjustHandles="1" noChangeArrowheads="1" noChangeShapeType="1" noTextEdit="1"/>
              </p:cNvSpPr>
              <p:nvPr>
                <p:ph idx="1"/>
              </p:nvPr>
            </p:nvSpPr>
            <p:spPr>
              <a:xfrm>
                <a:off x="493162" y="996593"/>
                <a:ext cx="11239926" cy="5578297"/>
              </a:xfrm>
              <a:blipFill>
                <a:blip r:embed="rId2"/>
                <a:stretch>
                  <a:fillRect l="-922" t="-1747" r="-108"/>
                </a:stretch>
              </a:blipFill>
            </p:spPr>
            <p:txBody>
              <a:bodyPr/>
              <a:lstStyle/>
              <a:p>
                <a:r>
                  <a:rPr lang="en-IN">
                    <a:noFill/>
                  </a:rPr>
                  <a:t> </a:t>
                </a:r>
              </a:p>
            </p:txBody>
          </p:sp>
        </mc:Fallback>
      </mc:AlternateContent>
    </p:spTree>
    <p:extLst>
      <p:ext uri="{BB962C8B-B14F-4D97-AF65-F5344CB8AC3E}">
        <p14:creationId xmlns:p14="http://schemas.microsoft.com/office/powerpoint/2010/main" val="9392360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E34E-7F81-2605-0E1B-89C14FB37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02AB9-5772-2B6A-4982-9E9D0C4F6D08}"/>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8C983191-1911-F964-6E5F-D1E1BA207237}"/>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Fifth normal form (5NF):</a:t>
            </a:r>
          </a:p>
          <a:p>
            <a:pPr algn="just">
              <a:buFont typeface="Wingdings" panose="05000000000000000000" pitchFamily="2" charset="2"/>
              <a:buChar char="§"/>
            </a:pPr>
            <a:r>
              <a:rPr lang="en-IN" sz="2600" b="1" dirty="0"/>
              <a:t>Key Principle:</a:t>
            </a:r>
            <a:r>
              <a:rPr lang="en-IN" sz="2600" dirty="0"/>
              <a:t> </a:t>
            </a:r>
            <a:r>
              <a:rPr lang="en-IN" sz="2600" b="1" dirty="0"/>
              <a:t>Lossless Decomposition:</a:t>
            </a:r>
            <a:r>
              <a:rPr lang="en-IN" sz="2600" dirty="0"/>
              <a:t> A table should be decomposed in such a way that it can be perfectly reconstructed without any loss of data or creation of spurious rows.</a:t>
            </a:r>
          </a:p>
          <a:p>
            <a:pPr lvl="0" algn="just">
              <a:buFont typeface="Wingdings" panose="05000000000000000000" pitchFamily="2" charset="2"/>
              <a:buChar char="§"/>
            </a:pPr>
            <a:r>
              <a:rPr lang="en-IN" dirty="0"/>
              <a:t>To reach 5NF: </a:t>
            </a:r>
            <a:r>
              <a:rPr lang="en-IN" sz="2600" b="1" dirty="0"/>
              <a:t>Table must be in 4NF.</a:t>
            </a:r>
            <a:endParaRPr lang="en-IN" sz="2600" dirty="0"/>
          </a:p>
          <a:p>
            <a:pPr lvl="0" algn="just">
              <a:buFont typeface="Wingdings" panose="05000000000000000000" pitchFamily="2" charset="2"/>
              <a:buChar char="§"/>
            </a:pPr>
            <a:r>
              <a:rPr lang="en-IN" sz="2600" b="1" dirty="0"/>
              <a:t>Lossless join decomposition:</a:t>
            </a:r>
            <a:r>
              <a:rPr lang="en-IN" sz="2600" dirty="0"/>
              <a:t> When a table is divided vertically into multiple tables, the recombined result should exactly match the original data, with no extra rows generated. This is particularly important when dealing with complex interrelationships among data.</a:t>
            </a:r>
          </a:p>
          <a:p>
            <a:pPr lvl="0" algn="just">
              <a:buFont typeface="Wingdings" panose="05000000000000000000" pitchFamily="2" charset="2"/>
              <a:buChar char="§"/>
            </a:pPr>
            <a:r>
              <a:rPr lang="en-IN" sz="2600" b="1" dirty="0"/>
              <a:t>Candidate key as a common attribute:</a:t>
            </a:r>
            <a:r>
              <a:rPr lang="en-IN" sz="2600" dirty="0"/>
              <a:t> When splitting tables, ensuring that the common attribute is a candidate key helps maintain a lossless join, meaning that joining the decomposed tables will not introduce redundancy or errors.</a:t>
            </a:r>
          </a:p>
          <a:p>
            <a:pPr algn="just">
              <a:buFont typeface="Wingdings" panose="05000000000000000000" pitchFamily="2" charset="2"/>
              <a:buChar char="Ø"/>
            </a:pPr>
            <a:endParaRPr lang="en-IN" sz="2700" b="1" dirty="0">
              <a:solidFill>
                <a:srgbClr val="00B050"/>
              </a:solidFill>
            </a:endParaRPr>
          </a:p>
          <a:p>
            <a:endParaRPr lang="en-IN" sz="2550" dirty="0"/>
          </a:p>
        </p:txBody>
      </p:sp>
    </p:spTree>
    <p:extLst>
      <p:ext uri="{BB962C8B-B14F-4D97-AF65-F5344CB8AC3E}">
        <p14:creationId xmlns:p14="http://schemas.microsoft.com/office/powerpoint/2010/main" val="110393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2AB68-971C-1AEC-9BFC-20B26F550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0F631-8E46-47E6-F029-1464665E6885}"/>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D6CC60D1-D4B4-660B-B2C0-BEC9CD043ED8}"/>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IN" sz="2700" b="1" dirty="0">
                <a:solidFill>
                  <a:srgbClr val="00B050"/>
                </a:solidFill>
              </a:rPr>
              <a:t>Fifth normal form (5NF):</a:t>
            </a:r>
          </a:p>
          <a:p>
            <a:pPr algn="just">
              <a:buFont typeface="Wingdings" panose="05000000000000000000" pitchFamily="2" charset="2"/>
              <a:buChar char="Ø"/>
            </a:pPr>
            <a:endParaRPr lang="en-IN" sz="2700" b="1" dirty="0">
              <a:solidFill>
                <a:srgbClr val="00B050"/>
              </a:solidFill>
            </a:endParaRPr>
          </a:p>
          <a:p>
            <a:endParaRPr lang="en-IN" sz="2550" dirty="0"/>
          </a:p>
        </p:txBody>
      </p:sp>
      <p:pic>
        <p:nvPicPr>
          <p:cNvPr id="5" name="Picture 4">
            <a:extLst>
              <a:ext uri="{FF2B5EF4-FFF2-40B4-BE49-F238E27FC236}">
                <a16:creationId xmlns:a16="http://schemas.microsoft.com/office/drawing/2014/main" id="{2174827E-A811-495C-FD0A-7E449E8A310F}"/>
              </a:ext>
            </a:extLst>
          </p:cNvPr>
          <p:cNvPicPr>
            <a:picLocks noChangeAspect="1"/>
          </p:cNvPicPr>
          <p:nvPr/>
        </p:nvPicPr>
        <p:blipFill>
          <a:blip r:embed="rId2"/>
          <a:stretch>
            <a:fillRect/>
          </a:stretch>
        </p:blipFill>
        <p:spPr>
          <a:xfrm>
            <a:off x="1456503" y="1603667"/>
            <a:ext cx="9567668" cy="4799727"/>
          </a:xfrm>
          <a:prstGeom prst="rect">
            <a:avLst/>
          </a:prstGeom>
        </p:spPr>
      </p:pic>
    </p:spTree>
    <p:extLst>
      <p:ext uri="{BB962C8B-B14F-4D97-AF65-F5344CB8AC3E}">
        <p14:creationId xmlns:p14="http://schemas.microsoft.com/office/powerpoint/2010/main" val="2964242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2362B-755C-422C-2AFC-773132C75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FA3C4-7084-CB61-6B32-80BB9413A1F4}"/>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2647E6C6-E0ED-5E6D-9A21-186C81A547A8}"/>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US" b="1" dirty="0">
                <a:solidFill>
                  <a:srgbClr val="00B050"/>
                </a:solidFill>
              </a:rPr>
              <a:t>Multi valued dependencies(MVD):</a:t>
            </a:r>
          </a:p>
          <a:p>
            <a:pPr algn="just">
              <a:buFont typeface="Wingdings" panose="05000000000000000000" pitchFamily="2" charset="2"/>
              <a:buChar char="§"/>
            </a:pPr>
            <a:r>
              <a:rPr lang="en-IN" sz="2650" b="1" dirty="0"/>
              <a:t>Multivalued dependency (MVD)</a:t>
            </a:r>
            <a:r>
              <a:rPr lang="en-IN" sz="2650" dirty="0"/>
              <a:t> is a type of dependency that exists when a table contains more than one multivalued attribute and changes to one attribute can affect another attribute. </a:t>
            </a:r>
          </a:p>
          <a:p>
            <a:pPr algn="just">
              <a:buFont typeface="Wingdings" panose="05000000000000000000" pitchFamily="2" charset="2"/>
              <a:buChar char="§"/>
            </a:pPr>
            <a:r>
              <a:rPr lang="en-IN" sz="2650" dirty="0"/>
              <a:t>In other words, MVD occurs when a table has a non-trivial relationship between attributes that are not part of the same composite key.</a:t>
            </a:r>
          </a:p>
          <a:p>
            <a:pPr lvl="0" algn="just" fontAlgn="base">
              <a:buFont typeface="Wingdings" panose="05000000000000000000" pitchFamily="2" charset="2"/>
              <a:buChar char="§"/>
            </a:pPr>
            <a:r>
              <a:rPr lang="en-IN" sz="2650" dirty="0"/>
              <a:t>Multivalued dependency occurs when two attributes in a table are independent of each other but, both depend on a third attribute.</a:t>
            </a:r>
          </a:p>
          <a:p>
            <a:pPr lvl="0" algn="just" fontAlgn="base">
              <a:buFont typeface="Wingdings" panose="05000000000000000000" pitchFamily="2" charset="2"/>
              <a:buChar char="§"/>
            </a:pPr>
            <a:r>
              <a:rPr lang="en-IN" sz="2650" dirty="0"/>
              <a:t>A multivalued dependency consists of at least two attributes that are dependent on a third attribute that's why it always requires at least three attributes.</a:t>
            </a:r>
          </a:p>
          <a:p>
            <a:pPr algn="just">
              <a:buFont typeface="Wingdings" panose="05000000000000000000" pitchFamily="2" charset="2"/>
              <a:buChar char="§"/>
            </a:pPr>
            <a:r>
              <a:rPr lang="en-IN" sz="2650" dirty="0"/>
              <a:t>It is represented as: X↠Y​, where </a:t>
            </a:r>
            <a:r>
              <a:rPr lang="en-IN" sz="2650" b="1" dirty="0"/>
              <a:t>X multi-determines Y </a:t>
            </a:r>
            <a:r>
              <a:rPr lang="en-IN" sz="2650" dirty="0"/>
              <a:t>Or </a:t>
            </a:r>
            <a:r>
              <a:rPr lang="en-IN" sz="2650" b="1" dirty="0"/>
              <a:t>Y is multivalued dependent on X.</a:t>
            </a:r>
            <a:endParaRPr lang="en-IN" sz="2650" dirty="0"/>
          </a:p>
          <a:p>
            <a:endParaRPr lang="en-IN" b="1" dirty="0">
              <a:solidFill>
                <a:srgbClr val="00B050"/>
              </a:solidFill>
            </a:endParaRPr>
          </a:p>
          <a:p>
            <a:endParaRPr lang="en-IN" sz="2550" dirty="0"/>
          </a:p>
        </p:txBody>
      </p:sp>
    </p:spTree>
    <p:extLst>
      <p:ext uri="{BB962C8B-B14F-4D97-AF65-F5344CB8AC3E}">
        <p14:creationId xmlns:p14="http://schemas.microsoft.com/office/powerpoint/2010/main" val="3747289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06B5-DFD9-178F-3789-7C751D031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6650B-D163-22CF-A503-3AE1D29A81A0}"/>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D10AD1C-4D4A-B0BD-E810-87F9533DB319}"/>
                  </a:ext>
                </a:extLst>
              </p:cNvPr>
              <p:cNvSpPr>
                <a:spLocks noGrp="1"/>
              </p:cNvSpPr>
              <p:nvPr>
                <p:ph idx="1"/>
              </p:nvPr>
            </p:nvSpPr>
            <p:spPr>
              <a:xfrm>
                <a:off x="493162" y="996593"/>
                <a:ext cx="11239926" cy="5578297"/>
              </a:xfrm>
            </p:spPr>
            <p:style>
              <a:lnRef idx="2">
                <a:schemeClr val="dk1"/>
              </a:lnRef>
              <a:fillRef idx="1">
                <a:schemeClr val="lt1"/>
              </a:fillRef>
              <a:effectRef idx="0">
                <a:schemeClr val="dk1"/>
              </a:effectRef>
              <a:fontRef idx="minor">
                <a:schemeClr val="dk1"/>
              </a:fontRef>
            </p:style>
            <p:txBody>
              <a:bodyPr>
                <a:noAutofit/>
              </a:bodyPr>
              <a:lstStyle/>
              <a:p>
                <a:pPr algn="just">
                  <a:buFont typeface="Wingdings" panose="05000000000000000000" pitchFamily="2" charset="2"/>
                  <a:buChar char="Ø"/>
                </a:pPr>
                <a:r>
                  <a:rPr lang="en-IN" sz="2700" dirty="0">
                    <a:solidFill>
                      <a:srgbClr val="00B050"/>
                    </a:solidFill>
                  </a:rPr>
                  <a:t> </a:t>
                </a:r>
                <a:r>
                  <a:rPr lang="en-US" b="1" dirty="0">
                    <a:solidFill>
                      <a:srgbClr val="00B050"/>
                    </a:solidFill>
                  </a:rPr>
                  <a:t>Multi valued dependencies(MVD):</a:t>
                </a:r>
              </a:p>
              <a:p>
                <a:r>
                  <a:rPr lang="en-US" b="1" dirty="0">
                    <a:solidFill>
                      <a:srgbClr val="FF0000"/>
                    </a:solidFill>
                  </a:rPr>
                  <a:t>Example: </a:t>
                </a:r>
                <a:r>
                  <a:rPr lang="en-IN" dirty="0"/>
                  <a:t>Consider: </a:t>
                </a:r>
                <a14:m>
                  <m:oMath xmlns:m="http://schemas.openxmlformats.org/officeDocument/2006/math">
                    <m:r>
                      <a:rPr lang="en-IN" i="1"/>
                      <m:t>𝑆𝑇𝑈𝐷𝐸𝑁𝑇</m:t>
                    </m:r>
                    <m:r>
                      <a:rPr lang="en-US" b="0" i="1" smtClean="0">
                        <a:latin typeface="Cambria Math" panose="02040503050406030204" pitchFamily="18" charset="0"/>
                      </a:rPr>
                      <m:t>(</m:t>
                    </m:r>
                    <m:r>
                      <a:rPr lang="en-US" b="0" i="1" smtClean="0">
                        <a:latin typeface="Cambria Math" panose="02040503050406030204" pitchFamily="18" charset="0"/>
                      </a:rPr>
                      <m:t>𝑆𝑡𝑢𝑑𝑒𝑛𝑡</m:t>
                    </m:r>
                    <m:r>
                      <a:rPr lang="en-US" b="0" i="1" smtClean="0">
                        <a:latin typeface="Cambria Math" panose="02040503050406030204" pitchFamily="18" charset="0"/>
                      </a:rPr>
                      <m:t>,</m:t>
                    </m:r>
                    <m:r>
                      <a:rPr lang="en-US" b="0" i="1" smtClean="0">
                        <a:latin typeface="Cambria Math" panose="02040503050406030204" pitchFamily="18" charset="0"/>
                      </a:rPr>
                      <m:t>𝐻𝑜𝑏𝑏𝑦</m:t>
                    </m:r>
                    <m:r>
                      <a:rPr lang="en-US" b="0" i="1" smtClean="0">
                        <a:latin typeface="Cambria Math" panose="02040503050406030204" pitchFamily="18" charset="0"/>
                      </a:rPr>
                      <m:t>,</m:t>
                    </m:r>
                    <m:r>
                      <a:rPr lang="en-US" b="0" i="1" smtClean="0">
                        <a:latin typeface="Cambria Math" panose="02040503050406030204" pitchFamily="18" charset="0"/>
                      </a:rPr>
                      <m:t>𝐿𝑎𝑛𝑔𝑢𝑎𝑔𝑒𝑠</m:t>
                    </m:r>
                    <m:r>
                      <a:rPr lang="en-US" b="0" i="1" smtClean="0">
                        <a:latin typeface="Cambria Math" panose="02040503050406030204" pitchFamily="18" charset="0"/>
                      </a:rPr>
                      <m:t>)</m:t>
                    </m:r>
                  </m:oMath>
                </a14:m>
                <a:endParaRPr lang="en-IN" dirty="0"/>
              </a:p>
              <a:p>
                <a:r>
                  <a:rPr lang="en-IN" dirty="0"/>
                  <a:t>Suppose: </a:t>
                </a:r>
                <a:r>
                  <a:rPr lang="en-IN" b="1" dirty="0"/>
                  <a:t>Student S1 - </a:t>
                </a:r>
                <a:r>
                  <a:rPr lang="en-IN" dirty="0"/>
                  <a:t>Hobbies: Cricket &amp; Music </a:t>
                </a:r>
              </a:p>
              <a:p>
                <a:pPr marL="0" indent="0">
                  <a:buNone/>
                </a:pPr>
                <a:r>
                  <a:rPr lang="en-IN" dirty="0"/>
                  <a:t>                                           Languages: English &amp; Hindi </a:t>
                </a:r>
              </a:p>
              <a:p>
                <a:r>
                  <a:rPr lang="en-IN" dirty="0"/>
                  <a:t>Since hobbies and languages are independent, the relation contains:</a:t>
                </a:r>
              </a:p>
              <a:p>
                <a:endParaRPr lang="en-IN" dirty="0"/>
              </a:p>
              <a:p>
                <a:endParaRPr lang="en-IN" dirty="0"/>
              </a:p>
              <a:p>
                <a:endParaRPr lang="en-IN" dirty="0"/>
              </a:p>
              <a:p>
                <a:endParaRPr lang="en-IN" dirty="0"/>
              </a:p>
              <a:p>
                <a:r>
                  <a:rPr lang="en-IN" dirty="0"/>
                  <a:t>Thus: </a:t>
                </a:r>
                <a14:m>
                  <m:oMath xmlns:m="http://schemas.openxmlformats.org/officeDocument/2006/math">
                    <m:borderBox>
                      <m:borderBoxPr>
                        <m:ctrlPr>
                          <a:rPr lang="en-IN" i="1"/>
                        </m:ctrlPr>
                      </m:borderBoxPr>
                      <m:e>
                        <m:r>
                          <a:rPr lang="en-IN" i="1"/>
                          <m:t>𝑆𝑡𝑢𝑑𝑒𝑛𝑡𝐼𝐷</m:t>
                        </m:r>
                        <m:r>
                          <a:rPr lang="en-IN"/>
                          <m:t>↠</m:t>
                        </m:r>
                        <m:r>
                          <a:rPr lang="en-IN" i="1"/>
                          <m:t>𝐻𝑜𝑏𝑏𝑦</m:t>
                        </m:r>
                      </m:e>
                    </m:borderBox>
                  </m:oMath>
                </a14:m>
                <a:r>
                  <a:rPr lang="en-IN" dirty="0"/>
                  <a:t> and ​ </a:t>
                </a:r>
              </a:p>
              <a:p>
                <a:pPr algn="just">
                  <a:buFont typeface="Wingdings" panose="05000000000000000000" pitchFamily="2" charset="2"/>
                  <a:buChar char="§"/>
                </a:pPr>
                <a:endParaRPr lang="en-US" b="1" dirty="0">
                  <a:solidFill>
                    <a:srgbClr val="FF0000"/>
                  </a:solidFill>
                </a:endParaRPr>
              </a:p>
              <a:p>
                <a:endParaRPr lang="en-IN" b="1" dirty="0">
                  <a:solidFill>
                    <a:srgbClr val="00B050"/>
                  </a:solidFill>
                </a:endParaRPr>
              </a:p>
              <a:p>
                <a:endParaRPr lang="en-IN" sz="2550" dirty="0"/>
              </a:p>
            </p:txBody>
          </p:sp>
        </mc:Choice>
        <mc:Fallback>
          <p:sp>
            <p:nvSpPr>
              <p:cNvPr id="3" name="Content Placeholder 2">
                <a:extLst>
                  <a:ext uri="{FF2B5EF4-FFF2-40B4-BE49-F238E27FC236}">
                    <a16:creationId xmlns:a16="http://schemas.microsoft.com/office/drawing/2014/main" id="{8D10AD1C-4D4A-B0BD-E810-87F9533DB319}"/>
                  </a:ext>
                </a:extLst>
              </p:cNvPr>
              <p:cNvSpPr>
                <a:spLocks noGrp="1" noRot="1" noChangeAspect="1" noMove="1" noResize="1" noEditPoints="1" noAdjustHandles="1" noChangeArrowheads="1" noChangeShapeType="1" noTextEdit="1"/>
              </p:cNvSpPr>
              <p:nvPr>
                <p:ph idx="1"/>
              </p:nvPr>
            </p:nvSpPr>
            <p:spPr>
              <a:xfrm>
                <a:off x="493162" y="996593"/>
                <a:ext cx="11239926" cy="5578297"/>
              </a:xfrm>
              <a:blipFill>
                <a:blip r:embed="rId2"/>
                <a:stretch>
                  <a:fillRect l="-921" t="-1634"/>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3E5C9EC0-9F54-BE6F-3536-226A3430C978}"/>
              </a:ext>
            </a:extLst>
          </p:cNvPr>
          <p:cNvGraphicFramePr>
            <a:graphicFrameLocks noGrp="1"/>
          </p:cNvGraphicFramePr>
          <p:nvPr>
            <p:extLst>
              <p:ext uri="{D42A27DB-BD31-4B8C-83A1-F6EECF244321}">
                <p14:modId xmlns:p14="http://schemas.microsoft.com/office/powerpoint/2010/main" val="2178234632"/>
              </p:ext>
            </p:extLst>
          </p:nvPr>
        </p:nvGraphicFramePr>
        <p:xfrm>
          <a:off x="735458" y="3559505"/>
          <a:ext cx="10515600" cy="18288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963993244"/>
                    </a:ext>
                  </a:extLst>
                </a:gridCol>
                <a:gridCol w="3505200">
                  <a:extLst>
                    <a:ext uri="{9D8B030D-6E8A-4147-A177-3AD203B41FA5}">
                      <a16:colId xmlns:a16="http://schemas.microsoft.com/office/drawing/2014/main" val="1394332544"/>
                    </a:ext>
                  </a:extLst>
                </a:gridCol>
                <a:gridCol w="3505200">
                  <a:extLst>
                    <a:ext uri="{9D8B030D-6E8A-4147-A177-3AD203B41FA5}">
                      <a16:colId xmlns:a16="http://schemas.microsoft.com/office/drawing/2014/main" val="371600482"/>
                    </a:ext>
                  </a:extLst>
                </a:gridCol>
              </a:tblGrid>
              <a:tr h="0">
                <a:tc>
                  <a:txBody>
                    <a:bodyPr/>
                    <a:lstStyle/>
                    <a:p>
                      <a:pPr>
                        <a:buNone/>
                      </a:pPr>
                      <a:r>
                        <a:rPr lang="en-IN"/>
                        <a:t>StudentID</a:t>
                      </a:r>
                    </a:p>
                  </a:txBody>
                  <a:tcPr anchor="ctr"/>
                </a:tc>
                <a:tc>
                  <a:txBody>
                    <a:bodyPr/>
                    <a:lstStyle/>
                    <a:p>
                      <a:pPr>
                        <a:buNone/>
                      </a:pPr>
                      <a:r>
                        <a:rPr lang="en-IN"/>
                        <a:t>Hobby</a:t>
                      </a:r>
                    </a:p>
                  </a:txBody>
                  <a:tcPr anchor="ctr"/>
                </a:tc>
                <a:tc>
                  <a:txBody>
                    <a:bodyPr/>
                    <a:lstStyle/>
                    <a:p>
                      <a:pPr>
                        <a:buNone/>
                      </a:pPr>
                      <a:r>
                        <a:rPr lang="en-IN"/>
                        <a:t>Language</a:t>
                      </a:r>
                    </a:p>
                  </a:txBody>
                  <a:tcPr anchor="ctr"/>
                </a:tc>
                <a:extLst>
                  <a:ext uri="{0D108BD9-81ED-4DB2-BD59-A6C34878D82A}">
                    <a16:rowId xmlns:a16="http://schemas.microsoft.com/office/drawing/2014/main" val="2761986331"/>
                  </a:ext>
                </a:extLst>
              </a:tr>
              <a:tr h="0">
                <a:tc>
                  <a:txBody>
                    <a:bodyPr/>
                    <a:lstStyle/>
                    <a:p>
                      <a:pPr>
                        <a:buNone/>
                      </a:pPr>
                      <a:r>
                        <a:rPr lang="en-IN"/>
                        <a:t>S1</a:t>
                      </a:r>
                    </a:p>
                  </a:txBody>
                  <a:tcPr anchor="ctr"/>
                </a:tc>
                <a:tc>
                  <a:txBody>
                    <a:bodyPr/>
                    <a:lstStyle/>
                    <a:p>
                      <a:pPr>
                        <a:buNone/>
                      </a:pPr>
                      <a:r>
                        <a:rPr lang="en-IN"/>
                        <a:t>Cricket</a:t>
                      </a:r>
                    </a:p>
                  </a:txBody>
                  <a:tcPr anchor="ctr"/>
                </a:tc>
                <a:tc>
                  <a:txBody>
                    <a:bodyPr/>
                    <a:lstStyle/>
                    <a:p>
                      <a:pPr>
                        <a:buNone/>
                      </a:pPr>
                      <a:r>
                        <a:rPr lang="en-IN"/>
                        <a:t>English</a:t>
                      </a:r>
                    </a:p>
                  </a:txBody>
                  <a:tcPr anchor="ctr"/>
                </a:tc>
                <a:extLst>
                  <a:ext uri="{0D108BD9-81ED-4DB2-BD59-A6C34878D82A}">
                    <a16:rowId xmlns:a16="http://schemas.microsoft.com/office/drawing/2014/main" val="3331692289"/>
                  </a:ext>
                </a:extLst>
              </a:tr>
              <a:tr h="0">
                <a:tc>
                  <a:txBody>
                    <a:bodyPr/>
                    <a:lstStyle/>
                    <a:p>
                      <a:pPr>
                        <a:buNone/>
                      </a:pPr>
                      <a:r>
                        <a:rPr lang="en-IN"/>
                        <a:t>S1</a:t>
                      </a:r>
                    </a:p>
                  </a:txBody>
                  <a:tcPr anchor="ctr"/>
                </a:tc>
                <a:tc>
                  <a:txBody>
                    <a:bodyPr/>
                    <a:lstStyle/>
                    <a:p>
                      <a:pPr>
                        <a:buNone/>
                      </a:pPr>
                      <a:r>
                        <a:rPr lang="en-IN"/>
                        <a:t>Cricket</a:t>
                      </a:r>
                    </a:p>
                  </a:txBody>
                  <a:tcPr anchor="ctr"/>
                </a:tc>
                <a:tc>
                  <a:txBody>
                    <a:bodyPr/>
                    <a:lstStyle/>
                    <a:p>
                      <a:pPr>
                        <a:buNone/>
                      </a:pPr>
                      <a:r>
                        <a:rPr lang="en-IN"/>
                        <a:t>Hindi</a:t>
                      </a:r>
                    </a:p>
                  </a:txBody>
                  <a:tcPr anchor="ctr"/>
                </a:tc>
                <a:extLst>
                  <a:ext uri="{0D108BD9-81ED-4DB2-BD59-A6C34878D82A}">
                    <a16:rowId xmlns:a16="http://schemas.microsoft.com/office/drawing/2014/main" val="2589639708"/>
                  </a:ext>
                </a:extLst>
              </a:tr>
              <a:tr h="0">
                <a:tc>
                  <a:txBody>
                    <a:bodyPr/>
                    <a:lstStyle/>
                    <a:p>
                      <a:pPr>
                        <a:buNone/>
                      </a:pPr>
                      <a:r>
                        <a:rPr lang="en-IN"/>
                        <a:t>S1</a:t>
                      </a:r>
                    </a:p>
                  </a:txBody>
                  <a:tcPr anchor="ctr"/>
                </a:tc>
                <a:tc>
                  <a:txBody>
                    <a:bodyPr/>
                    <a:lstStyle/>
                    <a:p>
                      <a:pPr>
                        <a:buNone/>
                      </a:pPr>
                      <a:r>
                        <a:rPr lang="en-IN"/>
                        <a:t>Music</a:t>
                      </a:r>
                    </a:p>
                  </a:txBody>
                  <a:tcPr anchor="ctr"/>
                </a:tc>
                <a:tc>
                  <a:txBody>
                    <a:bodyPr/>
                    <a:lstStyle/>
                    <a:p>
                      <a:pPr>
                        <a:buNone/>
                      </a:pPr>
                      <a:r>
                        <a:rPr lang="en-IN"/>
                        <a:t>English</a:t>
                      </a:r>
                    </a:p>
                  </a:txBody>
                  <a:tcPr anchor="ctr"/>
                </a:tc>
                <a:extLst>
                  <a:ext uri="{0D108BD9-81ED-4DB2-BD59-A6C34878D82A}">
                    <a16:rowId xmlns:a16="http://schemas.microsoft.com/office/drawing/2014/main" val="1690055361"/>
                  </a:ext>
                </a:extLst>
              </a:tr>
              <a:tr h="0">
                <a:tc>
                  <a:txBody>
                    <a:bodyPr/>
                    <a:lstStyle/>
                    <a:p>
                      <a:pPr>
                        <a:buNone/>
                      </a:pPr>
                      <a:r>
                        <a:rPr lang="en-IN"/>
                        <a:t>S1</a:t>
                      </a:r>
                    </a:p>
                  </a:txBody>
                  <a:tcPr anchor="ctr"/>
                </a:tc>
                <a:tc>
                  <a:txBody>
                    <a:bodyPr/>
                    <a:lstStyle/>
                    <a:p>
                      <a:pPr>
                        <a:buNone/>
                      </a:pPr>
                      <a:r>
                        <a:rPr lang="en-IN"/>
                        <a:t>Music</a:t>
                      </a:r>
                    </a:p>
                  </a:txBody>
                  <a:tcPr anchor="ctr"/>
                </a:tc>
                <a:tc>
                  <a:txBody>
                    <a:bodyPr/>
                    <a:lstStyle/>
                    <a:p>
                      <a:pPr>
                        <a:buNone/>
                      </a:pPr>
                      <a:r>
                        <a:rPr lang="en-IN" dirty="0"/>
                        <a:t>Hindi</a:t>
                      </a:r>
                    </a:p>
                  </a:txBody>
                  <a:tcPr anchor="ctr"/>
                </a:tc>
                <a:extLst>
                  <a:ext uri="{0D108BD9-81ED-4DB2-BD59-A6C34878D82A}">
                    <a16:rowId xmlns:a16="http://schemas.microsoft.com/office/drawing/2014/main" val="15528131"/>
                  </a:ext>
                </a:extLst>
              </a:tr>
            </a:tbl>
          </a:graphicData>
        </a:graphic>
      </p:graphicFrame>
      <p:sp>
        <p:nvSpPr>
          <p:cNvPr id="5" name="Rectangle 4">
            <a:extLst>
              <a:ext uri="{FF2B5EF4-FFF2-40B4-BE49-F238E27FC236}">
                <a16:creationId xmlns:a16="http://schemas.microsoft.com/office/drawing/2014/main" id="{34844388-510D-E304-1035-C9C9F6127D9F}"/>
              </a:ext>
            </a:extLst>
          </p:cNvPr>
          <p:cNvSpPr/>
          <p:nvPr/>
        </p:nvSpPr>
        <p:spPr>
          <a:xfrm>
            <a:off x="5784351" y="5594279"/>
            <a:ext cx="3842533" cy="5342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900" i="1" dirty="0" err="1"/>
              <a:t>StudentID</a:t>
            </a:r>
            <a:r>
              <a:rPr lang="en-IN" sz="2900" i="1" dirty="0"/>
              <a:t> ↠ Language</a:t>
            </a:r>
          </a:p>
        </p:txBody>
      </p:sp>
    </p:spTree>
    <p:extLst>
      <p:ext uri="{BB962C8B-B14F-4D97-AF65-F5344CB8AC3E}">
        <p14:creationId xmlns:p14="http://schemas.microsoft.com/office/powerpoint/2010/main" val="4250266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A1737-732C-5E40-D585-F95726393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D06AB-8DBF-B500-501C-ECD27DA88A4B}"/>
              </a:ext>
            </a:extLst>
          </p:cNvPr>
          <p:cNvSpPr>
            <a:spLocks noGrp="1"/>
          </p:cNvSpPr>
          <p:nvPr>
            <p:ph type="title"/>
          </p:nvPr>
        </p:nvSpPr>
        <p:spPr>
          <a:xfrm>
            <a:off x="493160" y="283110"/>
            <a:ext cx="11239928" cy="590194"/>
          </a:xfrm>
          <a:solidFill>
            <a:schemeClr val="accent2"/>
          </a:solidFill>
        </p:spPr>
        <p:txBody>
          <a:bodyPr>
            <a:normAutofit/>
          </a:bodyPr>
          <a:lstStyle/>
          <a:p>
            <a:r>
              <a:rPr lang="en-US" sz="3200" b="1" dirty="0">
                <a:solidFill>
                  <a:schemeClr val="bg1"/>
                </a:solidFill>
                <a:latin typeface="+mn-lt"/>
              </a:rPr>
              <a:t>Normalization</a:t>
            </a:r>
            <a:endParaRPr lang="en-IN" sz="3200" b="1" dirty="0">
              <a:solidFill>
                <a:schemeClr val="bg1"/>
              </a:solidFill>
              <a:latin typeface="+mn-lt"/>
            </a:endParaRPr>
          </a:p>
        </p:txBody>
      </p:sp>
      <p:sp>
        <p:nvSpPr>
          <p:cNvPr id="3" name="Content Placeholder 2">
            <a:extLst>
              <a:ext uri="{FF2B5EF4-FFF2-40B4-BE49-F238E27FC236}">
                <a16:creationId xmlns:a16="http://schemas.microsoft.com/office/drawing/2014/main" id="{6EE3A251-6BAF-409D-7481-4528A76033D8}"/>
              </a:ext>
            </a:extLst>
          </p:cNvPr>
          <p:cNvSpPr>
            <a:spLocks noGrp="1"/>
          </p:cNvSpPr>
          <p:nvPr>
            <p:ph idx="1"/>
          </p:nvPr>
        </p:nvSpPr>
        <p:spPr>
          <a:xfrm>
            <a:off x="493162" y="996593"/>
            <a:ext cx="11239926" cy="5578297"/>
          </a:xfrm>
        </p:spPr>
        <p:txBody>
          <a:bodyPr>
            <a:noAutofit/>
          </a:bodyPr>
          <a:lstStyle/>
          <a:p>
            <a:pPr algn="just">
              <a:buFont typeface="Wingdings" panose="05000000000000000000" pitchFamily="2" charset="2"/>
              <a:buChar char="Ø"/>
            </a:pPr>
            <a:r>
              <a:rPr lang="en-IN" sz="2700" dirty="0">
                <a:solidFill>
                  <a:srgbClr val="00B050"/>
                </a:solidFill>
              </a:rPr>
              <a:t> </a:t>
            </a:r>
            <a:r>
              <a:rPr lang="en-US" b="1" dirty="0">
                <a:solidFill>
                  <a:srgbClr val="00B050"/>
                </a:solidFill>
              </a:rPr>
              <a:t>Multi valued dependencies(MVD):</a:t>
            </a:r>
          </a:p>
          <a:p>
            <a:pPr algn="just">
              <a:buFont typeface="Wingdings" panose="05000000000000000000" pitchFamily="2" charset="2"/>
              <a:buChar char="§"/>
            </a:pPr>
            <a:r>
              <a:rPr lang="en-IN" sz="2700" b="1" dirty="0"/>
              <a:t>MVD vs Functional Dependency</a:t>
            </a:r>
            <a:endParaRPr lang="en-IN" sz="2700" b="1" dirty="0">
              <a:solidFill>
                <a:srgbClr val="00B050"/>
              </a:solidFill>
            </a:endParaRPr>
          </a:p>
          <a:p>
            <a:endParaRPr lang="en-IN" sz="2550" dirty="0"/>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75F15291-DD67-D42A-18C8-BDFA846024D9}"/>
                  </a:ext>
                </a:extLst>
              </p:cNvPr>
              <p:cNvGraphicFramePr>
                <a:graphicFrameLocks noGrp="1"/>
              </p:cNvGraphicFramePr>
              <p:nvPr>
                <p:extLst>
                  <p:ext uri="{D42A27DB-BD31-4B8C-83A1-F6EECF244321}">
                    <p14:modId xmlns:p14="http://schemas.microsoft.com/office/powerpoint/2010/main" val="1458927392"/>
                  </p:ext>
                </p:extLst>
              </p:nvPr>
            </p:nvGraphicFramePr>
            <p:xfrm>
              <a:off x="838200" y="2085654"/>
              <a:ext cx="10515600" cy="433569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131816232"/>
                        </a:ext>
                      </a:extLst>
                    </a:gridCol>
                    <a:gridCol w="5257800">
                      <a:extLst>
                        <a:ext uri="{9D8B030D-6E8A-4147-A177-3AD203B41FA5}">
                          <a16:colId xmlns:a16="http://schemas.microsoft.com/office/drawing/2014/main" val="1609569786"/>
                        </a:ext>
                      </a:extLst>
                    </a:gridCol>
                  </a:tblGrid>
                  <a:tr h="722615">
                    <a:tc>
                      <a:txBody>
                        <a:bodyPr/>
                        <a:lstStyle/>
                        <a:p>
                          <a:pPr>
                            <a:buNone/>
                          </a:pPr>
                          <a:r>
                            <a:rPr lang="en-IN" sz="2600" b="1" dirty="0"/>
                            <a:t>Functional Dependency</a:t>
                          </a:r>
                        </a:p>
                      </a:txBody>
                      <a:tcPr anchor="ctr"/>
                    </a:tc>
                    <a:tc>
                      <a:txBody>
                        <a:bodyPr/>
                        <a:lstStyle/>
                        <a:p>
                          <a:pPr>
                            <a:buNone/>
                          </a:pPr>
                          <a:r>
                            <a:rPr lang="en-IN" sz="2600" b="1" dirty="0"/>
                            <a:t>Multivalued Dependency</a:t>
                          </a:r>
                        </a:p>
                      </a:txBody>
                      <a:tcPr anchor="ctr"/>
                    </a:tc>
                    <a:extLst>
                      <a:ext uri="{0D108BD9-81ED-4DB2-BD59-A6C34878D82A}">
                        <a16:rowId xmlns:a16="http://schemas.microsoft.com/office/drawing/2014/main" val="2073936896"/>
                      </a:ext>
                    </a:extLst>
                  </a:tr>
                  <a:tr h="722615">
                    <a:tc>
                      <a:txBody>
                        <a:bodyPr/>
                        <a:lstStyle/>
                        <a:p>
                          <a:pPr>
                            <a:buNone/>
                          </a:pPr>
                          <a:r>
                            <a:rPr lang="en-IN" sz="2400"/>
                            <a:t>Represented as </a:t>
                          </a:r>
                          <a14:m>
                            <m:oMath xmlns:m="http://schemas.openxmlformats.org/officeDocument/2006/math">
                              <m:r>
                                <a:rPr lang="en-IN" sz="2400"/>
                                <m:t>𝑋</m:t>
                              </m:r>
                              <m:r>
                                <a:rPr lang="en-IN" sz="2400"/>
                                <m:t>→</m:t>
                              </m:r>
                              <m:r>
                                <a:rPr lang="en-IN" sz="2400"/>
                                <m:t>𝑌</m:t>
                              </m:r>
                            </m:oMath>
                          </a14:m>
                          <a:endParaRPr lang="en-IN" sz="2400"/>
                        </a:p>
                      </a:txBody>
                      <a:tcPr anchor="ctr"/>
                    </a:tc>
                    <a:tc>
                      <a:txBody>
                        <a:bodyPr/>
                        <a:lstStyle/>
                        <a:p>
                          <a:pPr>
                            <a:buNone/>
                          </a:pPr>
                          <a:r>
                            <a:rPr lang="en-IN" sz="2400" dirty="0"/>
                            <a:t>Represented as </a:t>
                          </a:r>
                          <a14:m>
                            <m:oMath xmlns:m="http://schemas.openxmlformats.org/officeDocument/2006/math">
                              <m:r>
                                <a:rPr lang="en-IN" sz="2400"/>
                                <m:t>𝑋</m:t>
                              </m:r>
                              <m:r>
                                <a:rPr lang="en-IN" sz="2400"/>
                                <m:t>↠</m:t>
                              </m:r>
                              <m:r>
                                <a:rPr lang="en-IN" sz="2400"/>
                                <m:t>𝑌</m:t>
                              </m:r>
                            </m:oMath>
                          </a14:m>
                          <a:endParaRPr lang="en-IN" sz="2400" dirty="0"/>
                        </a:p>
                      </a:txBody>
                      <a:tcPr anchor="ctr"/>
                    </a:tc>
                    <a:extLst>
                      <a:ext uri="{0D108BD9-81ED-4DB2-BD59-A6C34878D82A}">
                        <a16:rowId xmlns:a16="http://schemas.microsoft.com/office/drawing/2014/main" val="3376429433"/>
                      </a:ext>
                    </a:extLst>
                  </a:tr>
                  <a:tr h="722615">
                    <a:tc>
                      <a:txBody>
                        <a:bodyPr/>
                        <a:lstStyle/>
                        <a:p>
                          <a:pPr>
                            <a:buNone/>
                          </a:pPr>
                          <a:r>
                            <a:rPr lang="en-IN" sz="2400" dirty="0"/>
                            <a:t>X determines a single value of Y</a:t>
                          </a:r>
                        </a:p>
                      </a:txBody>
                      <a:tcPr anchor="ctr"/>
                    </a:tc>
                    <a:tc>
                      <a:txBody>
                        <a:bodyPr/>
                        <a:lstStyle/>
                        <a:p>
                          <a:pPr>
                            <a:buNone/>
                          </a:pPr>
                          <a:r>
                            <a:rPr lang="en-IN" sz="2400"/>
                            <a:t>X determines a set of Y values</a:t>
                          </a:r>
                        </a:p>
                      </a:txBody>
                      <a:tcPr anchor="ctr"/>
                    </a:tc>
                    <a:extLst>
                      <a:ext uri="{0D108BD9-81ED-4DB2-BD59-A6C34878D82A}">
                        <a16:rowId xmlns:a16="http://schemas.microsoft.com/office/drawing/2014/main" val="4052266939"/>
                      </a:ext>
                    </a:extLst>
                  </a:tr>
                  <a:tr h="722615">
                    <a:tc>
                      <a:txBody>
                        <a:bodyPr/>
                        <a:lstStyle/>
                        <a:p>
                          <a:pPr>
                            <a:buNone/>
                          </a:pPr>
                          <a:r>
                            <a:rPr lang="en-IN" sz="2400"/>
                            <a:t>Deals with single-valued relationship</a:t>
                          </a:r>
                        </a:p>
                      </a:txBody>
                      <a:tcPr anchor="ctr"/>
                    </a:tc>
                    <a:tc>
                      <a:txBody>
                        <a:bodyPr/>
                        <a:lstStyle/>
                        <a:p>
                          <a:pPr>
                            <a:buNone/>
                          </a:pPr>
                          <a:r>
                            <a:rPr lang="en-IN" sz="2400"/>
                            <a:t>Deals with multi-valued relationship</a:t>
                          </a:r>
                        </a:p>
                      </a:txBody>
                      <a:tcPr anchor="ctr"/>
                    </a:tc>
                    <a:extLst>
                      <a:ext uri="{0D108BD9-81ED-4DB2-BD59-A6C34878D82A}">
                        <a16:rowId xmlns:a16="http://schemas.microsoft.com/office/drawing/2014/main" val="2219324782"/>
                      </a:ext>
                    </a:extLst>
                  </a:tr>
                  <a:tr h="722615">
                    <a:tc>
                      <a:txBody>
                        <a:bodyPr/>
                        <a:lstStyle/>
                        <a:p>
                          <a:pPr>
                            <a:buNone/>
                          </a:pPr>
                          <a:r>
                            <a:rPr lang="en-IN" sz="2400"/>
                            <a:t>Used in normalization up to BCNF</a:t>
                          </a:r>
                        </a:p>
                      </a:txBody>
                      <a:tcPr anchor="ctr"/>
                    </a:tc>
                    <a:tc>
                      <a:txBody>
                        <a:bodyPr/>
                        <a:lstStyle/>
                        <a:p>
                          <a:pPr>
                            <a:buNone/>
                          </a:pPr>
                          <a:r>
                            <a:rPr lang="en-IN" sz="2400"/>
                            <a:t>Important for 4NF</a:t>
                          </a:r>
                        </a:p>
                      </a:txBody>
                      <a:tcPr anchor="ctr"/>
                    </a:tc>
                    <a:extLst>
                      <a:ext uri="{0D108BD9-81ED-4DB2-BD59-A6C34878D82A}">
                        <a16:rowId xmlns:a16="http://schemas.microsoft.com/office/drawing/2014/main" val="2512969001"/>
                      </a:ext>
                    </a:extLst>
                  </a:tr>
                  <a:tr h="722615">
                    <a:tc>
                      <a:txBody>
                        <a:bodyPr/>
                        <a:lstStyle/>
                        <a:p>
                          <a:pPr>
                            <a:buNone/>
                          </a:pPr>
                          <a:r>
                            <a:rPr lang="en-IN" sz="2400" dirty="0"/>
                            <a:t>Example: </a:t>
                          </a:r>
                          <a14:m>
                            <m:oMath xmlns:m="http://schemas.openxmlformats.org/officeDocument/2006/math">
                              <m:r>
                                <a:rPr lang="en-IN" sz="2400"/>
                                <m:t>𝐸𝑚𝑝𝐼𝐷</m:t>
                              </m:r>
                              <m:r>
                                <a:rPr lang="en-IN" sz="2400"/>
                                <m:t>→</m:t>
                              </m:r>
                              <m:r>
                                <a:rPr lang="en-IN" sz="2400"/>
                                <m:t>𝐸𝑚𝑝𝑁𝑎𝑚𝑒</m:t>
                              </m:r>
                            </m:oMath>
                          </a14:m>
                          <a:endParaRPr lang="en-IN" sz="2400" dirty="0"/>
                        </a:p>
                      </a:txBody>
                      <a:tcPr anchor="ctr"/>
                    </a:tc>
                    <a:tc>
                      <a:txBody>
                        <a:bodyPr/>
                        <a:lstStyle/>
                        <a:p>
                          <a:pPr>
                            <a:buNone/>
                          </a:pPr>
                          <a:r>
                            <a:rPr lang="en-IN" sz="2400" dirty="0"/>
                            <a:t>Example: </a:t>
                          </a:r>
                          <a14:m>
                            <m:oMath xmlns:m="http://schemas.openxmlformats.org/officeDocument/2006/math">
                              <m:r>
                                <a:rPr lang="en-IN" sz="2400"/>
                                <m:t>𝑆𝑡𝑢𝑑𝑒𝑛𝑡</m:t>
                              </m:r>
                              <m:r>
                                <a:rPr lang="en-IN" sz="2400"/>
                                <m:t>↠</m:t>
                              </m:r>
                              <m:r>
                                <a:rPr lang="en-IN" sz="2400"/>
                                <m:t>𝐻𝑜𝑏𝑏𝑦</m:t>
                              </m:r>
                            </m:oMath>
                          </a14:m>
                          <a:endParaRPr lang="en-IN" sz="2400" dirty="0"/>
                        </a:p>
                      </a:txBody>
                      <a:tcPr anchor="ctr"/>
                    </a:tc>
                    <a:extLst>
                      <a:ext uri="{0D108BD9-81ED-4DB2-BD59-A6C34878D82A}">
                        <a16:rowId xmlns:a16="http://schemas.microsoft.com/office/drawing/2014/main" val="129351235"/>
                      </a:ext>
                    </a:extLst>
                  </a:tr>
                </a:tbl>
              </a:graphicData>
            </a:graphic>
          </p:graphicFrame>
        </mc:Choice>
        <mc:Fallback>
          <p:graphicFrame>
            <p:nvGraphicFramePr>
              <p:cNvPr id="4" name="Table 3">
                <a:extLst>
                  <a:ext uri="{FF2B5EF4-FFF2-40B4-BE49-F238E27FC236}">
                    <a16:creationId xmlns:a16="http://schemas.microsoft.com/office/drawing/2014/main" id="{75F15291-DD67-D42A-18C8-BDFA846024D9}"/>
                  </a:ext>
                </a:extLst>
              </p:cNvPr>
              <p:cNvGraphicFramePr>
                <a:graphicFrameLocks noGrp="1"/>
              </p:cNvGraphicFramePr>
              <p:nvPr>
                <p:extLst>
                  <p:ext uri="{D42A27DB-BD31-4B8C-83A1-F6EECF244321}">
                    <p14:modId xmlns:p14="http://schemas.microsoft.com/office/powerpoint/2010/main" val="1458927392"/>
                  </p:ext>
                </p:extLst>
              </p:nvPr>
            </p:nvGraphicFramePr>
            <p:xfrm>
              <a:off x="838200" y="2085654"/>
              <a:ext cx="10515600" cy="433569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131816232"/>
                        </a:ext>
                      </a:extLst>
                    </a:gridCol>
                    <a:gridCol w="5257800">
                      <a:extLst>
                        <a:ext uri="{9D8B030D-6E8A-4147-A177-3AD203B41FA5}">
                          <a16:colId xmlns:a16="http://schemas.microsoft.com/office/drawing/2014/main" val="1609569786"/>
                        </a:ext>
                      </a:extLst>
                    </a:gridCol>
                  </a:tblGrid>
                  <a:tr h="722615">
                    <a:tc>
                      <a:txBody>
                        <a:bodyPr/>
                        <a:lstStyle/>
                        <a:p>
                          <a:pPr>
                            <a:buNone/>
                          </a:pPr>
                          <a:r>
                            <a:rPr lang="en-IN" sz="2600" b="1" dirty="0"/>
                            <a:t>Functional Dependency</a:t>
                          </a:r>
                        </a:p>
                      </a:txBody>
                      <a:tcPr anchor="ctr"/>
                    </a:tc>
                    <a:tc>
                      <a:txBody>
                        <a:bodyPr/>
                        <a:lstStyle/>
                        <a:p>
                          <a:pPr>
                            <a:buNone/>
                          </a:pPr>
                          <a:r>
                            <a:rPr lang="en-IN" sz="2600" b="1" dirty="0"/>
                            <a:t>Multivalued Dependency</a:t>
                          </a:r>
                        </a:p>
                      </a:txBody>
                      <a:tcPr anchor="ctr"/>
                    </a:tc>
                    <a:extLst>
                      <a:ext uri="{0D108BD9-81ED-4DB2-BD59-A6C34878D82A}">
                        <a16:rowId xmlns:a16="http://schemas.microsoft.com/office/drawing/2014/main" val="2073936896"/>
                      </a:ext>
                    </a:extLst>
                  </a:tr>
                  <a:tr h="722615">
                    <a:tc>
                      <a:txBody>
                        <a:bodyPr/>
                        <a:lstStyle/>
                        <a:p>
                          <a:endParaRPr lang="en-US"/>
                        </a:p>
                      </a:txBody>
                      <a:tcPr anchor="ctr">
                        <a:blipFill>
                          <a:blip r:embed="rId2"/>
                          <a:stretch>
                            <a:fillRect l="-116" t="-101695" r="-100232" b="-404237"/>
                          </a:stretch>
                        </a:blipFill>
                      </a:tcPr>
                    </a:tc>
                    <a:tc>
                      <a:txBody>
                        <a:bodyPr/>
                        <a:lstStyle/>
                        <a:p>
                          <a:endParaRPr lang="en-US"/>
                        </a:p>
                      </a:txBody>
                      <a:tcPr anchor="ctr">
                        <a:blipFill>
                          <a:blip r:embed="rId2"/>
                          <a:stretch>
                            <a:fillRect l="-100116" t="-101695" r="-232" b="-404237"/>
                          </a:stretch>
                        </a:blipFill>
                      </a:tcPr>
                    </a:tc>
                    <a:extLst>
                      <a:ext uri="{0D108BD9-81ED-4DB2-BD59-A6C34878D82A}">
                        <a16:rowId xmlns:a16="http://schemas.microsoft.com/office/drawing/2014/main" val="3376429433"/>
                      </a:ext>
                    </a:extLst>
                  </a:tr>
                  <a:tr h="722615">
                    <a:tc>
                      <a:txBody>
                        <a:bodyPr/>
                        <a:lstStyle/>
                        <a:p>
                          <a:pPr>
                            <a:buNone/>
                          </a:pPr>
                          <a:r>
                            <a:rPr lang="en-IN" sz="2400" dirty="0"/>
                            <a:t>X determines a single value of Y</a:t>
                          </a:r>
                        </a:p>
                      </a:txBody>
                      <a:tcPr anchor="ctr"/>
                    </a:tc>
                    <a:tc>
                      <a:txBody>
                        <a:bodyPr/>
                        <a:lstStyle/>
                        <a:p>
                          <a:pPr>
                            <a:buNone/>
                          </a:pPr>
                          <a:r>
                            <a:rPr lang="en-IN" sz="2400"/>
                            <a:t>X determines a set of Y values</a:t>
                          </a:r>
                        </a:p>
                      </a:txBody>
                      <a:tcPr anchor="ctr"/>
                    </a:tc>
                    <a:extLst>
                      <a:ext uri="{0D108BD9-81ED-4DB2-BD59-A6C34878D82A}">
                        <a16:rowId xmlns:a16="http://schemas.microsoft.com/office/drawing/2014/main" val="4052266939"/>
                      </a:ext>
                    </a:extLst>
                  </a:tr>
                  <a:tr h="722615">
                    <a:tc>
                      <a:txBody>
                        <a:bodyPr/>
                        <a:lstStyle/>
                        <a:p>
                          <a:pPr>
                            <a:buNone/>
                          </a:pPr>
                          <a:r>
                            <a:rPr lang="en-IN" sz="2400"/>
                            <a:t>Deals with single-valued relationship</a:t>
                          </a:r>
                        </a:p>
                      </a:txBody>
                      <a:tcPr anchor="ctr"/>
                    </a:tc>
                    <a:tc>
                      <a:txBody>
                        <a:bodyPr/>
                        <a:lstStyle/>
                        <a:p>
                          <a:pPr>
                            <a:buNone/>
                          </a:pPr>
                          <a:r>
                            <a:rPr lang="en-IN" sz="2400"/>
                            <a:t>Deals with multi-valued relationship</a:t>
                          </a:r>
                        </a:p>
                      </a:txBody>
                      <a:tcPr anchor="ctr"/>
                    </a:tc>
                    <a:extLst>
                      <a:ext uri="{0D108BD9-81ED-4DB2-BD59-A6C34878D82A}">
                        <a16:rowId xmlns:a16="http://schemas.microsoft.com/office/drawing/2014/main" val="2219324782"/>
                      </a:ext>
                    </a:extLst>
                  </a:tr>
                  <a:tr h="722615">
                    <a:tc>
                      <a:txBody>
                        <a:bodyPr/>
                        <a:lstStyle/>
                        <a:p>
                          <a:pPr>
                            <a:buNone/>
                          </a:pPr>
                          <a:r>
                            <a:rPr lang="en-IN" sz="2400"/>
                            <a:t>Used in normalization up to BCNF</a:t>
                          </a:r>
                        </a:p>
                      </a:txBody>
                      <a:tcPr anchor="ctr"/>
                    </a:tc>
                    <a:tc>
                      <a:txBody>
                        <a:bodyPr/>
                        <a:lstStyle/>
                        <a:p>
                          <a:pPr>
                            <a:buNone/>
                          </a:pPr>
                          <a:r>
                            <a:rPr lang="en-IN" sz="2400"/>
                            <a:t>Important for 4NF</a:t>
                          </a:r>
                        </a:p>
                      </a:txBody>
                      <a:tcPr anchor="ctr"/>
                    </a:tc>
                    <a:extLst>
                      <a:ext uri="{0D108BD9-81ED-4DB2-BD59-A6C34878D82A}">
                        <a16:rowId xmlns:a16="http://schemas.microsoft.com/office/drawing/2014/main" val="2512969001"/>
                      </a:ext>
                    </a:extLst>
                  </a:tr>
                  <a:tr h="722615">
                    <a:tc>
                      <a:txBody>
                        <a:bodyPr/>
                        <a:lstStyle/>
                        <a:p>
                          <a:endParaRPr lang="en-US"/>
                        </a:p>
                      </a:txBody>
                      <a:tcPr anchor="ctr">
                        <a:blipFill>
                          <a:blip r:embed="rId2"/>
                          <a:stretch>
                            <a:fillRect l="-116" t="-499160" r="-100232" b="-1681"/>
                          </a:stretch>
                        </a:blipFill>
                      </a:tcPr>
                    </a:tc>
                    <a:tc>
                      <a:txBody>
                        <a:bodyPr/>
                        <a:lstStyle/>
                        <a:p>
                          <a:endParaRPr lang="en-US"/>
                        </a:p>
                      </a:txBody>
                      <a:tcPr anchor="ctr">
                        <a:blipFill>
                          <a:blip r:embed="rId2"/>
                          <a:stretch>
                            <a:fillRect l="-100116" t="-499160" r="-232" b="-1681"/>
                          </a:stretch>
                        </a:blipFill>
                      </a:tcPr>
                    </a:tc>
                    <a:extLst>
                      <a:ext uri="{0D108BD9-81ED-4DB2-BD59-A6C34878D82A}">
                        <a16:rowId xmlns:a16="http://schemas.microsoft.com/office/drawing/2014/main" val="129351235"/>
                      </a:ext>
                    </a:extLst>
                  </a:tr>
                </a:tbl>
              </a:graphicData>
            </a:graphic>
          </p:graphicFrame>
        </mc:Fallback>
      </mc:AlternateContent>
    </p:spTree>
    <p:extLst>
      <p:ext uri="{BB962C8B-B14F-4D97-AF65-F5344CB8AC3E}">
        <p14:creationId xmlns:p14="http://schemas.microsoft.com/office/powerpoint/2010/main" val="2860245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3B25B-0150-563A-FE1F-B68CADE12B4D}"/>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C6B7E1F-C564-2862-E4AF-F85C797AAB1F}"/>
              </a:ext>
            </a:extLst>
          </p:cNvPr>
          <p:cNvSpPr txBox="1">
            <a:spLocks/>
          </p:cNvSpPr>
          <p:nvPr/>
        </p:nvSpPr>
        <p:spPr>
          <a:xfrm>
            <a:off x="1228618" y="1253331"/>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9600" dirty="0">
              <a:ln w="0"/>
              <a:solidFill>
                <a:schemeClr val="accent1"/>
              </a:solidFill>
              <a:effectLst>
                <a:outerShdw blurRad="38100" dist="25400" dir="5400000" algn="ctr" rotWithShape="0">
                  <a:srgbClr val="6E747A">
                    <a:alpha val="43000"/>
                  </a:srgbClr>
                </a:outerShdw>
              </a:effectLst>
              <a:latin typeface="Jumble" panose="020F0502020204030204" pitchFamily="2" charset="0"/>
            </a:endParaRPr>
          </a:p>
          <a:p>
            <a:pPr marL="0" indent="0" algn="ctr">
              <a:buFont typeface="Arial" panose="020B0604020202020204" pitchFamily="34" charset="0"/>
              <a:buNone/>
            </a:pPr>
            <a:r>
              <a:rPr lang="en-US" sz="9600" dirty="0">
                <a:ln w="0"/>
                <a:solidFill>
                  <a:schemeClr val="accent1"/>
                </a:solidFill>
                <a:effectLst>
                  <a:outerShdw blurRad="38100" dist="25400" dir="5400000" algn="ctr" rotWithShape="0">
                    <a:srgbClr val="6E747A">
                      <a:alpha val="43000"/>
                    </a:srgbClr>
                  </a:outerShdw>
                </a:effectLst>
                <a:latin typeface="Jumble" panose="020F0502020204030204" pitchFamily="2" charset="0"/>
              </a:rPr>
              <a:t>Thank You !!!</a:t>
            </a:r>
          </a:p>
        </p:txBody>
      </p:sp>
    </p:spTree>
    <p:extLst>
      <p:ext uri="{BB962C8B-B14F-4D97-AF65-F5344CB8AC3E}">
        <p14:creationId xmlns:p14="http://schemas.microsoft.com/office/powerpoint/2010/main" val="1853985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4055</Words>
  <Application>Microsoft Office PowerPoint</Application>
  <PresentationFormat>Widescreen</PresentationFormat>
  <Paragraphs>453</Paragraphs>
  <Slides>45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MS PGothic</vt:lpstr>
      <vt:lpstr>Arial</vt:lpstr>
      <vt:lpstr>Calibri</vt:lpstr>
      <vt:lpstr>Calibri Light</vt:lpstr>
      <vt:lpstr>Cambria Math</vt:lpstr>
      <vt:lpstr>Jumble</vt:lpstr>
      <vt:lpstr>Times New Roman</vt:lpstr>
      <vt:lpstr>Wingdings</vt:lpstr>
      <vt:lpstr>Office Theme</vt:lpstr>
      <vt:lpstr>PowerPoint Presentation</vt:lpstr>
      <vt:lpstr>UNIT - III Normalization </vt:lpstr>
      <vt:lpstr>Introduction – Purpose of normalization  </vt:lpstr>
      <vt:lpstr>Introduction – Purpose of normalization  </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Functional Dependencies</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Normalization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Sanket Nayak</dc:creator>
  <cp:lastModifiedBy>Sanket Nayak</cp:lastModifiedBy>
  <cp:revision>256</cp:revision>
  <dcterms:created xsi:type="dcterms:W3CDTF">2026-08-28T01:54:27Z</dcterms:created>
  <dcterms:modified xsi:type="dcterms:W3CDTF">2026-09-16T07:33:43Z</dcterms:modified>
</cp:coreProperties>
</file>